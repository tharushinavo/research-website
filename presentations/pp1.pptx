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95082" cy="30861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59439" y="7847952"/>
            <a:ext cx="1228559" cy="24390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69677" y="1495576"/>
            <a:ext cx="10107930" cy="1953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1" i="0">
                <a:solidFill>
                  <a:srgbClr val="0D1C3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rgbClr val="0D1C3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1" i="0">
                <a:solidFill>
                  <a:srgbClr val="0D1C3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rgbClr val="0D1C3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E2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1" i="0">
                <a:solidFill>
                  <a:srgbClr val="0D1C3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296671" y="1959406"/>
            <a:ext cx="7529195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D1C3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773157" y="2279040"/>
            <a:ext cx="7164705" cy="682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1" i="0">
                <a:solidFill>
                  <a:srgbClr val="0D1C3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73418" y="477715"/>
            <a:ext cx="13741163" cy="932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1" i="0">
                <a:solidFill>
                  <a:srgbClr val="0D1C3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24279" y="3940809"/>
            <a:ext cx="13796644" cy="3596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rgbClr val="0D1C3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650" spc="-10" b="0">
                <a:latin typeface="Arial"/>
                <a:cs typeface="Arial"/>
              </a:rPr>
              <a:t>MATHSMATE</a:t>
            </a:r>
            <a:endParaRPr sz="126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348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6000" y="4346066"/>
            <a:ext cx="13812519" cy="5880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5"/>
              </a:spcBef>
            </a:pPr>
            <a:r>
              <a:rPr dirty="0" sz="8800">
                <a:solidFill>
                  <a:srgbClr val="0D1C38"/>
                </a:solidFill>
                <a:latin typeface="Arial"/>
                <a:cs typeface="Arial"/>
              </a:rPr>
              <a:t>INTERACTIVE</a:t>
            </a:r>
            <a:r>
              <a:rPr dirty="0" sz="8800" spc="-285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8800" spc="-10">
                <a:solidFill>
                  <a:srgbClr val="0D1C38"/>
                </a:solidFill>
                <a:latin typeface="Arial"/>
                <a:cs typeface="Arial"/>
              </a:rPr>
              <a:t>LEARNING </a:t>
            </a:r>
            <a:r>
              <a:rPr dirty="0" sz="8800">
                <a:solidFill>
                  <a:srgbClr val="0D1C38"/>
                </a:solidFill>
                <a:latin typeface="Arial"/>
                <a:cs typeface="Arial"/>
              </a:rPr>
              <a:t>TOOL</a:t>
            </a:r>
            <a:r>
              <a:rPr dirty="0" sz="8800" spc="-130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8800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8800" spc="-125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8800" spc="-10">
                <a:solidFill>
                  <a:srgbClr val="0D1C38"/>
                </a:solidFill>
                <a:latin typeface="Arial"/>
                <a:cs typeface="Arial"/>
              </a:rPr>
              <a:t>DYSCALCULIA </a:t>
            </a:r>
            <a:r>
              <a:rPr dirty="0" sz="8800" spc="-20">
                <a:solidFill>
                  <a:srgbClr val="0D1C38"/>
                </a:solidFill>
                <a:latin typeface="Arial"/>
                <a:cs typeface="Arial"/>
              </a:rPr>
              <a:t>KIDS</a:t>
            </a:r>
            <a:endParaRPr sz="8800">
              <a:latin typeface="Arial"/>
              <a:cs typeface="Arial"/>
            </a:endParaRPr>
          </a:p>
          <a:p>
            <a:pPr marL="6778625">
              <a:lnSpc>
                <a:spcPct val="100000"/>
              </a:lnSpc>
              <a:spcBef>
                <a:spcPts val="3465"/>
              </a:spcBef>
            </a:pPr>
            <a:r>
              <a:rPr dirty="0" sz="465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r>
              <a:rPr dirty="0" sz="4650" spc="60" b="1">
                <a:solidFill>
                  <a:srgbClr val="0D1C38"/>
                </a:solidFill>
                <a:latin typeface="Arial"/>
                <a:cs typeface="Arial"/>
              </a:rPr>
              <a:t>IT-</a:t>
            </a:r>
            <a:r>
              <a:rPr dirty="0" sz="465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4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10234876"/>
              <a:ext cx="18288000" cy="52705"/>
            </a:xfrm>
            <a:custGeom>
              <a:avLst/>
              <a:gdLst/>
              <a:ahLst/>
              <a:cxnLst/>
              <a:rect l="l" t="t" r="r" b="b"/>
              <a:pathLst>
                <a:path w="18288000" h="52704">
                  <a:moveTo>
                    <a:pt x="0" y="52124"/>
                  </a:moveTo>
                  <a:lnTo>
                    <a:pt x="18288000" y="52124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52124"/>
                  </a:lnTo>
                  <a:close/>
                </a:path>
              </a:pathLst>
            </a:custGeom>
            <a:solidFill>
              <a:srgbClr val="E2E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00" cy="10234930"/>
            </a:xfrm>
            <a:custGeom>
              <a:avLst/>
              <a:gdLst/>
              <a:ahLst/>
              <a:cxnLst/>
              <a:rect l="l" t="t" r="r" b="b"/>
              <a:pathLst>
                <a:path w="18288000" h="10234930">
                  <a:moveTo>
                    <a:pt x="18288000" y="0"/>
                  </a:moveTo>
                  <a:lnTo>
                    <a:pt x="0" y="0"/>
                  </a:lnTo>
                  <a:lnTo>
                    <a:pt x="0" y="10234875"/>
                  </a:lnTo>
                  <a:lnTo>
                    <a:pt x="18288000" y="1023487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59890" y="2521521"/>
              <a:ext cx="10852150" cy="5927090"/>
            </a:xfrm>
            <a:custGeom>
              <a:avLst/>
              <a:gdLst/>
              <a:ahLst/>
              <a:cxnLst/>
              <a:rect l="l" t="t" r="r" b="b"/>
              <a:pathLst>
                <a:path w="10852150" h="5927090">
                  <a:moveTo>
                    <a:pt x="792734" y="5297170"/>
                  </a:moveTo>
                  <a:lnTo>
                    <a:pt x="0" y="5297170"/>
                  </a:lnTo>
                  <a:lnTo>
                    <a:pt x="0" y="5926848"/>
                  </a:lnTo>
                  <a:lnTo>
                    <a:pt x="792734" y="5926848"/>
                  </a:lnTo>
                  <a:lnTo>
                    <a:pt x="792734" y="5297170"/>
                  </a:lnTo>
                  <a:close/>
                </a:path>
                <a:path w="10852150" h="5927090">
                  <a:moveTo>
                    <a:pt x="792734" y="3915079"/>
                  </a:moveTo>
                  <a:lnTo>
                    <a:pt x="0" y="3915079"/>
                  </a:lnTo>
                  <a:lnTo>
                    <a:pt x="0" y="4544695"/>
                  </a:lnTo>
                  <a:lnTo>
                    <a:pt x="792734" y="4544695"/>
                  </a:lnTo>
                  <a:lnTo>
                    <a:pt x="792734" y="3915079"/>
                  </a:lnTo>
                  <a:close/>
                </a:path>
                <a:path w="10852150" h="5927090">
                  <a:moveTo>
                    <a:pt x="792734" y="2637244"/>
                  </a:moveTo>
                  <a:lnTo>
                    <a:pt x="0" y="2637244"/>
                  </a:lnTo>
                  <a:lnTo>
                    <a:pt x="0" y="3266922"/>
                  </a:lnTo>
                  <a:lnTo>
                    <a:pt x="792734" y="3266922"/>
                  </a:lnTo>
                  <a:lnTo>
                    <a:pt x="792734" y="2637244"/>
                  </a:lnTo>
                  <a:close/>
                </a:path>
                <a:path w="10852150" h="5927090">
                  <a:moveTo>
                    <a:pt x="792734" y="1241488"/>
                  </a:moveTo>
                  <a:lnTo>
                    <a:pt x="0" y="1241488"/>
                  </a:lnTo>
                  <a:lnTo>
                    <a:pt x="0" y="1871167"/>
                  </a:lnTo>
                  <a:lnTo>
                    <a:pt x="792734" y="1871167"/>
                  </a:lnTo>
                  <a:lnTo>
                    <a:pt x="792734" y="1241488"/>
                  </a:lnTo>
                  <a:close/>
                </a:path>
                <a:path w="10852150" h="5927090">
                  <a:moveTo>
                    <a:pt x="792734" y="0"/>
                  </a:moveTo>
                  <a:lnTo>
                    <a:pt x="0" y="0"/>
                  </a:lnTo>
                  <a:lnTo>
                    <a:pt x="0" y="629678"/>
                  </a:lnTo>
                  <a:lnTo>
                    <a:pt x="792734" y="629678"/>
                  </a:lnTo>
                  <a:lnTo>
                    <a:pt x="792734" y="0"/>
                  </a:lnTo>
                  <a:close/>
                </a:path>
                <a:path w="10852150" h="5927090">
                  <a:moveTo>
                    <a:pt x="10699826" y="1241488"/>
                  </a:moveTo>
                  <a:lnTo>
                    <a:pt x="9907092" y="1241488"/>
                  </a:lnTo>
                  <a:lnTo>
                    <a:pt x="9907092" y="1871167"/>
                  </a:lnTo>
                  <a:lnTo>
                    <a:pt x="10699826" y="1871167"/>
                  </a:lnTo>
                  <a:lnTo>
                    <a:pt x="10699826" y="1241488"/>
                  </a:lnTo>
                  <a:close/>
                </a:path>
                <a:path w="10852150" h="5927090">
                  <a:moveTo>
                    <a:pt x="10699826" y="35318"/>
                  </a:moveTo>
                  <a:lnTo>
                    <a:pt x="9907092" y="35318"/>
                  </a:lnTo>
                  <a:lnTo>
                    <a:pt x="9907092" y="664997"/>
                  </a:lnTo>
                  <a:lnTo>
                    <a:pt x="10699826" y="664997"/>
                  </a:lnTo>
                  <a:lnTo>
                    <a:pt x="10699826" y="35318"/>
                  </a:lnTo>
                  <a:close/>
                </a:path>
                <a:path w="10852150" h="5927090">
                  <a:moveTo>
                    <a:pt x="10852023" y="2568562"/>
                  </a:moveTo>
                  <a:lnTo>
                    <a:pt x="10059289" y="2568562"/>
                  </a:lnTo>
                  <a:lnTo>
                    <a:pt x="10059289" y="3198241"/>
                  </a:lnTo>
                  <a:lnTo>
                    <a:pt x="10852023" y="3198241"/>
                  </a:lnTo>
                  <a:lnTo>
                    <a:pt x="10852023" y="2568562"/>
                  </a:lnTo>
                  <a:close/>
                </a:path>
              </a:pathLst>
            </a:custGeom>
            <a:solidFill>
              <a:srgbClr val="78A6CA">
                <a:alpha val="33332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6047676" y="626700"/>
            <a:ext cx="5673725" cy="1549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0" spc="-10"/>
              <a:t>Overview</a:t>
            </a:r>
            <a:endParaRPr sz="10000"/>
          </a:p>
        </p:txBody>
      </p:sp>
      <p:sp>
        <p:nvSpPr>
          <p:cNvPr id="16" name="object 16"/>
          <p:cNvSpPr txBox="1"/>
          <p:nvPr/>
        </p:nvSpPr>
        <p:spPr>
          <a:xfrm>
            <a:off x="1712442" y="2625102"/>
            <a:ext cx="46355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55" b="1">
                <a:solidFill>
                  <a:srgbClr val="0D1C38"/>
                </a:solidFill>
                <a:latin typeface="Arial"/>
                <a:cs typeface="Arial"/>
              </a:rPr>
              <a:t>1.</a:t>
            </a:r>
            <a:endParaRPr sz="3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36291" y="2607449"/>
            <a:ext cx="604837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130" b="1">
                <a:solidFill>
                  <a:srgbClr val="0D1C38"/>
                </a:solidFill>
                <a:latin typeface="Arial"/>
                <a:cs typeface="Arial"/>
              </a:rPr>
              <a:t>Work</a:t>
            </a:r>
            <a:r>
              <a:rPr dirty="0" sz="3900" spc="4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125" b="1">
                <a:solidFill>
                  <a:srgbClr val="0D1C38"/>
                </a:solidFill>
                <a:latin typeface="Arial"/>
                <a:cs typeface="Arial"/>
              </a:rPr>
              <a:t>load</a:t>
            </a:r>
            <a:r>
              <a:rPr dirty="0" sz="3900" spc="4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150" b="1">
                <a:solidFill>
                  <a:srgbClr val="0D1C38"/>
                </a:solidFill>
                <a:latin typeface="Arial"/>
                <a:cs typeface="Arial"/>
              </a:rPr>
              <a:t>Contribution</a:t>
            </a:r>
            <a:endParaRPr sz="3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9890" y="5158765"/>
            <a:ext cx="793115" cy="62992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65100">
              <a:lnSpc>
                <a:spcPts val="4440"/>
              </a:lnSpc>
              <a:spcBef>
                <a:spcPts val="515"/>
              </a:spcBef>
            </a:pPr>
            <a:r>
              <a:rPr dirty="0" sz="3900" spc="55" b="1">
                <a:solidFill>
                  <a:srgbClr val="0D1C38"/>
                </a:solidFill>
                <a:latin typeface="Arial"/>
                <a:cs typeface="Arial"/>
              </a:rPr>
              <a:t>3.</a:t>
            </a:r>
            <a:endParaRPr sz="3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73001" y="5211762"/>
            <a:ext cx="46355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55" b="1">
                <a:solidFill>
                  <a:srgbClr val="0D1C38"/>
                </a:solidFill>
                <a:latin typeface="Arial"/>
                <a:cs typeface="Arial"/>
              </a:rPr>
              <a:t>8.</a:t>
            </a:r>
            <a:endParaRPr sz="3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94134" y="2625102"/>
            <a:ext cx="5751195" cy="4050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848994">
              <a:lnSpc>
                <a:spcPct val="100000"/>
              </a:lnSpc>
              <a:spcBef>
                <a:spcPts val="100"/>
              </a:spcBef>
            </a:pPr>
            <a:r>
              <a:rPr dirty="0" sz="3900" spc="160" b="1">
                <a:solidFill>
                  <a:srgbClr val="0D1C38"/>
                </a:solidFill>
                <a:latin typeface="Arial"/>
                <a:cs typeface="Arial"/>
              </a:rPr>
              <a:t>Commercialization</a:t>
            </a: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3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tabLst>
                <a:tab pos="899794" algn="l"/>
              </a:tabLst>
            </a:pPr>
            <a:r>
              <a:rPr dirty="0" sz="3900" spc="55" b="1">
                <a:solidFill>
                  <a:srgbClr val="0D1C38"/>
                </a:solidFill>
                <a:latin typeface="Arial"/>
                <a:cs typeface="Arial"/>
              </a:rPr>
              <a:t>7.</a:t>
            </a:r>
            <a:r>
              <a:rPr dirty="0" sz="3900" b="1">
                <a:solidFill>
                  <a:srgbClr val="0D1C38"/>
                </a:solidFill>
                <a:latin typeface="Arial"/>
                <a:cs typeface="Arial"/>
              </a:rPr>
              <a:t>	</a:t>
            </a:r>
            <a:r>
              <a:rPr dirty="0" baseline="28490" sz="5850" spc="-1979" b="1">
                <a:solidFill>
                  <a:srgbClr val="0D1C38"/>
                </a:solidFill>
                <a:latin typeface="Arial"/>
                <a:cs typeface="Arial"/>
              </a:rPr>
              <a:t>P</a:t>
            </a:r>
            <a:r>
              <a:rPr dirty="0" sz="3900" spc="-1585" b="1">
                <a:solidFill>
                  <a:srgbClr val="0D1C38"/>
                </a:solidFill>
                <a:latin typeface="Arial"/>
                <a:cs typeface="Arial"/>
              </a:rPr>
              <a:t>G</a:t>
            </a:r>
            <a:r>
              <a:rPr dirty="0" baseline="28490" sz="5850" spc="262" b="1">
                <a:solidFill>
                  <a:srgbClr val="0D1C38"/>
                </a:solidFill>
                <a:latin typeface="Arial"/>
                <a:cs typeface="Arial"/>
              </a:rPr>
              <a:t>l</a:t>
            </a:r>
            <a:r>
              <a:rPr dirty="0" baseline="28490" sz="5850" spc="-2632" b="1">
                <a:solidFill>
                  <a:srgbClr val="0D1C38"/>
                </a:solidFill>
                <a:latin typeface="Arial"/>
                <a:cs typeface="Arial"/>
              </a:rPr>
              <a:t>a</a:t>
            </a:r>
            <a:r>
              <a:rPr dirty="0" sz="3900" spc="-290" b="1">
                <a:solidFill>
                  <a:srgbClr val="0D1C38"/>
                </a:solidFill>
                <a:latin typeface="Arial"/>
                <a:cs typeface="Arial"/>
              </a:rPr>
              <a:t>a</a:t>
            </a:r>
            <a:r>
              <a:rPr dirty="0" baseline="28490" sz="5850" spc="-30" b="1">
                <a:solidFill>
                  <a:srgbClr val="0D1C38"/>
                </a:solidFill>
                <a:latin typeface="Arial"/>
                <a:cs typeface="Arial"/>
              </a:rPr>
              <a:t>n</a:t>
            </a:r>
            <a:r>
              <a:rPr dirty="0" baseline="28490" sz="5850" spc="-63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75" b="1">
                <a:solidFill>
                  <a:srgbClr val="0D1C38"/>
                </a:solidFill>
                <a:latin typeface="Arial"/>
                <a:cs typeface="Arial"/>
              </a:rPr>
              <a:t>nt</a:t>
            </a:r>
            <a:r>
              <a:rPr dirty="0" sz="3900" spc="43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120" b="1">
                <a:solidFill>
                  <a:srgbClr val="0D1C38"/>
                </a:solidFill>
                <a:latin typeface="Arial"/>
                <a:cs typeface="Arial"/>
              </a:rPr>
              <a:t>Chart</a:t>
            </a:r>
            <a:endParaRPr sz="3900">
              <a:latin typeface="Arial"/>
              <a:cs typeface="Arial"/>
            </a:endParaRPr>
          </a:p>
          <a:p>
            <a:pPr marL="1168400" marR="206375">
              <a:lnSpc>
                <a:spcPct val="166700"/>
              </a:lnSpc>
              <a:spcBef>
                <a:spcPts val="1630"/>
              </a:spcBef>
            </a:pPr>
            <a:r>
              <a:rPr dirty="0" sz="3900" spc="130" b="1">
                <a:solidFill>
                  <a:srgbClr val="0D1C38"/>
                </a:solidFill>
                <a:latin typeface="Arial"/>
                <a:cs typeface="Arial"/>
              </a:rPr>
              <a:t>Work</a:t>
            </a:r>
            <a:r>
              <a:rPr dirty="0" sz="3900" spc="4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140" b="1">
                <a:solidFill>
                  <a:srgbClr val="0D1C38"/>
                </a:solidFill>
                <a:latin typeface="Arial"/>
                <a:cs typeface="Arial"/>
              </a:rPr>
              <a:t>Breakdown </a:t>
            </a:r>
            <a:r>
              <a:rPr dirty="0" sz="3900" spc="150" b="1">
                <a:solidFill>
                  <a:srgbClr val="0D1C38"/>
                </a:solidFill>
                <a:latin typeface="Arial"/>
                <a:cs typeface="Arial"/>
              </a:rPr>
              <a:t>Structure</a:t>
            </a:r>
            <a:endParaRPr sz="3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19534" y="2660497"/>
            <a:ext cx="46355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55" b="1">
                <a:solidFill>
                  <a:srgbClr val="0D1C38"/>
                </a:solidFill>
                <a:latin typeface="Arial"/>
                <a:cs typeface="Arial"/>
              </a:rPr>
              <a:t>6.</a:t>
            </a:r>
            <a:endParaRPr sz="3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2442" y="3866667"/>
            <a:ext cx="826960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6319" algn="l"/>
              </a:tabLst>
            </a:pPr>
            <a:r>
              <a:rPr dirty="0" sz="3900" spc="55" b="1">
                <a:solidFill>
                  <a:srgbClr val="0D1C38"/>
                </a:solidFill>
                <a:latin typeface="Arial"/>
                <a:cs typeface="Arial"/>
              </a:rPr>
              <a:t>2.</a:t>
            </a:r>
            <a:r>
              <a:rPr dirty="0" sz="3900" b="1">
                <a:solidFill>
                  <a:srgbClr val="0D1C38"/>
                </a:solidFill>
                <a:latin typeface="Arial"/>
                <a:cs typeface="Arial"/>
              </a:rPr>
              <a:t>	</a:t>
            </a:r>
            <a:r>
              <a:rPr dirty="0" sz="3900" spc="155" b="1">
                <a:solidFill>
                  <a:srgbClr val="0D1C38"/>
                </a:solidFill>
                <a:latin typeface="Arial"/>
                <a:cs typeface="Arial"/>
              </a:rPr>
              <a:t>Problem,</a:t>
            </a:r>
            <a:r>
              <a:rPr dirty="0" sz="3900" spc="40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130" b="1">
                <a:solidFill>
                  <a:srgbClr val="0D1C38"/>
                </a:solidFill>
                <a:latin typeface="Arial"/>
                <a:cs typeface="Arial"/>
              </a:rPr>
              <a:t>It’s</a:t>
            </a:r>
            <a:r>
              <a:rPr dirty="0" sz="3900" spc="40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155" b="1">
                <a:solidFill>
                  <a:srgbClr val="0D1C38"/>
                </a:solidFill>
                <a:latin typeface="Arial"/>
                <a:cs typeface="Arial"/>
              </a:rPr>
              <a:t>Impact/Gravity</a:t>
            </a:r>
            <a:endParaRPr sz="3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2442" y="6504406"/>
            <a:ext cx="46355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55" b="1">
                <a:solidFill>
                  <a:srgbClr val="0D1C38"/>
                </a:solidFill>
                <a:latin typeface="Arial"/>
                <a:cs typeface="Arial"/>
              </a:rPr>
              <a:t>4.</a:t>
            </a:r>
            <a:endParaRPr sz="3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12442" y="7926920"/>
            <a:ext cx="46355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55" b="1">
                <a:solidFill>
                  <a:srgbClr val="0D1C38"/>
                </a:solidFill>
                <a:latin typeface="Arial"/>
                <a:cs typeface="Arial"/>
              </a:rPr>
              <a:t>5.</a:t>
            </a:r>
            <a:endParaRPr sz="3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7991" y="5273725"/>
            <a:ext cx="8739505" cy="422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900" spc="110" b="1">
                <a:solidFill>
                  <a:srgbClr val="0D1C38"/>
                </a:solidFill>
                <a:latin typeface="Arial"/>
                <a:cs typeface="Arial"/>
              </a:rPr>
              <a:t>Who</a:t>
            </a:r>
            <a:r>
              <a:rPr dirty="0" sz="3900" spc="4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130" b="1">
                <a:solidFill>
                  <a:srgbClr val="0D1C38"/>
                </a:solidFill>
                <a:latin typeface="Arial"/>
                <a:cs typeface="Arial"/>
              </a:rPr>
              <a:t>will</a:t>
            </a:r>
            <a:r>
              <a:rPr dirty="0" sz="3900" spc="4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70" b="1">
                <a:solidFill>
                  <a:srgbClr val="0D1C38"/>
                </a:solidFill>
                <a:latin typeface="Arial"/>
                <a:cs typeface="Arial"/>
              </a:rPr>
              <a:t>be</a:t>
            </a:r>
            <a:r>
              <a:rPr dirty="0" sz="3900" spc="4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150" b="1">
                <a:solidFill>
                  <a:srgbClr val="0D1C38"/>
                </a:solidFill>
                <a:latin typeface="Arial"/>
                <a:cs typeface="Arial"/>
              </a:rPr>
              <a:t>benefited</a:t>
            </a:r>
            <a:r>
              <a:rPr dirty="0" sz="3900" spc="4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70" b="1">
                <a:solidFill>
                  <a:srgbClr val="0D1C38"/>
                </a:solidFill>
                <a:latin typeface="Arial"/>
                <a:cs typeface="Arial"/>
              </a:rPr>
              <a:t>by</a:t>
            </a:r>
            <a:r>
              <a:rPr dirty="0" sz="3900" spc="4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85" b="1">
                <a:solidFill>
                  <a:srgbClr val="0D1C38"/>
                </a:solidFill>
                <a:latin typeface="Arial"/>
                <a:cs typeface="Arial"/>
              </a:rPr>
              <a:t>the</a:t>
            </a: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3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dirty="0" baseline="24928" sz="5850" spc="-1050" b="1">
                <a:solidFill>
                  <a:srgbClr val="0D1C38"/>
                </a:solidFill>
                <a:latin typeface="Arial"/>
                <a:cs typeface="Arial"/>
              </a:rPr>
              <a:t>S</a:t>
            </a:r>
            <a:r>
              <a:rPr dirty="0" sz="3900" spc="-1945" b="1">
                <a:solidFill>
                  <a:srgbClr val="0D1C38"/>
                </a:solidFill>
                <a:latin typeface="Arial"/>
                <a:cs typeface="Arial"/>
              </a:rPr>
              <a:t>D</a:t>
            </a:r>
            <a:r>
              <a:rPr dirty="0" baseline="24928" sz="5850" spc="-405" b="1">
                <a:solidFill>
                  <a:srgbClr val="0D1C38"/>
                </a:solidFill>
                <a:latin typeface="Arial"/>
                <a:cs typeface="Arial"/>
              </a:rPr>
              <a:t>o</a:t>
            </a:r>
            <a:r>
              <a:rPr dirty="0" sz="3900" spc="-1750" b="1">
                <a:solidFill>
                  <a:srgbClr val="0D1C38"/>
                </a:solidFill>
                <a:latin typeface="Arial"/>
                <a:cs typeface="Arial"/>
              </a:rPr>
              <a:t>e</a:t>
            </a:r>
            <a:r>
              <a:rPr dirty="0" baseline="24928" sz="5850" spc="277" b="1">
                <a:solidFill>
                  <a:srgbClr val="0D1C38"/>
                </a:solidFill>
                <a:latin typeface="Arial"/>
                <a:cs typeface="Arial"/>
              </a:rPr>
              <a:t>l</a:t>
            </a:r>
            <a:r>
              <a:rPr dirty="0" baseline="24928" sz="5850" spc="-2670" b="1">
                <a:solidFill>
                  <a:srgbClr val="0D1C38"/>
                </a:solidFill>
                <a:latin typeface="Arial"/>
                <a:cs typeface="Arial"/>
              </a:rPr>
              <a:t>u</a:t>
            </a:r>
            <a:r>
              <a:rPr dirty="0" sz="3900" spc="-245" b="1">
                <a:solidFill>
                  <a:srgbClr val="0D1C38"/>
                </a:solidFill>
                <a:latin typeface="Arial"/>
                <a:cs typeface="Arial"/>
              </a:rPr>
              <a:t>s</a:t>
            </a:r>
            <a:r>
              <a:rPr dirty="0" baseline="24928" sz="5850" spc="-1350" b="1">
                <a:solidFill>
                  <a:srgbClr val="0D1C38"/>
                </a:solidFill>
                <a:latin typeface="Arial"/>
                <a:cs typeface="Arial"/>
              </a:rPr>
              <a:t>t</a:t>
            </a:r>
            <a:r>
              <a:rPr dirty="0" sz="3900" spc="-30" b="1">
                <a:solidFill>
                  <a:srgbClr val="0D1C38"/>
                </a:solidFill>
                <a:latin typeface="Arial"/>
                <a:cs typeface="Arial"/>
              </a:rPr>
              <a:t>i</a:t>
            </a:r>
            <a:r>
              <a:rPr dirty="0" baseline="24928" sz="5850" spc="-1350" b="1">
                <a:solidFill>
                  <a:srgbClr val="0D1C38"/>
                </a:solidFill>
                <a:latin typeface="Arial"/>
                <a:cs typeface="Arial"/>
              </a:rPr>
              <a:t>i</a:t>
            </a:r>
            <a:r>
              <a:rPr dirty="0" sz="3900" spc="-1340" b="1">
                <a:solidFill>
                  <a:srgbClr val="0D1C38"/>
                </a:solidFill>
                <a:latin typeface="Arial"/>
                <a:cs typeface="Arial"/>
              </a:rPr>
              <a:t>g</a:t>
            </a:r>
            <a:r>
              <a:rPr dirty="0" baseline="24928" sz="5850" spc="-1350" b="1">
                <a:solidFill>
                  <a:srgbClr val="0D1C38"/>
                </a:solidFill>
                <a:latin typeface="Arial"/>
                <a:cs typeface="Arial"/>
              </a:rPr>
              <a:t>o</a:t>
            </a:r>
            <a:r>
              <a:rPr dirty="0" sz="3900" spc="-1340" b="1">
                <a:solidFill>
                  <a:srgbClr val="0D1C38"/>
                </a:solidFill>
                <a:latin typeface="Arial"/>
                <a:cs typeface="Arial"/>
              </a:rPr>
              <a:t>n</a:t>
            </a:r>
            <a:r>
              <a:rPr dirty="0" baseline="24928" sz="5850" spc="-15" b="1">
                <a:solidFill>
                  <a:srgbClr val="0D1C38"/>
                </a:solidFill>
                <a:latin typeface="Arial"/>
                <a:cs typeface="Arial"/>
              </a:rPr>
              <a:t>n</a:t>
            </a:r>
            <a:r>
              <a:rPr dirty="0" baseline="24928" sz="5850" spc="-101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155" b="1">
                <a:solidFill>
                  <a:srgbClr val="0D1C38"/>
                </a:solidFill>
                <a:latin typeface="Arial"/>
                <a:cs typeface="Arial"/>
              </a:rPr>
              <a:t>Excellence</a:t>
            </a:r>
            <a:r>
              <a:rPr dirty="0" sz="3900" spc="4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75" b="1">
                <a:solidFill>
                  <a:srgbClr val="0D1C38"/>
                </a:solidFill>
                <a:latin typeface="Arial"/>
                <a:cs typeface="Arial"/>
              </a:rPr>
              <a:t>of</a:t>
            </a:r>
            <a:r>
              <a:rPr dirty="0" sz="3900" spc="40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110" b="1">
                <a:solidFill>
                  <a:srgbClr val="0D1C38"/>
                </a:solidFill>
                <a:latin typeface="Arial"/>
                <a:cs typeface="Arial"/>
              </a:rPr>
              <a:t>the</a:t>
            </a:r>
            <a:r>
              <a:rPr dirty="0" sz="3900" spc="40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140" b="1">
                <a:solidFill>
                  <a:srgbClr val="0D1C38"/>
                </a:solidFill>
                <a:latin typeface="Arial"/>
                <a:cs typeface="Arial"/>
              </a:rPr>
              <a:t>Overall</a:t>
            </a:r>
            <a:endParaRPr sz="3900">
              <a:latin typeface="Arial"/>
              <a:cs typeface="Arial"/>
            </a:endParaRPr>
          </a:p>
          <a:p>
            <a:pPr marL="280670">
              <a:lnSpc>
                <a:spcPts val="3960"/>
              </a:lnSpc>
              <a:spcBef>
                <a:spcPts val="3120"/>
              </a:spcBef>
            </a:pPr>
            <a:r>
              <a:rPr dirty="0" sz="3900" spc="140" b="1">
                <a:solidFill>
                  <a:srgbClr val="0D1C38"/>
                </a:solidFill>
                <a:latin typeface="Arial"/>
                <a:cs typeface="Arial"/>
              </a:rPr>
              <a:t>Solution</a:t>
            </a:r>
            <a:endParaRPr sz="3900">
              <a:latin typeface="Arial"/>
              <a:cs typeface="Arial"/>
            </a:endParaRPr>
          </a:p>
          <a:p>
            <a:pPr marL="280670">
              <a:lnSpc>
                <a:spcPts val="3960"/>
              </a:lnSpc>
            </a:pPr>
            <a:r>
              <a:rPr dirty="0" sz="3900" spc="160" b="1">
                <a:solidFill>
                  <a:srgbClr val="0D1C38"/>
                </a:solidFill>
                <a:latin typeface="Arial"/>
                <a:cs typeface="Arial"/>
              </a:rPr>
              <a:t>Description</a:t>
            </a:r>
            <a:r>
              <a:rPr dirty="0" sz="3900" spc="4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75" b="1">
                <a:solidFill>
                  <a:srgbClr val="0D1C38"/>
                </a:solidFill>
                <a:latin typeface="Arial"/>
                <a:cs typeface="Arial"/>
              </a:rPr>
              <a:t>of</a:t>
            </a:r>
            <a:r>
              <a:rPr dirty="0" sz="3900" spc="4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145" b="1">
                <a:solidFill>
                  <a:srgbClr val="0D1C38"/>
                </a:solidFill>
                <a:latin typeface="Arial"/>
                <a:cs typeface="Arial"/>
              </a:rPr>
              <a:t>Individual</a:t>
            </a:r>
            <a:endParaRPr sz="3900">
              <a:latin typeface="Arial"/>
              <a:cs typeface="Arial"/>
            </a:endParaRPr>
          </a:p>
          <a:p>
            <a:pPr marL="280670">
              <a:lnSpc>
                <a:spcPct val="100000"/>
              </a:lnSpc>
              <a:spcBef>
                <a:spcPts val="3120"/>
              </a:spcBef>
            </a:pPr>
            <a:r>
              <a:rPr dirty="0" sz="3900" spc="145" b="1">
                <a:solidFill>
                  <a:srgbClr val="0D1C38"/>
                </a:solidFill>
                <a:latin typeface="Arial"/>
                <a:cs typeface="Arial"/>
              </a:rPr>
              <a:t>Components</a:t>
            </a:r>
            <a:endParaRPr sz="3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51939" y="9606816"/>
            <a:ext cx="2860675" cy="635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855"/>
              </a:lnSpc>
            </a:pPr>
            <a:r>
              <a:rPr dirty="0" sz="4300" spc="55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r>
              <a:rPr dirty="0" sz="4300" spc="50" b="1">
                <a:solidFill>
                  <a:srgbClr val="0D1C38"/>
                </a:solidFill>
                <a:latin typeface="Arial"/>
                <a:cs typeface="Arial"/>
              </a:rPr>
              <a:t>IT-</a:t>
            </a:r>
            <a:r>
              <a:rPr dirty="0" sz="430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4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442" y="306415"/>
            <a:ext cx="16229330" cy="9740265"/>
          </a:xfrm>
          <a:custGeom>
            <a:avLst/>
            <a:gdLst/>
            <a:ahLst/>
            <a:cxnLst/>
            <a:rect l="l" t="t" r="r" b="b"/>
            <a:pathLst>
              <a:path w="16229330" h="9740265">
                <a:moveTo>
                  <a:pt x="16229076" y="0"/>
                </a:moveTo>
                <a:lnTo>
                  <a:pt x="0" y="0"/>
                </a:lnTo>
                <a:lnTo>
                  <a:pt x="0" y="9739825"/>
                </a:lnTo>
                <a:lnTo>
                  <a:pt x="16229076" y="9739825"/>
                </a:lnTo>
                <a:lnTo>
                  <a:pt x="16229076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950">
                <a:solidFill>
                  <a:srgbClr val="0E172E"/>
                </a:solidFill>
              </a:rPr>
              <a:t>Work</a:t>
            </a:r>
            <a:r>
              <a:rPr dirty="0" sz="5950" spc="-135">
                <a:solidFill>
                  <a:srgbClr val="0E172E"/>
                </a:solidFill>
              </a:rPr>
              <a:t> </a:t>
            </a:r>
            <a:r>
              <a:rPr dirty="0" sz="5950">
                <a:solidFill>
                  <a:srgbClr val="0E172E"/>
                </a:solidFill>
              </a:rPr>
              <a:t>load</a:t>
            </a:r>
            <a:r>
              <a:rPr dirty="0" sz="5950" spc="-100">
                <a:solidFill>
                  <a:srgbClr val="0E172E"/>
                </a:solidFill>
              </a:rPr>
              <a:t> </a:t>
            </a:r>
            <a:r>
              <a:rPr dirty="0" sz="5950" spc="-10">
                <a:solidFill>
                  <a:srgbClr val="0E172E"/>
                </a:solidFill>
              </a:rPr>
              <a:t>Contribution</a:t>
            </a:r>
            <a:endParaRPr sz="5950"/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7913350" cy="10287000"/>
            <a:chOff x="0" y="0"/>
            <a:chExt cx="17913350" cy="10287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913277" cy="10287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10879" y="1549933"/>
              <a:ext cx="14066519" cy="1526540"/>
            </a:xfrm>
            <a:custGeom>
              <a:avLst/>
              <a:gdLst/>
              <a:ahLst/>
              <a:cxnLst/>
              <a:rect l="l" t="t" r="r" b="b"/>
              <a:pathLst>
                <a:path w="14066519" h="1526539">
                  <a:moveTo>
                    <a:pt x="3516553" y="0"/>
                  </a:moveTo>
                  <a:lnTo>
                    <a:pt x="0" y="0"/>
                  </a:lnTo>
                  <a:lnTo>
                    <a:pt x="0" y="1526006"/>
                  </a:lnTo>
                  <a:lnTo>
                    <a:pt x="3516553" y="1526006"/>
                  </a:lnTo>
                  <a:lnTo>
                    <a:pt x="3516553" y="0"/>
                  </a:lnTo>
                  <a:close/>
                </a:path>
                <a:path w="14066519" h="1526539">
                  <a:moveTo>
                    <a:pt x="10549674" y="0"/>
                  </a:moveTo>
                  <a:lnTo>
                    <a:pt x="7033120" y="0"/>
                  </a:lnTo>
                  <a:lnTo>
                    <a:pt x="3516566" y="0"/>
                  </a:lnTo>
                  <a:lnTo>
                    <a:pt x="3516566" y="1526006"/>
                  </a:lnTo>
                  <a:lnTo>
                    <a:pt x="7033120" y="1526006"/>
                  </a:lnTo>
                  <a:lnTo>
                    <a:pt x="10549674" y="1526006"/>
                  </a:lnTo>
                  <a:lnTo>
                    <a:pt x="10549674" y="0"/>
                  </a:lnTo>
                  <a:close/>
                </a:path>
                <a:path w="14066519" h="1526539">
                  <a:moveTo>
                    <a:pt x="14066241" y="0"/>
                  </a:moveTo>
                  <a:lnTo>
                    <a:pt x="10549687" y="0"/>
                  </a:lnTo>
                  <a:lnTo>
                    <a:pt x="10549687" y="1526006"/>
                  </a:lnTo>
                  <a:lnTo>
                    <a:pt x="14066241" y="1526006"/>
                  </a:lnTo>
                  <a:lnTo>
                    <a:pt x="14066241" y="0"/>
                  </a:lnTo>
                  <a:close/>
                </a:path>
              </a:pathLst>
            </a:custGeom>
            <a:solidFill>
              <a:srgbClr val="14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627446" y="3075939"/>
              <a:ext cx="10549890" cy="1545590"/>
            </a:xfrm>
            <a:custGeom>
              <a:avLst/>
              <a:gdLst/>
              <a:ahLst/>
              <a:cxnLst/>
              <a:rect l="l" t="t" r="r" b="b"/>
              <a:pathLst>
                <a:path w="10549890" h="1545589">
                  <a:moveTo>
                    <a:pt x="7033107" y="0"/>
                  </a:moveTo>
                  <a:lnTo>
                    <a:pt x="3516553" y="0"/>
                  </a:lnTo>
                  <a:lnTo>
                    <a:pt x="0" y="0"/>
                  </a:lnTo>
                  <a:lnTo>
                    <a:pt x="0" y="1545590"/>
                  </a:lnTo>
                  <a:lnTo>
                    <a:pt x="3516553" y="1545590"/>
                  </a:lnTo>
                  <a:lnTo>
                    <a:pt x="7033107" y="1545590"/>
                  </a:lnTo>
                  <a:lnTo>
                    <a:pt x="7033107" y="0"/>
                  </a:lnTo>
                  <a:close/>
                </a:path>
                <a:path w="10549890" h="1545589">
                  <a:moveTo>
                    <a:pt x="10549674" y="0"/>
                  </a:moveTo>
                  <a:lnTo>
                    <a:pt x="7033120" y="0"/>
                  </a:lnTo>
                  <a:lnTo>
                    <a:pt x="7033120" y="1545590"/>
                  </a:lnTo>
                  <a:lnTo>
                    <a:pt x="10549674" y="1545590"/>
                  </a:lnTo>
                  <a:lnTo>
                    <a:pt x="10549674" y="0"/>
                  </a:lnTo>
                  <a:close/>
                </a:path>
              </a:pathLst>
            </a:custGeom>
            <a:solidFill>
              <a:srgbClr val="83C9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10879" y="3075939"/>
              <a:ext cx="3516629" cy="1545590"/>
            </a:xfrm>
            <a:custGeom>
              <a:avLst/>
              <a:gdLst/>
              <a:ahLst/>
              <a:cxnLst/>
              <a:rect l="l" t="t" r="r" b="b"/>
              <a:pathLst>
                <a:path w="3516629" h="1545589">
                  <a:moveTo>
                    <a:pt x="3516553" y="0"/>
                  </a:moveTo>
                  <a:lnTo>
                    <a:pt x="0" y="0"/>
                  </a:lnTo>
                  <a:lnTo>
                    <a:pt x="0" y="1545590"/>
                  </a:lnTo>
                  <a:lnTo>
                    <a:pt x="3516553" y="1545590"/>
                  </a:lnTo>
                  <a:lnTo>
                    <a:pt x="3516553" y="0"/>
                  </a:lnTo>
                  <a:close/>
                </a:path>
              </a:pathLst>
            </a:custGeom>
            <a:solidFill>
              <a:srgbClr val="14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27446" y="4621529"/>
              <a:ext cx="10549890" cy="1545590"/>
            </a:xfrm>
            <a:custGeom>
              <a:avLst/>
              <a:gdLst/>
              <a:ahLst/>
              <a:cxnLst/>
              <a:rect l="l" t="t" r="r" b="b"/>
              <a:pathLst>
                <a:path w="10549890" h="1545589">
                  <a:moveTo>
                    <a:pt x="7033107" y="0"/>
                  </a:moveTo>
                  <a:lnTo>
                    <a:pt x="3516553" y="0"/>
                  </a:lnTo>
                  <a:lnTo>
                    <a:pt x="0" y="0"/>
                  </a:lnTo>
                  <a:lnTo>
                    <a:pt x="0" y="1545590"/>
                  </a:lnTo>
                  <a:lnTo>
                    <a:pt x="3516553" y="1545590"/>
                  </a:lnTo>
                  <a:lnTo>
                    <a:pt x="7033107" y="1545590"/>
                  </a:lnTo>
                  <a:lnTo>
                    <a:pt x="7033107" y="0"/>
                  </a:lnTo>
                  <a:close/>
                </a:path>
                <a:path w="10549890" h="1545589">
                  <a:moveTo>
                    <a:pt x="10549674" y="0"/>
                  </a:moveTo>
                  <a:lnTo>
                    <a:pt x="7033120" y="0"/>
                  </a:lnTo>
                  <a:lnTo>
                    <a:pt x="7033120" y="1545590"/>
                  </a:lnTo>
                  <a:lnTo>
                    <a:pt x="10549674" y="1545590"/>
                  </a:lnTo>
                  <a:lnTo>
                    <a:pt x="10549674" y="0"/>
                  </a:lnTo>
                  <a:close/>
                </a:path>
              </a:pathLst>
            </a:custGeom>
            <a:solidFill>
              <a:srgbClr val="C1E3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10879" y="4621529"/>
              <a:ext cx="3516629" cy="1545590"/>
            </a:xfrm>
            <a:custGeom>
              <a:avLst/>
              <a:gdLst/>
              <a:ahLst/>
              <a:cxnLst/>
              <a:rect l="l" t="t" r="r" b="b"/>
              <a:pathLst>
                <a:path w="3516629" h="1545589">
                  <a:moveTo>
                    <a:pt x="3516553" y="0"/>
                  </a:moveTo>
                  <a:lnTo>
                    <a:pt x="0" y="0"/>
                  </a:lnTo>
                  <a:lnTo>
                    <a:pt x="0" y="1545590"/>
                  </a:lnTo>
                  <a:lnTo>
                    <a:pt x="3516553" y="1545590"/>
                  </a:lnTo>
                  <a:lnTo>
                    <a:pt x="3516553" y="0"/>
                  </a:lnTo>
                  <a:close/>
                </a:path>
              </a:pathLst>
            </a:custGeom>
            <a:solidFill>
              <a:srgbClr val="14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627446" y="6167119"/>
              <a:ext cx="10549890" cy="1545590"/>
            </a:xfrm>
            <a:custGeom>
              <a:avLst/>
              <a:gdLst/>
              <a:ahLst/>
              <a:cxnLst/>
              <a:rect l="l" t="t" r="r" b="b"/>
              <a:pathLst>
                <a:path w="10549890" h="1545590">
                  <a:moveTo>
                    <a:pt x="7033107" y="0"/>
                  </a:moveTo>
                  <a:lnTo>
                    <a:pt x="3516553" y="0"/>
                  </a:lnTo>
                  <a:lnTo>
                    <a:pt x="0" y="0"/>
                  </a:lnTo>
                  <a:lnTo>
                    <a:pt x="0" y="1545590"/>
                  </a:lnTo>
                  <a:lnTo>
                    <a:pt x="3516553" y="1545590"/>
                  </a:lnTo>
                  <a:lnTo>
                    <a:pt x="7033107" y="1545590"/>
                  </a:lnTo>
                  <a:lnTo>
                    <a:pt x="7033107" y="0"/>
                  </a:lnTo>
                  <a:close/>
                </a:path>
                <a:path w="10549890" h="1545590">
                  <a:moveTo>
                    <a:pt x="10549674" y="0"/>
                  </a:moveTo>
                  <a:lnTo>
                    <a:pt x="7033120" y="0"/>
                  </a:lnTo>
                  <a:lnTo>
                    <a:pt x="7033120" y="1545590"/>
                  </a:lnTo>
                  <a:lnTo>
                    <a:pt x="10549674" y="1545590"/>
                  </a:lnTo>
                  <a:lnTo>
                    <a:pt x="10549674" y="0"/>
                  </a:lnTo>
                  <a:close/>
                </a:path>
              </a:pathLst>
            </a:custGeom>
            <a:solidFill>
              <a:srgbClr val="83C9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110879" y="6167120"/>
              <a:ext cx="3516629" cy="1545590"/>
            </a:xfrm>
            <a:custGeom>
              <a:avLst/>
              <a:gdLst/>
              <a:ahLst/>
              <a:cxnLst/>
              <a:rect l="l" t="t" r="r" b="b"/>
              <a:pathLst>
                <a:path w="3516629" h="1545590">
                  <a:moveTo>
                    <a:pt x="3516553" y="0"/>
                  </a:moveTo>
                  <a:lnTo>
                    <a:pt x="0" y="0"/>
                  </a:lnTo>
                  <a:lnTo>
                    <a:pt x="0" y="1545590"/>
                  </a:lnTo>
                  <a:lnTo>
                    <a:pt x="3516553" y="1545590"/>
                  </a:lnTo>
                  <a:lnTo>
                    <a:pt x="3516553" y="0"/>
                  </a:lnTo>
                  <a:close/>
                </a:path>
              </a:pathLst>
            </a:custGeom>
            <a:solidFill>
              <a:srgbClr val="14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627446" y="7712709"/>
              <a:ext cx="10549890" cy="1545590"/>
            </a:xfrm>
            <a:custGeom>
              <a:avLst/>
              <a:gdLst/>
              <a:ahLst/>
              <a:cxnLst/>
              <a:rect l="l" t="t" r="r" b="b"/>
              <a:pathLst>
                <a:path w="10549890" h="1545590">
                  <a:moveTo>
                    <a:pt x="7033107" y="0"/>
                  </a:moveTo>
                  <a:lnTo>
                    <a:pt x="3516553" y="0"/>
                  </a:lnTo>
                  <a:lnTo>
                    <a:pt x="0" y="0"/>
                  </a:lnTo>
                  <a:lnTo>
                    <a:pt x="0" y="1545590"/>
                  </a:lnTo>
                  <a:lnTo>
                    <a:pt x="3516553" y="1545590"/>
                  </a:lnTo>
                  <a:lnTo>
                    <a:pt x="7033107" y="1545590"/>
                  </a:lnTo>
                  <a:lnTo>
                    <a:pt x="7033107" y="0"/>
                  </a:lnTo>
                  <a:close/>
                </a:path>
                <a:path w="10549890" h="1545590">
                  <a:moveTo>
                    <a:pt x="10549674" y="0"/>
                  </a:moveTo>
                  <a:lnTo>
                    <a:pt x="7033120" y="0"/>
                  </a:lnTo>
                  <a:lnTo>
                    <a:pt x="7033120" y="1545590"/>
                  </a:lnTo>
                  <a:lnTo>
                    <a:pt x="10549674" y="1545590"/>
                  </a:lnTo>
                  <a:lnTo>
                    <a:pt x="10549674" y="0"/>
                  </a:lnTo>
                  <a:close/>
                </a:path>
              </a:pathLst>
            </a:custGeom>
            <a:solidFill>
              <a:srgbClr val="C1E3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110879" y="7712709"/>
              <a:ext cx="3516629" cy="1545590"/>
            </a:xfrm>
            <a:custGeom>
              <a:avLst/>
              <a:gdLst/>
              <a:ahLst/>
              <a:cxnLst/>
              <a:rect l="l" t="t" r="r" b="b"/>
              <a:pathLst>
                <a:path w="3516629" h="1545590">
                  <a:moveTo>
                    <a:pt x="3516553" y="0"/>
                  </a:moveTo>
                  <a:lnTo>
                    <a:pt x="0" y="0"/>
                  </a:lnTo>
                  <a:lnTo>
                    <a:pt x="0" y="1545590"/>
                  </a:lnTo>
                  <a:lnTo>
                    <a:pt x="3516553" y="1545590"/>
                  </a:lnTo>
                  <a:lnTo>
                    <a:pt x="3516553" y="0"/>
                  </a:lnTo>
                  <a:close/>
                </a:path>
              </a:pathLst>
            </a:custGeom>
            <a:solidFill>
              <a:srgbClr val="14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660566" y="1549933"/>
              <a:ext cx="0" cy="1526540"/>
            </a:xfrm>
            <a:custGeom>
              <a:avLst/>
              <a:gdLst/>
              <a:ahLst/>
              <a:cxnLst/>
              <a:rect l="l" t="t" r="r" b="b"/>
              <a:pathLst>
                <a:path w="0" h="1526539">
                  <a:moveTo>
                    <a:pt x="0" y="0"/>
                  </a:moveTo>
                  <a:lnTo>
                    <a:pt x="0" y="152600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6177145" y="1549933"/>
              <a:ext cx="0" cy="1526540"/>
            </a:xfrm>
            <a:custGeom>
              <a:avLst/>
              <a:gdLst/>
              <a:ahLst/>
              <a:cxnLst/>
              <a:rect l="l" t="t" r="r" b="b"/>
              <a:pathLst>
                <a:path w="0" h="1526539">
                  <a:moveTo>
                    <a:pt x="0" y="0"/>
                  </a:moveTo>
                  <a:lnTo>
                    <a:pt x="0" y="1526006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2655804" y="1543599"/>
              <a:ext cx="3515360" cy="12700"/>
            </a:xfrm>
            <a:custGeom>
              <a:avLst/>
              <a:gdLst/>
              <a:ahLst/>
              <a:cxnLst/>
              <a:rect l="l" t="t" r="r" b="b"/>
              <a:pathLst>
                <a:path w="3515359" h="12700">
                  <a:moveTo>
                    <a:pt x="0" y="12667"/>
                  </a:moveTo>
                  <a:lnTo>
                    <a:pt x="3514991" y="12667"/>
                  </a:lnTo>
                  <a:lnTo>
                    <a:pt x="3514991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143999" y="1549933"/>
              <a:ext cx="0" cy="1526540"/>
            </a:xfrm>
            <a:custGeom>
              <a:avLst/>
              <a:gdLst/>
              <a:ahLst/>
              <a:cxnLst/>
              <a:rect l="l" t="t" r="r" b="b"/>
              <a:pathLst>
                <a:path w="0" h="1526539">
                  <a:moveTo>
                    <a:pt x="0" y="0"/>
                  </a:moveTo>
                  <a:lnTo>
                    <a:pt x="0" y="152600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139237" y="1543599"/>
              <a:ext cx="3516629" cy="12700"/>
            </a:xfrm>
            <a:custGeom>
              <a:avLst/>
              <a:gdLst/>
              <a:ahLst/>
              <a:cxnLst/>
              <a:rect l="l" t="t" r="r" b="b"/>
              <a:pathLst>
                <a:path w="3516629" h="12700">
                  <a:moveTo>
                    <a:pt x="0" y="12667"/>
                  </a:moveTo>
                  <a:lnTo>
                    <a:pt x="3516566" y="12667"/>
                  </a:lnTo>
                  <a:lnTo>
                    <a:pt x="3516566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627433" y="1549933"/>
              <a:ext cx="0" cy="1526540"/>
            </a:xfrm>
            <a:custGeom>
              <a:avLst/>
              <a:gdLst/>
              <a:ahLst/>
              <a:cxnLst/>
              <a:rect l="l" t="t" r="r" b="b"/>
              <a:pathLst>
                <a:path w="0" h="1526539">
                  <a:moveTo>
                    <a:pt x="0" y="0"/>
                  </a:moveTo>
                  <a:lnTo>
                    <a:pt x="0" y="152600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622683" y="1543599"/>
              <a:ext cx="3516629" cy="12700"/>
            </a:xfrm>
            <a:custGeom>
              <a:avLst/>
              <a:gdLst/>
              <a:ahLst/>
              <a:cxnLst/>
              <a:rect l="l" t="t" r="r" b="b"/>
              <a:pathLst>
                <a:path w="3516629" h="12700">
                  <a:moveTo>
                    <a:pt x="0" y="12667"/>
                  </a:moveTo>
                  <a:lnTo>
                    <a:pt x="3516553" y="12667"/>
                  </a:lnTo>
                  <a:lnTo>
                    <a:pt x="3516553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110879" y="1549933"/>
              <a:ext cx="0" cy="1526540"/>
            </a:xfrm>
            <a:custGeom>
              <a:avLst/>
              <a:gdLst/>
              <a:ahLst/>
              <a:cxnLst/>
              <a:rect l="l" t="t" r="r" b="b"/>
              <a:pathLst>
                <a:path w="0" h="1526539">
                  <a:moveTo>
                    <a:pt x="0" y="0"/>
                  </a:moveTo>
                  <a:lnTo>
                    <a:pt x="0" y="1526006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117213" y="1543599"/>
              <a:ext cx="3505835" cy="12700"/>
            </a:xfrm>
            <a:custGeom>
              <a:avLst/>
              <a:gdLst/>
              <a:ahLst/>
              <a:cxnLst/>
              <a:rect l="l" t="t" r="r" b="b"/>
              <a:pathLst>
                <a:path w="3505835" h="12700">
                  <a:moveTo>
                    <a:pt x="0" y="12667"/>
                  </a:moveTo>
                  <a:lnTo>
                    <a:pt x="3505470" y="12667"/>
                  </a:lnTo>
                  <a:lnTo>
                    <a:pt x="3505470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2660566" y="3075939"/>
              <a:ext cx="3516629" cy="1545590"/>
            </a:xfrm>
            <a:custGeom>
              <a:avLst/>
              <a:gdLst/>
              <a:ahLst/>
              <a:cxnLst/>
              <a:rect l="l" t="t" r="r" b="b"/>
              <a:pathLst>
                <a:path w="3516629" h="1545589">
                  <a:moveTo>
                    <a:pt x="0" y="0"/>
                  </a:moveTo>
                  <a:lnTo>
                    <a:pt x="0" y="1545589"/>
                  </a:lnTo>
                </a:path>
                <a:path w="3516629" h="1545589">
                  <a:moveTo>
                    <a:pt x="3516579" y="0"/>
                  </a:moveTo>
                  <a:lnTo>
                    <a:pt x="3516579" y="1545589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2666891" y="3069606"/>
              <a:ext cx="3503929" cy="12700"/>
            </a:xfrm>
            <a:custGeom>
              <a:avLst/>
              <a:gdLst/>
              <a:ahLst/>
              <a:cxnLst/>
              <a:rect l="l" t="t" r="r" b="b"/>
              <a:pathLst>
                <a:path w="3503929" h="12700">
                  <a:moveTo>
                    <a:pt x="0" y="12667"/>
                  </a:moveTo>
                  <a:lnTo>
                    <a:pt x="3503904" y="12667"/>
                  </a:lnTo>
                  <a:lnTo>
                    <a:pt x="3503904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143999" y="3075939"/>
              <a:ext cx="0" cy="1545590"/>
            </a:xfrm>
            <a:custGeom>
              <a:avLst/>
              <a:gdLst/>
              <a:ahLst/>
              <a:cxnLst/>
              <a:rect l="l" t="t" r="r" b="b"/>
              <a:pathLst>
                <a:path w="0" h="1545589">
                  <a:moveTo>
                    <a:pt x="0" y="0"/>
                  </a:moveTo>
                  <a:lnTo>
                    <a:pt x="0" y="1545589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150337" y="3069606"/>
              <a:ext cx="3503929" cy="12700"/>
            </a:xfrm>
            <a:custGeom>
              <a:avLst/>
              <a:gdLst/>
              <a:ahLst/>
              <a:cxnLst/>
              <a:rect l="l" t="t" r="r" b="b"/>
              <a:pathLst>
                <a:path w="3503929" h="12700">
                  <a:moveTo>
                    <a:pt x="0" y="12667"/>
                  </a:moveTo>
                  <a:lnTo>
                    <a:pt x="3503891" y="12667"/>
                  </a:lnTo>
                  <a:lnTo>
                    <a:pt x="3503891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627433" y="3075939"/>
              <a:ext cx="0" cy="1545590"/>
            </a:xfrm>
            <a:custGeom>
              <a:avLst/>
              <a:gdLst/>
              <a:ahLst/>
              <a:cxnLst/>
              <a:rect l="l" t="t" r="r" b="b"/>
              <a:pathLst>
                <a:path w="0" h="1545589">
                  <a:moveTo>
                    <a:pt x="0" y="0"/>
                  </a:moveTo>
                  <a:lnTo>
                    <a:pt x="0" y="1545589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633770" y="3069606"/>
              <a:ext cx="3503929" cy="12700"/>
            </a:xfrm>
            <a:custGeom>
              <a:avLst/>
              <a:gdLst/>
              <a:ahLst/>
              <a:cxnLst/>
              <a:rect l="l" t="t" r="r" b="b"/>
              <a:pathLst>
                <a:path w="3503929" h="12700">
                  <a:moveTo>
                    <a:pt x="0" y="12667"/>
                  </a:moveTo>
                  <a:lnTo>
                    <a:pt x="3503891" y="12667"/>
                  </a:lnTo>
                  <a:lnTo>
                    <a:pt x="3503891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110879" y="3075939"/>
              <a:ext cx="0" cy="1545590"/>
            </a:xfrm>
            <a:custGeom>
              <a:avLst/>
              <a:gdLst/>
              <a:ahLst/>
              <a:cxnLst/>
              <a:rect l="l" t="t" r="r" b="b"/>
              <a:pathLst>
                <a:path w="0" h="1545589">
                  <a:moveTo>
                    <a:pt x="0" y="0"/>
                  </a:moveTo>
                  <a:lnTo>
                    <a:pt x="0" y="1545589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117213" y="3069606"/>
              <a:ext cx="3503929" cy="12700"/>
            </a:xfrm>
            <a:custGeom>
              <a:avLst/>
              <a:gdLst/>
              <a:ahLst/>
              <a:cxnLst/>
              <a:rect l="l" t="t" r="r" b="b"/>
              <a:pathLst>
                <a:path w="3503929" h="12700">
                  <a:moveTo>
                    <a:pt x="0" y="12667"/>
                  </a:moveTo>
                  <a:lnTo>
                    <a:pt x="3503895" y="12667"/>
                  </a:lnTo>
                  <a:lnTo>
                    <a:pt x="3503895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2660566" y="4621529"/>
              <a:ext cx="3516629" cy="1545590"/>
            </a:xfrm>
            <a:custGeom>
              <a:avLst/>
              <a:gdLst/>
              <a:ahLst/>
              <a:cxnLst/>
              <a:rect l="l" t="t" r="r" b="b"/>
              <a:pathLst>
                <a:path w="3516629" h="1545589">
                  <a:moveTo>
                    <a:pt x="0" y="0"/>
                  </a:moveTo>
                  <a:lnTo>
                    <a:pt x="0" y="1545590"/>
                  </a:lnTo>
                </a:path>
                <a:path w="3516629" h="1545589">
                  <a:moveTo>
                    <a:pt x="3516579" y="0"/>
                  </a:moveTo>
                  <a:lnTo>
                    <a:pt x="3516579" y="1545590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2666891" y="4615196"/>
              <a:ext cx="3503929" cy="12700"/>
            </a:xfrm>
            <a:custGeom>
              <a:avLst/>
              <a:gdLst/>
              <a:ahLst/>
              <a:cxnLst/>
              <a:rect l="l" t="t" r="r" b="b"/>
              <a:pathLst>
                <a:path w="3503929" h="12700">
                  <a:moveTo>
                    <a:pt x="0" y="12667"/>
                  </a:moveTo>
                  <a:lnTo>
                    <a:pt x="3503904" y="12667"/>
                  </a:lnTo>
                  <a:lnTo>
                    <a:pt x="3503904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9143999" y="4621529"/>
              <a:ext cx="0" cy="1545590"/>
            </a:xfrm>
            <a:custGeom>
              <a:avLst/>
              <a:gdLst/>
              <a:ahLst/>
              <a:cxnLst/>
              <a:rect l="l" t="t" r="r" b="b"/>
              <a:pathLst>
                <a:path w="0" h="1545589">
                  <a:moveTo>
                    <a:pt x="0" y="0"/>
                  </a:moveTo>
                  <a:lnTo>
                    <a:pt x="0" y="1545590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150337" y="4615196"/>
              <a:ext cx="3503929" cy="12700"/>
            </a:xfrm>
            <a:custGeom>
              <a:avLst/>
              <a:gdLst/>
              <a:ahLst/>
              <a:cxnLst/>
              <a:rect l="l" t="t" r="r" b="b"/>
              <a:pathLst>
                <a:path w="3503929" h="12700">
                  <a:moveTo>
                    <a:pt x="0" y="12667"/>
                  </a:moveTo>
                  <a:lnTo>
                    <a:pt x="3503891" y="12667"/>
                  </a:lnTo>
                  <a:lnTo>
                    <a:pt x="3503891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627433" y="4621529"/>
              <a:ext cx="0" cy="1545590"/>
            </a:xfrm>
            <a:custGeom>
              <a:avLst/>
              <a:gdLst/>
              <a:ahLst/>
              <a:cxnLst/>
              <a:rect l="l" t="t" r="r" b="b"/>
              <a:pathLst>
                <a:path w="0" h="1545589">
                  <a:moveTo>
                    <a:pt x="0" y="0"/>
                  </a:moveTo>
                  <a:lnTo>
                    <a:pt x="0" y="1545590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633770" y="4615196"/>
              <a:ext cx="3503929" cy="12700"/>
            </a:xfrm>
            <a:custGeom>
              <a:avLst/>
              <a:gdLst/>
              <a:ahLst/>
              <a:cxnLst/>
              <a:rect l="l" t="t" r="r" b="b"/>
              <a:pathLst>
                <a:path w="3503929" h="12700">
                  <a:moveTo>
                    <a:pt x="0" y="12667"/>
                  </a:moveTo>
                  <a:lnTo>
                    <a:pt x="3503891" y="12667"/>
                  </a:lnTo>
                  <a:lnTo>
                    <a:pt x="3503891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110879" y="4621529"/>
              <a:ext cx="0" cy="1545590"/>
            </a:xfrm>
            <a:custGeom>
              <a:avLst/>
              <a:gdLst/>
              <a:ahLst/>
              <a:cxnLst/>
              <a:rect l="l" t="t" r="r" b="b"/>
              <a:pathLst>
                <a:path w="0" h="1545589">
                  <a:moveTo>
                    <a:pt x="0" y="0"/>
                  </a:moveTo>
                  <a:lnTo>
                    <a:pt x="0" y="1545590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117213" y="4615196"/>
              <a:ext cx="3503929" cy="12700"/>
            </a:xfrm>
            <a:custGeom>
              <a:avLst/>
              <a:gdLst/>
              <a:ahLst/>
              <a:cxnLst/>
              <a:rect l="l" t="t" r="r" b="b"/>
              <a:pathLst>
                <a:path w="3503929" h="12700">
                  <a:moveTo>
                    <a:pt x="0" y="12667"/>
                  </a:moveTo>
                  <a:lnTo>
                    <a:pt x="3503895" y="12667"/>
                  </a:lnTo>
                  <a:lnTo>
                    <a:pt x="3503895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2660566" y="6167120"/>
              <a:ext cx="3516629" cy="1545590"/>
            </a:xfrm>
            <a:custGeom>
              <a:avLst/>
              <a:gdLst/>
              <a:ahLst/>
              <a:cxnLst/>
              <a:rect l="l" t="t" r="r" b="b"/>
              <a:pathLst>
                <a:path w="3516629" h="1545590">
                  <a:moveTo>
                    <a:pt x="0" y="0"/>
                  </a:moveTo>
                  <a:lnTo>
                    <a:pt x="0" y="1545589"/>
                  </a:lnTo>
                </a:path>
                <a:path w="3516629" h="1545590">
                  <a:moveTo>
                    <a:pt x="3516579" y="0"/>
                  </a:moveTo>
                  <a:lnTo>
                    <a:pt x="3516579" y="1545589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2666891" y="6160785"/>
              <a:ext cx="3503929" cy="12700"/>
            </a:xfrm>
            <a:custGeom>
              <a:avLst/>
              <a:gdLst/>
              <a:ahLst/>
              <a:cxnLst/>
              <a:rect l="l" t="t" r="r" b="b"/>
              <a:pathLst>
                <a:path w="3503929" h="12700">
                  <a:moveTo>
                    <a:pt x="0" y="12667"/>
                  </a:moveTo>
                  <a:lnTo>
                    <a:pt x="3503904" y="12667"/>
                  </a:lnTo>
                  <a:lnTo>
                    <a:pt x="3503904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9143999" y="6167120"/>
              <a:ext cx="0" cy="1545590"/>
            </a:xfrm>
            <a:custGeom>
              <a:avLst/>
              <a:gdLst/>
              <a:ahLst/>
              <a:cxnLst/>
              <a:rect l="l" t="t" r="r" b="b"/>
              <a:pathLst>
                <a:path w="0" h="1545590">
                  <a:moveTo>
                    <a:pt x="0" y="0"/>
                  </a:moveTo>
                  <a:lnTo>
                    <a:pt x="0" y="1545589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9150337" y="6160785"/>
              <a:ext cx="3503929" cy="12700"/>
            </a:xfrm>
            <a:custGeom>
              <a:avLst/>
              <a:gdLst/>
              <a:ahLst/>
              <a:cxnLst/>
              <a:rect l="l" t="t" r="r" b="b"/>
              <a:pathLst>
                <a:path w="3503929" h="12700">
                  <a:moveTo>
                    <a:pt x="0" y="12667"/>
                  </a:moveTo>
                  <a:lnTo>
                    <a:pt x="3503891" y="12667"/>
                  </a:lnTo>
                  <a:lnTo>
                    <a:pt x="3503891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627433" y="6167120"/>
              <a:ext cx="0" cy="1545590"/>
            </a:xfrm>
            <a:custGeom>
              <a:avLst/>
              <a:gdLst/>
              <a:ahLst/>
              <a:cxnLst/>
              <a:rect l="l" t="t" r="r" b="b"/>
              <a:pathLst>
                <a:path w="0" h="1545590">
                  <a:moveTo>
                    <a:pt x="0" y="0"/>
                  </a:moveTo>
                  <a:lnTo>
                    <a:pt x="0" y="1545589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633770" y="6160785"/>
              <a:ext cx="3503929" cy="12700"/>
            </a:xfrm>
            <a:custGeom>
              <a:avLst/>
              <a:gdLst/>
              <a:ahLst/>
              <a:cxnLst/>
              <a:rect l="l" t="t" r="r" b="b"/>
              <a:pathLst>
                <a:path w="3503929" h="12700">
                  <a:moveTo>
                    <a:pt x="0" y="12667"/>
                  </a:moveTo>
                  <a:lnTo>
                    <a:pt x="3503891" y="12667"/>
                  </a:lnTo>
                  <a:lnTo>
                    <a:pt x="3503891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110879" y="6167120"/>
              <a:ext cx="0" cy="1545590"/>
            </a:xfrm>
            <a:custGeom>
              <a:avLst/>
              <a:gdLst/>
              <a:ahLst/>
              <a:cxnLst/>
              <a:rect l="l" t="t" r="r" b="b"/>
              <a:pathLst>
                <a:path w="0" h="1545590">
                  <a:moveTo>
                    <a:pt x="0" y="0"/>
                  </a:moveTo>
                  <a:lnTo>
                    <a:pt x="0" y="1545589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117213" y="6160785"/>
              <a:ext cx="3503929" cy="12700"/>
            </a:xfrm>
            <a:custGeom>
              <a:avLst/>
              <a:gdLst/>
              <a:ahLst/>
              <a:cxnLst/>
              <a:rect l="l" t="t" r="r" b="b"/>
              <a:pathLst>
                <a:path w="3503929" h="12700">
                  <a:moveTo>
                    <a:pt x="0" y="12667"/>
                  </a:moveTo>
                  <a:lnTo>
                    <a:pt x="3503895" y="12667"/>
                  </a:lnTo>
                  <a:lnTo>
                    <a:pt x="3503895" y="0"/>
                  </a:lnTo>
                  <a:lnTo>
                    <a:pt x="0" y="0"/>
                  </a:lnTo>
                  <a:lnTo>
                    <a:pt x="0" y="1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2660566" y="7712709"/>
              <a:ext cx="3516629" cy="1545590"/>
            </a:xfrm>
            <a:custGeom>
              <a:avLst/>
              <a:gdLst/>
              <a:ahLst/>
              <a:cxnLst/>
              <a:rect l="l" t="t" r="r" b="b"/>
              <a:pathLst>
                <a:path w="3516629" h="1545590">
                  <a:moveTo>
                    <a:pt x="0" y="0"/>
                  </a:moveTo>
                  <a:lnTo>
                    <a:pt x="0" y="1545590"/>
                  </a:lnTo>
                </a:path>
                <a:path w="3516629" h="1545590">
                  <a:moveTo>
                    <a:pt x="3516579" y="0"/>
                  </a:moveTo>
                  <a:lnTo>
                    <a:pt x="3516579" y="1545590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2654229" y="7706385"/>
              <a:ext cx="3529329" cy="1558290"/>
            </a:xfrm>
            <a:custGeom>
              <a:avLst/>
              <a:gdLst/>
              <a:ahLst/>
              <a:cxnLst/>
              <a:rect l="l" t="t" r="r" b="b"/>
              <a:pathLst>
                <a:path w="3529329" h="1558290">
                  <a:moveTo>
                    <a:pt x="3516566" y="0"/>
                  </a:moveTo>
                  <a:lnTo>
                    <a:pt x="12661" y="0"/>
                  </a:lnTo>
                  <a:lnTo>
                    <a:pt x="12661" y="12661"/>
                  </a:lnTo>
                  <a:lnTo>
                    <a:pt x="3516566" y="12661"/>
                  </a:lnTo>
                  <a:lnTo>
                    <a:pt x="3516566" y="0"/>
                  </a:lnTo>
                  <a:close/>
                </a:path>
                <a:path w="3529329" h="1558290">
                  <a:moveTo>
                    <a:pt x="3529266" y="1545590"/>
                  </a:moveTo>
                  <a:lnTo>
                    <a:pt x="0" y="1545590"/>
                  </a:lnTo>
                  <a:lnTo>
                    <a:pt x="0" y="1558251"/>
                  </a:lnTo>
                  <a:lnTo>
                    <a:pt x="3529266" y="1558251"/>
                  </a:lnTo>
                  <a:lnTo>
                    <a:pt x="3529266" y="15455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9143999" y="7712709"/>
              <a:ext cx="0" cy="1545590"/>
            </a:xfrm>
            <a:custGeom>
              <a:avLst/>
              <a:gdLst/>
              <a:ahLst/>
              <a:cxnLst/>
              <a:rect l="l" t="t" r="r" b="b"/>
              <a:pathLst>
                <a:path w="0" h="1545590">
                  <a:moveTo>
                    <a:pt x="0" y="0"/>
                  </a:moveTo>
                  <a:lnTo>
                    <a:pt x="0" y="1545590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9137663" y="7706385"/>
              <a:ext cx="3529329" cy="1558290"/>
            </a:xfrm>
            <a:custGeom>
              <a:avLst/>
              <a:gdLst/>
              <a:ahLst/>
              <a:cxnLst/>
              <a:rect l="l" t="t" r="r" b="b"/>
              <a:pathLst>
                <a:path w="3529329" h="1558290">
                  <a:moveTo>
                    <a:pt x="3516566" y="0"/>
                  </a:moveTo>
                  <a:lnTo>
                    <a:pt x="12674" y="0"/>
                  </a:lnTo>
                  <a:lnTo>
                    <a:pt x="12674" y="12661"/>
                  </a:lnTo>
                  <a:lnTo>
                    <a:pt x="3516566" y="12661"/>
                  </a:lnTo>
                  <a:lnTo>
                    <a:pt x="3516566" y="0"/>
                  </a:lnTo>
                  <a:close/>
                </a:path>
                <a:path w="3529329" h="1558290">
                  <a:moveTo>
                    <a:pt x="3529228" y="1545590"/>
                  </a:moveTo>
                  <a:lnTo>
                    <a:pt x="0" y="1545590"/>
                  </a:lnTo>
                  <a:lnTo>
                    <a:pt x="0" y="1558251"/>
                  </a:lnTo>
                  <a:lnTo>
                    <a:pt x="3529228" y="1558251"/>
                  </a:lnTo>
                  <a:lnTo>
                    <a:pt x="3529228" y="15455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627433" y="7712709"/>
              <a:ext cx="0" cy="1545590"/>
            </a:xfrm>
            <a:custGeom>
              <a:avLst/>
              <a:gdLst/>
              <a:ahLst/>
              <a:cxnLst/>
              <a:rect l="l" t="t" r="r" b="b"/>
              <a:pathLst>
                <a:path w="0" h="1545590">
                  <a:moveTo>
                    <a:pt x="0" y="0"/>
                  </a:moveTo>
                  <a:lnTo>
                    <a:pt x="0" y="1545590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621109" y="7706385"/>
              <a:ext cx="3529329" cy="1558290"/>
            </a:xfrm>
            <a:custGeom>
              <a:avLst/>
              <a:gdLst/>
              <a:ahLst/>
              <a:cxnLst/>
              <a:rect l="l" t="t" r="r" b="b"/>
              <a:pathLst>
                <a:path w="3529329" h="1558290">
                  <a:moveTo>
                    <a:pt x="3516553" y="0"/>
                  </a:moveTo>
                  <a:lnTo>
                    <a:pt x="12661" y="0"/>
                  </a:lnTo>
                  <a:lnTo>
                    <a:pt x="12661" y="12661"/>
                  </a:lnTo>
                  <a:lnTo>
                    <a:pt x="3516553" y="12661"/>
                  </a:lnTo>
                  <a:lnTo>
                    <a:pt x="3516553" y="0"/>
                  </a:lnTo>
                  <a:close/>
                </a:path>
                <a:path w="3529329" h="1558290">
                  <a:moveTo>
                    <a:pt x="3529228" y="1545590"/>
                  </a:moveTo>
                  <a:lnTo>
                    <a:pt x="0" y="1545590"/>
                  </a:lnTo>
                  <a:lnTo>
                    <a:pt x="0" y="1558251"/>
                  </a:lnTo>
                  <a:lnTo>
                    <a:pt x="3529228" y="1558251"/>
                  </a:lnTo>
                  <a:lnTo>
                    <a:pt x="3529228" y="15455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110879" y="7712709"/>
              <a:ext cx="0" cy="1545590"/>
            </a:xfrm>
            <a:custGeom>
              <a:avLst/>
              <a:gdLst/>
              <a:ahLst/>
              <a:cxnLst/>
              <a:rect l="l" t="t" r="r" b="b"/>
              <a:pathLst>
                <a:path w="0" h="1545590">
                  <a:moveTo>
                    <a:pt x="0" y="0"/>
                  </a:moveTo>
                  <a:lnTo>
                    <a:pt x="0" y="1545590"/>
                  </a:lnTo>
                </a:path>
              </a:pathLst>
            </a:custGeom>
            <a:ln w="1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104542" y="7706385"/>
              <a:ext cx="3529329" cy="1558290"/>
            </a:xfrm>
            <a:custGeom>
              <a:avLst/>
              <a:gdLst/>
              <a:ahLst/>
              <a:cxnLst/>
              <a:rect l="l" t="t" r="r" b="b"/>
              <a:pathLst>
                <a:path w="3529329" h="1558290">
                  <a:moveTo>
                    <a:pt x="3516566" y="0"/>
                  </a:moveTo>
                  <a:lnTo>
                    <a:pt x="12661" y="0"/>
                  </a:lnTo>
                  <a:lnTo>
                    <a:pt x="12661" y="12661"/>
                  </a:lnTo>
                  <a:lnTo>
                    <a:pt x="3516566" y="12661"/>
                  </a:lnTo>
                  <a:lnTo>
                    <a:pt x="3516566" y="0"/>
                  </a:lnTo>
                  <a:close/>
                </a:path>
                <a:path w="3529329" h="1558290">
                  <a:moveTo>
                    <a:pt x="3529228" y="1545590"/>
                  </a:moveTo>
                  <a:lnTo>
                    <a:pt x="0" y="1545590"/>
                  </a:lnTo>
                  <a:lnTo>
                    <a:pt x="0" y="1558251"/>
                  </a:lnTo>
                  <a:lnTo>
                    <a:pt x="3529228" y="1558251"/>
                  </a:lnTo>
                  <a:lnTo>
                    <a:pt x="3529228" y="15455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2174379" y="2174481"/>
            <a:ext cx="950594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Member</a:t>
            </a:r>
            <a:endParaRPr sz="19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690933" y="2174481"/>
            <a:ext cx="136525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endParaRPr sz="19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207500" y="2174481"/>
            <a:ext cx="2088514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Main</a:t>
            </a:r>
            <a:r>
              <a:rPr dirty="0" sz="19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Contribution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2724066" y="2174481"/>
            <a:ext cx="27730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Technologies</a:t>
            </a:r>
            <a:r>
              <a:rPr dirty="0" sz="19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9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19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174379" y="3710279"/>
            <a:ext cx="131318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IT22136206</a:t>
            </a:r>
            <a:endParaRPr sz="19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690933" y="3710279"/>
            <a:ext cx="334962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latin typeface="Arial"/>
                <a:cs typeface="Arial"/>
              </a:rPr>
              <a:t>Cognitive</a:t>
            </a:r>
            <a:r>
              <a:rPr dirty="0" sz="1900" spc="-8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Skill</a:t>
            </a:r>
            <a:r>
              <a:rPr dirty="0" sz="1900" spc="-8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Profiling</a:t>
            </a:r>
            <a:r>
              <a:rPr dirty="0" sz="1900" spc="-8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System</a:t>
            </a:r>
            <a:endParaRPr sz="19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207500" y="3324198"/>
            <a:ext cx="3362325" cy="1038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900">
                <a:latin typeface="Arial"/>
                <a:cs typeface="Arial"/>
              </a:rPr>
              <a:t>Collect</a:t>
            </a:r>
            <a:r>
              <a:rPr dirty="0" sz="1900" spc="-9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learner</a:t>
            </a:r>
            <a:r>
              <a:rPr dirty="0" sz="1900" spc="-9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interaction</a:t>
            </a:r>
            <a:r>
              <a:rPr dirty="0" sz="1900" spc="-95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data, </a:t>
            </a:r>
            <a:r>
              <a:rPr dirty="0" sz="1900">
                <a:latin typeface="Arial"/>
                <a:cs typeface="Arial"/>
              </a:rPr>
              <a:t>analyze</a:t>
            </a:r>
            <a:r>
              <a:rPr dirty="0" sz="1900" spc="-10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cognitive</a:t>
            </a:r>
            <a:r>
              <a:rPr dirty="0" sz="1900" spc="-10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behavior, </a:t>
            </a:r>
            <a:r>
              <a:rPr dirty="0" sz="1900">
                <a:latin typeface="Arial"/>
                <a:cs typeface="Arial"/>
              </a:rPr>
              <a:t>generate</a:t>
            </a:r>
            <a:r>
              <a:rPr dirty="0" sz="1900" spc="-11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cognitive</a:t>
            </a:r>
            <a:r>
              <a:rPr dirty="0" sz="1900" spc="-11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profiles</a:t>
            </a:r>
            <a:endParaRPr sz="19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2724066" y="3324198"/>
            <a:ext cx="2653030" cy="1038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900">
                <a:latin typeface="Arial"/>
                <a:cs typeface="Arial"/>
              </a:rPr>
              <a:t>Random</a:t>
            </a:r>
            <a:r>
              <a:rPr dirty="0" sz="1900" spc="-7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Forest,</a:t>
            </a:r>
            <a:r>
              <a:rPr dirty="0" sz="1900" spc="-7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Feature </a:t>
            </a:r>
            <a:r>
              <a:rPr dirty="0" sz="1900">
                <a:latin typeface="Arial"/>
                <a:cs typeface="Arial"/>
              </a:rPr>
              <a:t>Extraction,</a:t>
            </a:r>
            <a:r>
              <a:rPr dirty="0" sz="1900" spc="-70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Real-time </a:t>
            </a:r>
            <a:r>
              <a:rPr dirty="0" sz="1900">
                <a:latin typeface="Arial"/>
                <a:cs typeface="Arial"/>
              </a:rPr>
              <a:t>Behavioral</a:t>
            </a:r>
            <a:r>
              <a:rPr dirty="0" sz="1900" spc="-12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Analysis</a:t>
            </a:r>
            <a:endParaRPr sz="19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174379" y="5255869"/>
            <a:ext cx="131318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IT22224316</a:t>
            </a:r>
            <a:endParaRPr sz="19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690933" y="5038699"/>
            <a:ext cx="3029585" cy="701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900" spc="-10">
                <a:latin typeface="Arial"/>
                <a:cs typeface="Arial"/>
              </a:rPr>
              <a:t>Personalized</a:t>
            </a:r>
            <a:r>
              <a:rPr dirty="0" sz="1900" spc="-5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Math</a:t>
            </a:r>
            <a:r>
              <a:rPr dirty="0" sz="1900" spc="-4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Learning Engine</a:t>
            </a:r>
            <a:endParaRPr sz="19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207500" y="4869789"/>
            <a:ext cx="3376295" cy="1038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900">
                <a:latin typeface="Arial"/>
                <a:cs typeface="Arial"/>
              </a:rPr>
              <a:t>Create</a:t>
            </a:r>
            <a:r>
              <a:rPr dirty="0" sz="1900" spc="-9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adaptive</a:t>
            </a:r>
            <a:r>
              <a:rPr dirty="0" sz="1900" spc="-9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learning</a:t>
            </a:r>
            <a:r>
              <a:rPr dirty="0" sz="1900" spc="-9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paths, </a:t>
            </a:r>
            <a:r>
              <a:rPr dirty="0" sz="1900">
                <a:latin typeface="Arial"/>
                <a:cs typeface="Arial"/>
              </a:rPr>
              <a:t>adjust</a:t>
            </a:r>
            <a:r>
              <a:rPr dirty="0" sz="1900" spc="-8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difficulty</a:t>
            </a:r>
            <a:r>
              <a:rPr dirty="0" sz="1900" spc="-8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levels,</a:t>
            </a:r>
            <a:r>
              <a:rPr dirty="0" sz="1900" spc="-8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provide </a:t>
            </a:r>
            <a:r>
              <a:rPr dirty="0" sz="1900" spc="-20">
                <a:latin typeface="Arial"/>
                <a:cs typeface="Arial"/>
              </a:rPr>
              <a:t>real-</a:t>
            </a:r>
            <a:r>
              <a:rPr dirty="0" sz="1900">
                <a:latin typeface="Arial"/>
                <a:cs typeface="Arial"/>
              </a:rPr>
              <a:t>time</a:t>
            </a:r>
            <a:r>
              <a:rPr dirty="0" sz="1900" spc="-10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hints</a:t>
            </a:r>
            <a:endParaRPr sz="19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2724066" y="4869789"/>
            <a:ext cx="3335654" cy="1038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900">
                <a:latin typeface="Arial"/>
                <a:cs typeface="Arial"/>
              </a:rPr>
              <a:t>Bayesian</a:t>
            </a:r>
            <a:r>
              <a:rPr dirty="0" sz="1900" spc="-11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Knowledge</a:t>
            </a:r>
            <a:r>
              <a:rPr dirty="0" sz="1900" spc="-10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Tracing </a:t>
            </a:r>
            <a:r>
              <a:rPr dirty="0" sz="1900">
                <a:latin typeface="Arial"/>
                <a:cs typeface="Arial"/>
              </a:rPr>
              <a:t>(BKT),</a:t>
            </a:r>
            <a:r>
              <a:rPr dirty="0" sz="1900" spc="-8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Adaptive</a:t>
            </a:r>
            <a:r>
              <a:rPr dirty="0" sz="1900" spc="-8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Learning,</a:t>
            </a:r>
            <a:r>
              <a:rPr dirty="0" sz="1900" spc="-85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API-</a:t>
            </a:r>
            <a:r>
              <a:rPr dirty="0" sz="1900">
                <a:latin typeface="Arial"/>
                <a:cs typeface="Arial"/>
              </a:rPr>
              <a:t>based</a:t>
            </a:r>
            <a:r>
              <a:rPr dirty="0" sz="1900" spc="-6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Hint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Generation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174379" y="6801459"/>
            <a:ext cx="131318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IT22117878</a:t>
            </a:r>
            <a:endParaRPr sz="19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690933" y="6584288"/>
            <a:ext cx="2451735" cy="701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900">
                <a:latin typeface="Arial"/>
                <a:cs typeface="Arial"/>
              </a:rPr>
              <a:t>Adaptive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Game-</a:t>
            </a:r>
            <a:r>
              <a:rPr dirty="0" sz="1900" spc="-10">
                <a:latin typeface="Arial"/>
                <a:cs typeface="Arial"/>
              </a:rPr>
              <a:t>Based </a:t>
            </a:r>
            <a:r>
              <a:rPr dirty="0" sz="1900">
                <a:latin typeface="Arial"/>
                <a:cs typeface="Arial"/>
              </a:rPr>
              <a:t>Learning</a:t>
            </a:r>
            <a:r>
              <a:rPr dirty="0" sz="1900" spc="-11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Engine</a:t>
            </a:r>
            <a:endParaRPr sz="19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207500" y="6246469"/>
            <a:ext cx="3201670" cy="1376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900">
                <a:latin typeface="Arial"/>
                <a:cs typeface="Arial"/>
              </a:rPr>
              <a:t>Develop</a:t>
            </a:r>
            <a:r>
              <a:rPr dirty="0" sz="1900" spc="-10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gamified</a:t>
            </a:r>
            <a:r>
              <a:rPr dirty="0" sz="1900" spc="-10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learning environment,</a:t>
            </a:r>
            <a:r>
              <a:rPr dirty="0" sz="1900" spc="-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adapt</a:t>
            </a:r>
            <a:r>
              <a:rPr dirty="0" sz="1900" spc="-5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gameplay </a:t>
            </a:r>
            <a:r>
              <a:rPr dirty="0" sz="1900">
                <a:latin typeface="Arial"/>
                <a:cs typeface="Arial"/>
              </a:rPr>
              <a:t>and</a:t>
            </a:r>
            <a:r>
              <a:rPr dirty="0" sz="1900" spc="-6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rewards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based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 spc="-25">
                <a:latin typeface="Arial"/>
                <a:cs typeface="Arial"/>
              </a:rPr>
              <a:t>on </a:t>
            </a:r>
            <a:r>
              <a:rPr dirty="0" sz="1900" spc="-10">
                <a:latin typeface="Arial"/>
                <a:cs typeface="Arial"/>
              </a:rPr>
              <a:t>performance</a:t>
            </a:r>
            <a:endParaRPr sz="19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2724066" y="6415379"/>
            <a:ext cx="3201035" cy="1038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900" spc="-10">
                <a:latin typeface="Arial"/>
                <a:cs typeface="Arial"/>
              </a:rPr>
              <a:t>Reinforcement</a:t>
            </a:r>
            <a:r>
              <a:rPr dirty="0" sz="1900" spc="-8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Learning</a:t>
            </a:r>
            <a:r>
              <a:rPr dirty="0" sz="1900" spc="-8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(RL), Gamification,</a:t>
            </a:r>
            <a:r>
              <a:rPr dirty="0" sz="1900" spc="-1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Behavioral Adaptation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174379" y="8347049"/>
            <a:ext cx="131318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IT21275524</a:t>
            </a:r>
            <a:endParaRPr sz="19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690933" y="8129879"/>
            <a:ext cx="2586355" cy="701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900">
                <a:latin typeface="Arial"/>
                <a:cs typeface="Arial"/>
              </a:rPr>
              <a:t>Learning</a:t>
            </a:r>
            <a:r>
              <a:rPr dirty="0" sz="1900" spc="-6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Insight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&amp;</a:t>
            </a:r>
            <a:r>
              <a:rPr dirty="0" sz="1900" spc="-6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Early </a:t>
            </a:r>
            <a:r>
              <a:rPr dirty="0" sz="1900">
                <a:latin typeface="Arial"/>
                <a:cs typeface="Arial"/>
              </a:rPr>
              <a:t>Warning</a:t>
            </a:r>
            <a:r>
              <a:rPr dirty="0" sz="1900" spc="-8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System</a:t>
            </a:r>
            <a:endParaRPr sz="19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207500" y="7960969"/>
            <a:ext cx="3348354" cy="1038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900">
                <a:latin typeface="Arial"/>
                <a:cs typeface="Arial"/>
              </a:rPr>
              <a:t>Predict</a:t>
            </a:r>
            <a:r>
              <a:rPr dirty="0" sz="1900" spc="-8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learning</a:t>
            </a:r>
            <a:r>
              <a:rPr dirty="0" sz="1900" spc="-8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risks,</a:t>
            </a:r>
            <a:r>
              <a:rPr dirty="0" sz="1900" spc="-8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generate intervention</a:t>
            </a:r>
            <a:r>
              <a:rPr dirty="0" sz="1900" spc="-2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recommendations, </a:t>
            </a:r>
            <a:r>
              <a:rPr dirty="0" sz="1900">
                <a:latin typeface="Arial"/>
                <a:cs typeface="Arial"/>
              </a:rPr>
              <a:t>develop</a:t>
            </a:r>
            <a:r>
              <a:rPr dirty="0" sz="1900" spc="-10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dashboards</a:t>
            </a:r>
            <a:endParaRPr sz="19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2724066" y="7792060"/>
            <a:ext cx="3241040" cy="1376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900">
                <a:latin typeface="Arial"/>
                <a:cs typeface="Arial"/>
              </a:rPr>
              <a:t>Random</a:t>
            </a:r>
            <a:r>
              <a:rPr dirty="0" sz="1900" spc="-7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Forest</a:t>
            </a:r>
            <a:r>
              <a:rPr dirty="0" sz="1900" spc="-7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Classification, </a:t>
            </a:r>
            <a:r>
              <a:rPr dirty="0" sz="1900">
                <a:latin typeface="Arial"/>
                <a:cs typeface="Arial"/>
              </a:rPr>
              <a:t>Predictive</a:t>
            </a:r>
            <a:r>
              <a:rPr dirty="0" sz="1900" spc="-9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Analytics,</a:t>
            </a:r>
            <a:r>
              <a:rPr dirty="0" sz="1900" spc="-9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Rule-</a:t>
            </a:r>
            <a:r>
              <a:rPr dirty="0" sz="1900">
                <a:latin typeface="Arial"/>
                <a:cs typeface="Arial"/>
              </a:rPr>
              <a:t>based</a:t>
            </a:r>
            <a:r>
              <a:rPr dirty="0" sz="1900" spc="-7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Recommendation System</a:t>
            </a:r>
            <a:endParaRPr sz="19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926863" y="9430890"/>
            <a:ext cx="2729230" cy="6076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630"/>
              </a:lnSpc>
            </a:pPr>
            <a:r>
              <a:rPr dirty="0" sz="4100" spc="5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r>
              <a:rPr dirty="0" sz="4100" spc="60" b="1">
                <a:solidFill>
                  <a:srgbClr val="0D1C38"/>
                </a:solidFill>
                <a:latin typeface="Arial"/>
                <a:cs typeface="Arial"/>
              </a:rPr>
              <a:t>IT-</a:t>
            </a:r>
            <a:r>
              <a:rPr dirty="0" sz="410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4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30396" y="417606"/>
            <a:ext cx="11738610" cy="6578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Interactive</a:t>
            </a:r>
            <a:r>
              <a:rPr dirty="0" spc="370"/>
              <a:t> </a:t>
            </a:r>
            <a:r>
              <a:rPr dirty="0"/>
              <a:t>Learning</a:t>
            </a:r>
            <a:r>
              <a:rPr dirty="0" spc="380"/>
              <a:t> </a:t>
            </a:r>
            <a:r>
              <a:rPr dirty="0"/>
              <a:t>Tool</a:t>
            </a:r>
            <a:r>
              <a:rPr dirty="0" spc="375"/>
              <a:t> </a:t>
            </a:r>
            <a:r>
              <a:rPr dirty="0"/>
              <a:t>for</a:t>
            </a:r>
            <a:r>
              <a:rPr dirty="0" spc="380"/>
              <a:t> </a:t>
            </a:r>
            <a:r>
              <a:rPr dirty="0"/>
              <a:t>Dyscalculia</a:t>
            </a:r>
            <a:r>
              <a:rPr dirty="0" spc="380"/>
              <a:t> </a:t>
            </a:r>
            <a:r>
              <a:rPr dirty="0" spc="-20"/>
              <a:t>kids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8639" y="1659064"/>
            <a:ext cx="14437867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6212" y="483428"/>
            <a:ext cx="16623030" cy="9324340"/>
          </a:xfrm>
          <a:custGeom>
            <a:avLst/>
            <a:gdLst/>
            <a:ahLst/>
            <a:cxnLst/>
            <a:rect l="l" t="t" r="r" b="b"/>
            <a:pathLst>
              <a:path w="16623030" h="9324340">
                <a:moveTo>
                  <a:pt x="16623030" y="0"/>
                </a:moveTo>
                <a:lnTo>
                  <a:pt x="0" y="0"/>
                </a:lnTo>
                <a:lnTo>
                  <a:pt x="0" y="9323965"/>
                </a:lnTo>
                <a:lnTo>
                  <a:pt x="16623030" y="9323965"/>
                </a:lnTo>
                <a:lnTo>
                  <a:pt x="16623030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11960">
              <a:lnSpc>
                <a:spcPct val="100000"/>
              </a:lnSpc>
              <a:spcBef>
                <a:spcPts val="100"/>
              </a:spcBef>
            </a:pPr>
            <a:r>
              <a:rPr dirty="0" sz="3950"/>
              <a:t>Interactive</a:t>
            </a:r>
            <a:r>
              <a:rPr dirty="0" sz="3950" spc="385"/>
              <a:t> </a:t>
            </a:r>
            <a:r>
              <a:rPr dirty="0" sz="3950"/>
              <a:t>Learning</a:t>
            </a:r>
            <a:r>
              <a:rPr dirty="0" sz="3950" spc="385"/>
              <a:t> </a:t>
            </a:r>
            <a:r>
              <a:rPr dirty="0" sz="3950"/>
              <a:t>Tool</a:t>
            </a:r>
            <a:r>
              <a:rPr dirty="0" sz="3950" spc="385"/>
              <a:t> </a:t>
            </a:r>
            <a:r>
              <a:rPr dirty="0" sz="3950"/>
              <a:t>for</a:t>
            </a:r>
            <a:r>
              <a:rPr dirty="0" sz="3950" spc="385"/>
              <a:t> </a:t>
            </a:r>
            <a:r>
              <a:rPr dirty="0" sz="3950"/>
              <a:t>Dyscalculia</a:t>
            </a:r>
            <a:r>
              <a:rPr dirty="0" sz="3950" spc="385"/>
              <a:t> </a:t>
            </a:r>
            <a:r>
              <a:rPr dirty="0" sz="3950" spc="-20"/>
              <a:t>kids</a:t>
            </a:r>
            <a:endParaRPr sz="3950"/>
          </a:p>
        </p:txBody>
      </p:sp>
      <p:sp>
        <p:nvSpPr>
          <p:cNvPr id="5" name="object 5"/>
          <p:cNvSpPr txBox="1"/>
          <p:nvPr/>
        </p:nvSpPr>
        <p:spPr>
          <a:xfrm>
            <a:off x="1016000" y="1513878"/>
            <a:ext cx="11920855" cy="193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450" b="1">
                <a:solidFill>
                  <a:srgbClr val="0E172E"/>
                </a:solidFill>
                <a:uFill>
                  <a:solidFill>
                    <a:srgbClr val="0E172E"/>
                  </a:solidFill>
                </a:uFill>
                <a:latin typeface="Arial"/>
                <a:cs typeface="Arial"/>
              </a:rPr>
              <a:t>Problem</a:t>
            </a:r>
            <a:r>
              <a:rPr dirty="0" u="sng" sz="3450" spc="-45" b="1">
                <a:solidFill>
                  <a:srgbClr val="0E172E"/>
                </a:solidFill>
                <a:uFill>
                  <a:solidFill>
                    <a:srgbClr val="0E172E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450" spc="-10" b="1">
                <a:solidFill>
                  <a:srgbClr val="0E172E"/>
                </a:solidFill>
                <a:uFill>
                  <a:solidFill>
                    <a:srgbClr val="0E172E"/>
                  </a:solidFill>
                </a:uFill>
                <a:latin typeface="Arial"/>
                <a:cs typeface="Arial"/>
              </a:rPr>
              <a:t>Statement</a:t>
            </a:r>
            <a:endParaRPr sz="3450">
              <a:latin typeface="Arial"/>
              <a:cs typeface="Arial"/>
            </a:endParaRPr>
          </a:p>
          <a:p>
            <a:pPr marL="535940" marR="5080">
              <a:lnSpc>
                <a:spcPct val="117400"/>
              </a:lnSpc>
              <a:spcBef>
                <a:spcPts val="1980"/>
              </a:spcBef>
              <a:tabLst>
                <a:tab pos="3162935" algn="l"/>
                <a:tab pos="4853940" algn="l"/>
                <a:tab pos="7162800" algn="l"/>
                <a:tab pos="8719820" algn="l"/>
                <a:tab pos="9469120" algn="l"/>
              </a:tabLst>
            </a:pPr>
            <a:r>
              <a:rPr dirty="0" sz="3150" spc="-10" b="1">
                <a:latin typeface="Arial"/>
                <a:cs typeface="Arial"/>
              </a:rPr>
              <a:t>Dyscalculia</a:t>
            </a:r>
            <a:r>
              <a:rPr dirty="0" sz="3150" b="1">
                <a:latin typeface="Arial"/>
                <a:cs typeface="Arial"/>
              </a:rPr>
              <a:t>	</a:t>
            </a:r>
            <a:r>
              <a:rPr dirty="0" sz="3150" spc="-10" b="1">
                <a:latin typeface="Arial"/>
                <a:cs typeface="Arial"/>
              </a:rPr>
              <a:t>affects</a:t>
            </a:r>
            <a:r>
              <a:rPr dirty="0" sz="3150" b="1">
                <a:latin typeface="Arial"/>
                <a:cs typeface="Arial"/>
              </a:rPr>
              <a:t>	</a:t>
            </a:r>
            <a:r>
              <a:rPr dirty="0" sz="3150" spc="-10" b="1">
                <a:latin typeface="Arial"/>
                <a:cs typeface="Arial"/>
              </a:rPr>
              <a:t>children’s</a:t>
            </a:r>
            <a:r>
              <a:rPr dirty="0" sz="3150" b="1">
                <a:latin typeface="Arial"/>
                <a:cs typeface="Arial"/>
              </a:rPr>
              <a:t>	</a:t>
            </a:r>
            <a:r>
              <a:rPr dirty="0" sz="3150" spc="-10" b="1">
                <a:latin typeface="Arial"/>
                <a:cs typeface="Arial"/>
              </a:rPr>
              <a:t>ability</a:t>
            </a:r>
            <a:r>
              <a:rPr dirty="0" sz="3150" b="1">
                <a:latin typeface="Arial"/>
                <a:cs typeface="Arial"/>
              </a:rPr>
              <a:t>	</a:t>
            </a:r>
            <a:r>
              <a:rPr dirty="0" sz="3150" spc="-25" b="1">
                <a:latin typeface="Arial"/>
                <a:cs typeface="Arial"/>
              </a:rPr>
              <a:t>to</a:t>
            </a:r>
            <a:r>
              <a:rPr dirty="0" sz="3150" b="1">
                <a:latin typeface="Arial"/>
                <a:cs typeface="Arial"/>
              </a:rPr>
              <a:t>	</a:t>
            </a:r>
            <a:r>
              <a:rPr dirty="0" sz="3150" spc="-10" b="1">
                <a:latin typeface="Arial"/>
                <a:cs typeface="Arial"/>
              </a:rPr>
              <a:t>understand </a:t>
            </a:r>
            <a:r>
              <a:rPr dirty="0" sz="3150" b="1">
                <a:latin typeface="Arial"/>
                <a:cs typeface="Arial"/>
              </a:rPr>
              <a:t>arithmetic</a:t>
            </a:r>
            <a:r>
              <a:rPr dirty="0" sz="3150" spc="36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problems,</a:t>
            </a:r>
            <a:r>
              <a:rPr dirty="0" sz="3150" spc="37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and</a:t>
            </a:r>
            <a:r>
              <a:rPr dirty="0" sz="3150" spc="37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process</a:t>
            </a:r>
            <a:r>
              <a:rPr dirty="0" sz="3150" spc="37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mathematical</a:t>
            </a:r>
            <a:r>
              <a:rPr dirty="0" sz="3150" spc="370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concepts.</a:t>
            </a:r>
            <a:endParaRPr sz="31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70251" y="2374951"/>
            <a:ext cx="1868170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-10" b="1">
                <a:latin typeface="Arial"/>
                <a:cs typeface="Arial"/>
              </a:rPr>
              <a:t>numbers,</a:t>
            </a:r>
            <a:endParaRPr sz="31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78210" y="2374951"/>
            <a:ext cx="1072515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-10" b="1">
                <a:latin typeface="Arial"/>
                <a:cs typeface="Arial"/>
              </a:rPr>
              <a:t>solve</a:t>
            </a:r>
            <a:endParaRPr sz="3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3667531"/>
            <a:ext cx="7228840" cy="3777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1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Key</a:t>
            </a:r>
            <a:r>
              <a:rPr dirty="0" u="sng" sz="3150" spc="1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1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Issues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ts val="3475"/>
              </a:lnSpc>
              <a:spcBef>
                <a:spcPts val="2550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latin typeface="Arial"/>
                <a:cs typeface="Arial"/>
              </a:rPr>
              <a:t>Weak</a:t>
            </a:r>
            <a:r>
              <a:rPr dirty="0" sz="3150" spc="20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number</a:t>
            </a:r>
            <a:r>
              <a:rPr dirty="0" sz="3150" spc="21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sense</a:t>
            </a:r>
            <a:r>
              <a:rPr dirty="0" sz="3150" spc="21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and</a:t>
            </a:r>
            <a:r>
              <a:rPr dirty="0" sz="3150" spc="210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memory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ts val="3165"/>
              </a:lnSpc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latin typeface="Arial"/>
                <a:cs typeface="Arial"/>
              </a:rPr>
              <a:t>Slow</a:t>
            </a:r>
            <a:r>
              <a:rPr dirty="0" sz="3150" spc="30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processing</a:t>
            </a:r>
            <a:r>
              <a:rPr dirty="0" sz="3150" spc="31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speed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ts val="3165"/>
              </a:lnSpc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latin typeface="Arial"/>
                <a:cs typeface="Arial"/>
              </a:rPr>
              <a:t>Poor</a:t>
            </a:r>
            <a:r>
              <a:rPr dirty="0" sz="3150" spc="22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attention</a:t>
            </a:r>
            <a:r>
              <a:rPr dirty="0" sz="3150" spc="229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and</a:t>
            </a:r>
            <a:r>
              <a:rPr dirty="0" sz="3150" spc="229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concentration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ts val="3165"/>
              </a:lnSpc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latin typeface="Arial"/>
                <a:cs typeface="Arial"/>
              </a:rPr>
              <a:t>Math</a:t>
            </a:r>
            <a:r>
              <a:rPr dirty="0" sz="3150" spc="20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anxiety</a:t>
            </a:r>
            <a:r>
              <a:rPr dirty="0" sz="3150" spc="20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and</a:t>
            </a:r>
            <a:r>
              <a:rPr dirty="0" sz="3150" spc="20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low</a:t>
            </a:r>
            <a:r>
              <a:rPr dirty="0" sz="3150" spc="200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confidence</a:t>
            </a:r>
            <a:endParaRPr sz="3150">
              <a:latin typeface="Arial"/>
              <a:cs typeface="Arial"/>
            </a:endParaRPr>
          </a:p>
          <a:p>
            <a:pPr marL="694690" marR="711200" indent="-340995">
              <a:lnSpc>
                <a:spcPts val="3170"/>
              </a:lnSpc>
              <a:spcBef>
                <a:spcPts val="305"/>
              </a:spcBef>
              <a:buFont typeface="Arial"/>
              <a:buChar char="•"/>
              <a:tabLst>
                <a:tab pos="695960" algn="l"/>
              </a:tabLst>
            </a:pPr>
            <a:r>
              <a:rPr dirty="0" sz="3150" b="1">
                <a:latin typeface="Arial"/>
                <a:cs typeface="Arial"/>
              </a:rPr>
              <a:t>Limited</a:t>
            </a:r>
            <a:r>
              <a:rPr dirty="0" sz="3150" spc="40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personalized</a:t>
            </a:r>
            <a:r>
              <a:rPr dirty="0" sz="3150" spc="409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learning 	support</a:t>
            </a:r>
            <a:endParaRPr sz="3150">
              <a:latin typeface="Arial"/>
              <a:cs typeface="Arial"/>
            </a:endParaRPr>
          </a:p>
          <a:p>
            <a:pPr marL="203835">
              <a:lnSpc>
                <a:spcPts val="3595"/>
              </a:lnSpc>
            </a:pPr>
            <a:r>
              <a:rPr dirty="0" u="sng" sz="33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Impact</a:t>
            </a:r>
            <a:endParaRPr sz="3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35059" y="3801135"/>
            <a:ext cx="5340350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0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Existing</a:t>
            </a:r>
            <a:r>
              <a:rPr dirty="0" u="sng" sz="3050" spc="27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System</a:t>
            </a:r>
            <a:r>
              <a:rPr dirty="0" u="sng" sz="3050" spc="27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Limitations</a:t>
            </a:r>
            <a:endParaRPr sz="3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65977" y="4579645"/>
            <a:ext cx="8043545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3535" indent="-3308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43535" algn="l"/>
              </a:tabLst>
            </a:pPr>
            <a:r>
              <a:rPr dirty="0" sz="3050" b="1">
                <a:latin typeface="Arial"/>
                <a:cs typeface="Arial"/>
              </a:rPr>
              <a:t>Focus</a:t>
            </a:r>
            <a:r>
              <a:rPr dirty="0" sz="3050" spc="295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only</a:t>
            </a:r>
            <a:r>
              <a:rPr dirty="0" sz="3050" spc="300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on</a:t>
            </a:r>
            <a:r>
              <a:rPr dirty="0" sz="3050" spc="305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correct/incorrect</a:t>
            </a:r>
            <a:r>
              <a:rPr dirty="0" sz="3050" spc="305" b="1">
                <a:latin typeface="Arial"/>
                <a:cs typeface="Arial"/>
              </a:rPr>
              <a:t> </a:t>
            </a:r>
            <a:r>
              <a:rPr dirty="0" sz="3050" spc="-10" b="1">
                <a:latin typeface="Arial"/>
                <a:cs typeface="Arial"/>
              </a:rPr>
              <a:t>answers</a:t>
            </a:r>
            <a:endParaRPr sz="3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65977" y="4968900"/>
            <a:ext cx="7660640" cy="1268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3535" indent="-330835">
              <a:lnSpc>
                <a:spcPts val="3360"/>
              </a:lnSpc>
              <a:spcBef>
                <a:spcPts val="100"/>
              </a:spcBef>
              <a:buFont typeface="Arial"/>
              <a:buChar char="•"/>
              <a:tabLst>
                <a:tab pos="343535" algn="l"/>
              </a:tabLst>
            </a:pPr>
            <a:r>
              <a:rPr dirty="0" sz="3050" b="1">
                <a:latin typeface="Arial"/>
                <a:cs typeface="Arial"/>
              </a:rPr>
              <a:t>No</a:t>
            </a:r>
            <a:r>
              <a:rPr dirty="0" sz="3050" spc="285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cognitive</a:t>
            </a:r>
            <a:r>
              <a:rPr dirty="0" sz="3050" spc="280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behavior</a:t>
            </a:r>
            <a:r>
              <a:rPr dirty="0" sz="3050" spc="285" b="1">
                <a:latin typeface="Arial"/>
                <a:cs typeface="Arial"/>
              </a:rPr>
              <a:t> </a:t>
            </a:r>
            <a:r>
              <a:rPr dirty="0" sz="3050" spc="-10" b="1">
                <a:latin typeface="Arial"/>
                <a:cs typeface="Arial"/>
              </a:rPr>
              <a:t>analysis</a:t>
            </a:r>
            <a:endParaRPr sz="3050">
              <a:latin typeface="Arial"/>
              <a:cs typeface="Arial"/>
            </a:endParaRPr>
          </a:p>
          <a:p>
            <a:pPr marL="343535" indent="-330835">
              <a:lnSpc>
                <a:spcPts val="3065"/>
              </a:lnSpc>
              <a:buFont typeface="Arial"/>
              <a:buChar char="•"/>
              <a:tabLst>
                <a:tab pos="343535" algn="l"/>
              </a:tabLst>
            </a:pPr>
            <a:r>
              <a:rPr dirty="0" sz="3050" b="1">
                <a:latin typeface="Arial"/>
                <a:cs typeface="Arial"/>
              </a:rPr>
              <a:t>Lack</a:t>
            </a:r>
            <a:r>
              <a:rPr dirty="0" sz="3050" spc="235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of</a:t>
            </a:r>
            <a:r>
              <a:rPr dirty="0" sz="3050" spc="245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adaptive</a:t>
            </a:r>
            <a:r>
              <a:rPr dirty="0" sz="3050" spc="245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learning</a:t>
            </a:r>
            <a:r>
              <a:rPr dirty="0" sz="3050" spc="245" b="1">
                <a:latin typeface="Arial"/>
                <a:cs typeface="Arial"/>
              </a:rPr>
              <a:t> </a:t>
            </a:r>
            <a:r>
              <a:rPr dirty="0" sz="3050" spc="-10" b="1">
                <a:latin typeface="Arial"/>
                <a:cs typeface="Arial"/>
              </a:rPr>
              <a:t>mechanisms</a:t>
            </a:r>
            <a:endParaRPr sz="3050">
              <a:latin typeface="Arial"/>
              <a:cs typeface="Arial"/>
            </a:endParaRPr>
          </a:p>
          <a:p>
            <a:pPr marL="343535" indent="-330835">
              <a:lnSpc>
                <a:spcPts val="3360"/>
              </a:lnSpc>
              <a:buFont typeface="Arial"/>
              <a:buChar char="•"/>
              <a:tabLst>
                <a:tab pos="343535" algn="l"/>
              </a:tabLst>
            </a:pPr>
            <a:r>
              <a:rPr dirty="0" sz="3050" b="1">
                <a:latin typeface="Arial"/>
                <a:cs typeface="Arial"/>
              </a:rPr>
              <a:t>No</a:t>
            </a:r>
            <a:r>
              <a:rPr dirty="0" sz="3050" spc="225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early</a:t>
            </a:r>
            <a:r>
              <a:rPr dirty="0" sz="3050" spc="229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warning</a:t>
            </a:r>
            <a:r>
              <a:rPr dirty="0" sz="3050" spc="225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support</a:t>
            </a:r>
            <a:r>
              <a:rPr dirty="0" sz="3050" spc="225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for</a:t>
            </a:r>
            <a:r>
              <a:rPr dirty="0" sz="3050" spc="225" b="1">
                <a:latin typeface="Arial"/>
                <a:cs typeface="Arial"/>
              </a:rPr>
              <a:t> </a:t>
            </a:r>
            <a:r>
              <a:rPr dirty="0" sz="3050" spc="-10" b="1">
                <a:latin typeface="Arial"/>
                <a:cs typeface="Arial"/>
              </a:rPr>
              <a:t>teachers</a:t>
            </a:r>
            <a:endParaRPr sz="3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3553" y="7578788"/>
            <a:ext cx="15675610" cy="264541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algn="just" marL="12700" marR="5080">
              <a:lnSpc>
                <a:spcPts val="3170"/>
              </a:lnSpc>
              <a:spcBef>
                <a:spcPts val="710"/>
              </a:spcBef>
            </a:pPr>
            <a:r>
              <a:rPr dirty="0" sz="3150" b="1">
                <a:latin typeface="Arial"/>
                <a:cs typeface="Arial"/>
              </a:rPr>
              <a:t>Dyscalculia</a:t>
            </a:r>
            <a:r>
              <a:rPr dirty="0" sz="3150" spc="235" b="1">
                <a:latin typeface="Arial"/>
                <a:cs typeface="Arial"/>
              </a:rPr>
              <a:t>   </a:t>
            </a:r>
            <a:r>
              <a:rPr dirty="0" sz="3150" b="1">
                <a:latin typeface="Arial"/>
                <a:cs typeface="Arial"/>
              </a:rPr>
              <a:t>causes</a:t>
            </a:r>
            <a:r>
              <a:rPr dirty="0" sz="3150" spc="250" b="1">
                <a:latin typeface="Arial"/>
                <a:cs typeface="Arial"/>
              </a:rPr>
              <a:t>   </a:t>
            </a:r>
            <a:r>
              <a:rPr dirty="0" sz="3150" b="1">
                <a:latin typeface="Arial"/>
                <a:cs typeface="Arial"/>
              </a:rPr>
              <a:t>poor</a:t>
            </a:r>
            <a:r>
              <a:rPr dirty="0" sz="3150" spc="245" b="1">
                <a:latin typeface="Arial"/>
                <a:cs typeface="Arial"/>
              </a:rPr>
              <a:t>   </a:t>
            </a:r>
            <a:r>
              <a:rPr dirty="0" sz="3150" b="1">
                <a:latin typeface="Arial"/>
                <a:cs typeface="Arial"/>
              </a:rPr>
              <a:t>math</a:t>
            </a:r>
            <a:r>
              <a:rPr dirty="0" sz="3150" spc="250" b="1">
                <a:latin typeface="Arial"/>
                <a:cs typeface="Arial"/>
              </a:rPr>
              <a:t>   </a:t>
            </a:r>
            <a:r>
              <a:rPr dirty="0" sz="3150" b="1">
                <a:latin typeface="Arial"/>
                <a:cs typeface="Arial"/>
              </a:rPr>
              <a:t>performance,</a:t>
            </a:r>
            <a:r>
              <a:rPr dirty="0" sz="3150" spc="245" b="1">
                <a:latin typeface="Arial"/>
                <a:cs typeface="Arial"/>
              </a:rPr>
              <a:t>   </a:t>
            </a:r>
            <a:r>
              <a:rPr dirty="0" sz="3150" b="1">
                <a:latin typeface="Arial"/>
                <a:cs typeface="Arial"/>
              </a:rPr>
              <a:t>anxiety,</a:t>
            </a:r>
            <a:r>
              <a:rPr dirty="0" sz="3150" spc="250" b="1">
                <a:latin typeface="Arial"/>
                <a:cs typeface="Arial"/>
              </a:rPr>
              <a:t>   </a:t>
            </a:r>
            <a:r>
              <a:rPr dirty="0" sz="3150" b="1">
                <a:latin typeface="Arial"/>
                <a:cs typeface="Arial"/>
              </a:rPr>
              <a:t>and</a:t>
            </a:r>
            <a:r>
              <a:rPr dirty="0" sz="3150" spc="245" b="1">
                <a:latin typeface="Arial"/>
                <a:cs typeface="Arial"/>
              </a:rPr>
              <a:t>   </a:t>
            </a:r>
            <a:r>
              <a:rPr dirty="0" sz="3150" b="1">
                <a:latin typeface="Arial"/>
                <a:cs typeface="Arial"/>
              </a:rPr>
              <a:t>difficulty</a:t>
            </a:r>
            <a:r>
              <a:rPr dirty="0" sz="3150" spc="250" b="1">
                <a:latin typeface="Arial"/>
                <a:cs typeface="Arial"/>
              </a:rPr>
              <a:t>   </a:t>
            </a:r>
            <a:r>
              <a:rPr dirty="0" sz="3150" spc="-25" b="1">
                <a:latin typeface="Arial"/>
                <a:cs typeface="Arial"/>
              </a:rPr>
              <a:t>in </a:t>
            </a:r>
            <a:r>
              <a:rPr dirty="0" sz="3150" b="1">
                <a:latin typeface="Arial"/>
                <a:cs typeface="Arial"/>
              </a:rPr>
              <a:t>identifying</a:t>
            </a:r>
            <a:r>
              <a:rPr dirty="0" sz="3150" spc="105" b="1">
                <a:latin typeface="Arial"/>
                <a:cs typeface="Arial"/>
              </a:rPr>
              <a:t>  </a:t>
            </a:r>
            <a:r>
              <a:rPr dirty="0" sz="3150" b="1">
                <a:latin typeface="Arial"/>
                <a:cs typeface="Arial"/>
              </a:rPr>
              <a:t>learning</a:t>
            </a:r>
            <a:r>
              <a:rPr dirty="0" sz="3150" spc="114" b="1">
                <a:latin typeface="Arial"/>
                <a:cs typeface="Arial"/>
              </a:rPr>
              <a:t>  </a:t>
            </a:r>
            <a:r>
              <a:rPr dirty="0" sz="3150" b="1">
                <a:latin typeface="Arial"/>
                <a:cs typeface="Arial"/>
              </a:rPr>
              <a:t>weaknesses.</a:t>
            </a:r>
            <a:r>
              <a:rPr dirty="0" sz="3150" spc="114" b="1">
                <a:latin typeface="Arial"/>
                <a:cs typeface="Arial"/>
              </a:rPr>
              <a:t>  </a:t>
            </a:r>
            <a:r>
              <a:rPr dirty="0" sz="3150" b="1">
                <a:latin typeface="Arial"/>
                <a:cs typeface="Arial"/>
              </a:rPr>
              <a:t>The</a:t>
            </a:r>
            <a:r>
              <a:rPr dirty="0" sz="3150" spc="114" b="1">
                <a:latin typeface="Arial"/>
                <a:cs typeface="Arial"/>
              </a:rPr>
              <a:t>  </a:t>
            </a:r>
            <a:r>
              <a:rPr dirty="0" sz="3150" b="1">
                <a:latin typeface="Arial"/>
                <a:cs typeface="Arial"/>
              </a:rPr>
              <a:t>proposed</a:t>
            </a:r>
            <a:r>
              <a:rPr dirty="0" sz="3150" spc="114" b="1">
                <a:latin typeface="Arial"/>
                <a:cs typeface="Arial"/>
              </a:rPr>
              <a:t>  </a:t>
            </a:r>
            <a:r>
              <a:rPr dirty="0" sz="3150" b="1">
                <a:latin typeface="Arial"/>
                <a:cs typeface="Arial"/>
              </a:rPr>
              <a:t>AI-powered</a:t>
            </a:r>
            <a:r>
              <a:rPr dirty="0" sz="3150" spc="120" b="1">
                <a:latin typeface="Arial"/>
                <a:cs typeface="Arial"/>
              </a:rPr>
              <a:t>  </a:t>
            </a:r>
            <a:r>
              <a:rPr dirty="0" sz="3150" b="1">
                <a:latin typeface="Arial"/>
                <a:cs typeface="Arial"/>
              </a:rPr>
              <a:t>system</a:t>
            </a:r>
            <a:r>
              <a:rPr dirty="0" sz="3150" spc="114" b="1">
                <a:latin typeface="Arial"/>
                <a:cs typeface="Arial"/>
              </a:rPr>
              <a:t>  </a:t>
            </a:r>
            <a:r>
              <a:rPr dirty="0" sz="3150" spc="-10" b="1">
                <a:latin typeface="Arial"/>
                <a:cs typeface="Arial"/>
              </a:rPr>
              <a:t>provides </a:t>
            </a:r>
            <a:r>
              <a:rPr dirty="0" sz="3150" b="1">
                <a:latin typeface="Arial"/>
                <a:cs typeface="Arial"/>
              </a:rPr>
              <a:t>adaptive</a:t>
            </a:r>
            <a:r>
              <a:rPr dirty="0" sz="3150" spc="39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learning,</a:t>
            </a:r>
            <a:r>
              <a:rPr dirty="0" sz="3150" spc="39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cognitive</a:t>
            </a:r>
            <a:r>
              <a:rPr dirty="0" sz="3150" spc="39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analysis,</a:t>
            </a:r>
            <a:r>
              <a:rPr dirty="0" sz="3150" spc="39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and</a:t>
            </a:r>
            <a:r>
              <a:rPr dirty="0" sz="3150" spc="39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early</a:t>
            </a:r>
            <a:r>
              <a:rPr dirty="0" sz="3150" spc="39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intervention</a:t>
            </a:r>
            <a:r>
              <a:rPr dirty="0" sz="3150" spc="39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support</a:t>
            </a:r>
            <a:r>
              <a:rPr dirty="0" sz="3150" spc="39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to</a:t>
            </a:r>
            <a:r>
              <a:rPr dirty="0" sz="3150" spc="390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improve </a:t>
            </a:r>
            <a:r>
              <a:rPr dirty="0" sz="3150" b="1">
                <a:latin typeface="Arial"/>
                <a:cs typeface="Arial"/>
              </a:rPr>
              <a:t>educational</a:t>
            </a:r>
            <a:r>
              <a:rPr dirty="0" sz="3150" spc="44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outcomes.</a:t>
            </a:r>
            <a:endParaRPr sz="3150">
              <a:latin typeface="Arial"/>
              <a:cs typeface="Arial"/>
            </a:endParaRPr>
          </a:p>
          <a:p>
            <a:pPr algn="ctr" marL="7190105" marR="7063740">
              <a:lnSpc>
                <a:spcPts val="3200"/>
              </a:lnSpc>
              <a:spcBef>
                <a:spcPts val="940"/>
              </a:spcBef>
            </a:pP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R26-IT-</a:t>
            </a:r>
            <a:r>
              <a:rPr dirty="0" sz="320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0185" y="569065"/>
            <a:ext cx="16229330" cy="9324340"/>
          </a:xfrm>
          <a:custGeom>
            <a:avLst/>
            <a:gdLst/>
            <a:ahLst/>
            <a:cxnLst/>
            <a:rect l="l" t="t" r="r" b="b"/>
            <a:pathLst>
              <a:path w="16229330" h="9324340">
                <a:moveTo>
                  <a:pt x="16229076" y="0"/>
                </a:moveTo>
                <a:lnTo>
                  <a:pt x="0" y="0"/>
                </a:lnTo>
                <a:lnTo>
                  <a:pt x="0" y="9323965"/>
                </a:lnTo>
                <a:lnTo>
                  <a:pt x="16229076" y="9323965"/>
                </a:lnTo>
                <a:lnTo>
                  <a:pt x="16229076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2718" rIns="0" bIns="0" rtlCol="0" vert="horz">
            <a:spAutoFit/>
          </a:bodyPr>
          <a:lstStyle/>
          <a:p>
            <a:pPr marL="1194435">
              <a:lnSpc>
                <a:spcPct val="100000"/>
              </a:lnSpc>
              <a:spcBef>
                <a:spcPts val="100"/>
              </a:spcBef>
            </a:pPr>
            <a:r>
              <a:rPr dirty="0" sz="3950"/>
              <a:t>Interactive</a:t>
            </a:r>
            <a:r>
              <a:rPr dirty="0" sz="3950" spc="385"/>
              <a:t> </a:t>
            </a:r>
            <a:r>
              <a:rPr dirty="0" sz="3950"/>
              <a:t>Learning</a:t>
            </a:r>
            <a:r>
              <a:rPr dirty="0" sz="3950" spc="385"/>
              <a:t> </a:t>
            </a:r>
            <a:r>
              <a:rPr dirty="0" sz="3950"/>
              <a:t>Tool</a:t>
            </a:r>
            <a:r>
              <a:rPr dirty="0" sz="3950" spc="385"/>
              <a:t> </a:t>
            </a:r>
            <a:r>
              <a:rPr dirty="0" sz="3950"/>
              <a:t>for</a:t>
            </a:r>
            <a:r>
              <a:rPr dirty="0" sz="3950" spc="385"/>
              <a:t> </a:t>
            </a:r>
            <a:r>
              <a:rPr dirty="0" sz="3950"/>
              <a:t>Dyscalculia</a:t>
            </a:r>
            <a:r>
              <a:rPr dirty="0" sz="3950" spc="385"/>
              <a:t> </a:t>
            </a:r>
            <a:r>
              <a:rPr dirty="0" sz="3950" spc="-20"/>
              <a:t>kids</a:t>
            </a:r>
            <a:endParaRPr sz="3950"/>
          </a:p>
        </p:txBody>
      </p:sp>
      <p:sp>
        <p:nvSpPr>
          <p:cNvPr id="4" name="object 4"/>
          <p:cNvSpPr txBox="1"/>
          <p:nvPr/>
        </p:nvSpPr>
        <p:spPr>
          <a:xfrm>
            <a:off x="1506931" y="1727403"/>
            <a:ext cx="11174730" cy="3223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51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Who</a:t>
            </a:r>
            <a:r>
              <a:rPr dirty="0" u="sng" sz="5150" spc="-7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51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Will</a:t>
            </a:r>
            <a:r>
              <a:rPr dirty="0" u="sng" sz="5150" spc="-7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51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Benefit</a:t>
            </a:r>
            <a:r>
              <a:rPr dirty="0" u="sng" sz="5150" spc="-65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51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from</a:t>
            </a:r>
            <a:r>
              <a:rPr dirty="0" u="sng" sz="5150" spc="-7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51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5150" spc="-7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5150" spc="-1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Solution?</a:t>
            </a:r>
            <a:endParaRPr sz="5150">
              <a:latin typeface="Arial"/>
              <a:cs typeface="Arial"/>
            </a:endParaRPr>
          </a:p>
          <a:p>
            <a:pPr marL="468630">
              <a:lnSpc>
                <a:spcPts val="3415"/>
              </a:lnSpc>
              <a:spcBef>
                <a:spcPts val="2820"/>
              </a:spcBef>
            </a:pPr>
            <a:r>
              <a:rPr dirty="0" sz="3100" b="1">
                <a:solidFill>
                  <a:srgbClr val="0D1C38"/>
                </a:solidFill>
                <a:latin typeface="Arial"/>
                <a:cs typeface="Arial"/>
              </a:rPr>
              <a:t>Primary</a:t>
            </a:r>
            <a:r>
              <a:rPr dirty="0" sz="310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00" spc="-10" b="1">
                <a:solidFill>
                  <a:srgbClr val="0D1C38"/>
                </a:solidFill>
                <a:latin typeface="Arial"/>
                <a:cs typeface="Arial"/>
              </a:rPr>
              <a:t>Beneficiaries</a:t>
            </a:r>
            <a:endParaRPr sz="3100">
              <a:latin typeface="Arial"/>
              <a:cs typeface="Arial"/>
            </a:endParaRPr>
          </a:p>
          <a:p>
            <a:pPr marL="1141730" indent="-336550">
              <a:lnSpc>
                <a:spcPts val="3115"/>
              </a:lnSpc>
              <a:buFont typeface="Arial"/>
              <a:buChar char="•"/>
              <a:tabLst>
                <a:tab pos="1141730" algn="l"/>
              </a:tabLst>
            </a:pPr>
            <a:r>
              <a:rPr dirty="0" sz="3100" b="1">
                <a:solidFill>
                  <a:srgbClr val="0D1C38"/>
                </a:solidFill>
                <a:latin typeface="Arial"/>
                <a:cs typeface="Arial"/>
              </a:rPr>
              <a:t>Students</a:t>
            </a:r>
            <a:r>
              <a:rPr dirty="0" sz="3100" spc="2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00" b="1">
                <a:solidFill>
                  <a:srgbClr val="0D1C38"/>
                </a:solidFill>
                <a:latin typeface="Arial"/>
                <a:cs typeface="Arial"/>
              </a:rPr>
              <a:t>with</a:t>
            </a:r>
            <a:r>
              <a:rPr dirty="0" sz="3100" spc="2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00" spc="-10" b="1">
                <a:solidFill>
                  <a:srgbClr val="0D1C38"/>
                </a:solidFill>
                <a:latin typeface="Arial"/>
                <a:cs typeface="Arial"/>
              </a:rPr>
              <a:t>Dyscalculia</a:t>
            </a:r>
            <a:endParaRPr sz="3100">
              <a:latin typeface="Arial"/>
              <a:cs typeface="Arial"/>
            </a:endParaRPr>
          </a:p>
          <a:p>
            <a:pPr marL="1141730" indent="-336550">
              <a:lnSpc>
                <a:spcPts val="3115"/>
              </a:lnSpc>
              <a:buFont typeface="Arial"/>
              <a:buChar char="•"/>
              <a:tabLst>
                <a:tab pos="1141730" algn="l"/>
              </a:tabLst>
            </a:pPr>
            <a:r>
              <a:rPr dirty="0" sz="3100" spc="-10" b="1">
                <a:solidFill>
                  <a:srgbClr val="0D1C38"/>
                </a:solidFill>
                <a:latin typeface="Arial"/>
                <a:cs typeface="Arial"/>
              </a:rPr>
              <a:t>Teachers</a:t>
            </a:r>
            <a:endParaRPr sz="3100">
              <a:latin typeface="Arial"/>
              <a:cs typeface="Arial"/>
            </a:endParaRPr>
          </a:p>
          <a:p>
            <a:pPr marL="1141730" indent="-336550">
              <a:lnSpc>
                <a:spcPts val="3115"/>
              </a:lnSpc>
              <a:buFont typeface="Arial"/>
              <a:buChar char="•"/>
              <a:tabLst>
                <a:tab pos="1141730" algn="l"/>
              </a:tabLst>
            </a:pPr>
            <a:r>
              <a:rPr dirty="0" sz="3100" spc="-10" b="1">
                <a:solidFill>
                  <a:srgbClr val="0D1C38"/>
                </a:solidFill>
                <a:latin typeface="Arial"/>
                <a:cs typeface="Arial"/>
              </a:rPr>
              <a:t>Parents</a:t>
            </a:r>
            <a:endParaRPr sz="3100">
              <a:latin typeface="Arial"/>
              <a:cs typeface="Arial"/>
            </a:endParaRPr>
          </a:p>
          <a:p>
            <a:pPr marL="1141730" indent="-336550">
              <a:lnSpc>
                <a:spcPts val="3415"/>
              </a:lnSpc>
              <a:buFont typeface="Arial"/>
              <a:buChar char="•"/>
              <a:tabLst>
                <a:tab pos="1141730" algn="l"/>
              </a:tabLst>
            </a:pPr>
            <a:r>
              <a:rPr dirty="0" sz="3100" b="1">
                <a:solidFill>
                  <a:srgbClr val="0D1C38"/>
                </a:solidFill>
                <a:latin typeface="Arial"/>
                <a:cs typeface="Arial"/>
              </a:rPr>
              <a:t>Schools</a:t>
            </a:r>
            <a:r>
              <a:rPr dirty="0" sz="3100" spc="2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00" b="1">
                <a:solidFill>
                  <a:srgbClr val="0D1C38"/>
                </a:solidFill>
                <a:latin typeface="Arial"/>
                <a:cs typeface="Arial"/>
              </a:rPr>
              <a:t>&amp;</a:t>
            </a:r>
            <a:r>
              <a:rPr dirty="0" sz="3100" spc="2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00" b="1">
                <a:solidFill>
                  <a:srgbClr val="0D1C38"/>
                </a:solidFill>
                <a:latin typeface="Arial"/>
                <a:cs typeface="Arial"/>
              </a:rPr>
              <a:t>Educational</a:t>
            </a:r>
            <a:r>
              <a:rPr dirty="0" sz="3100" spc="2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00" spc="-10" b="1">
                <a:solidFill>
                  <a:srgbClr val="0D1C38"/>
                </a:solidFill>
                <a:latin typeface="Arial"/>
                <a:cs typeface="Arial"/>
              </a:rPr>
              <a:t>Institutions</a:t>
            </a:r>
            <a:endParaRPr sz="3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6931" y="4879681"/>
            <a:ext cx="12920980" cy="4676140"/>
          </a:xfrm>
          <a:prstGeom prst="rect">
            <a:avLst/>
          </a:prstGeom>
        </p:spPr>
        <p:txBody>
          <a:bodyPr wrap="square" lIns="0" tIns="386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dirty="0" u="sng" sz="51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Design</a:t>
            </a:r>
            <a:r>
              <a:rPr dirty="0" u="sng" sz="5150" spc="-65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51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Excellence</a:t>
            </a:r>
            <a:r>
              <a:rPr dirty="0" u="sng" sz="5150" spc="-6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51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5150" spc="-6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51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5150" spc="-6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51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Overall</a:t>
            </a:r>
            <a:r>
              <a:rPr dirty="0" u="sng" sz="5150" spc="-6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5150" spc="-1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Solution</a:t>
            </a:r>
            <a:endParaRPr sz="5150">
              <a:latin typeface="Arial"/>
              <a:cs typeface="Arial"/>
            </a:endParaRPr>
          </a:p>
          <a:p>
            <a:pPr marL="468630" marR="6267450">
              <a:lnSpc>
                <a:spcPts val="3130"/>
              </a:lnSpc>
              <a:spcBef>
                <a:spcPts val="2450"/>
              </a:spcBef>
            </a:pPr>
            <a:r>
              <a:rPr dirty="0" sz="3150" b="1">
                <a:solidFill>
                  <a:srgbClr val="0D1C38"/>
                </a:solidFill>
                <a:latin typeface="Arial"/>
                <a:cs typeface="Arial"/>
              </a:rPr>
              <a:t>AI-Powered</a:t>
            </a:r>
            <a:r>
              <a:rPr dirty="0" sz="3150" spc="43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D1C38"/>
                </a:solidFill>
                <a:latin typeface="Arial"/>
                <a:cs typeface="Arial"/>
              </a:rPr>
              <a:t>Intelligent</a:t>
            </a:r>
            <a:r>
              <a:rPr dirty="0" sz="3150" spc="4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D1C38"/>
                </a:solidFill>
                <a:latin typeface="Arial"/>
                <a:cs typeface="Arial"/>
              </a:rPr>
              <a:t>Learning Ecosystem</a:t>
            </a:r>
            <a:endParaRPr sz="3150">
              <a:latin typeface="Arial"/>
              <a:cs typeface="Arial"/>
            </a:endParaRPr>
          </a:p>
          <a:p>
            <a:pPr marL="702945">
              <a:lnSpc>
                <a:spcPts val="3454"/>
              </a:lnSpc>
              <a:spcBef>
                <a:spcPts val="2485"/>
              </a:spcBef>
            </a:pPr>
            <a:r>
              <a:rPr dirty="0" sz="3150" b="1">
                <a:solidFill>
                  <a:srgbClr val="0D1C38"/>
                </a:solidFill>
                <a:latin typeface="Arial"/>
                <a:cs typeface="Arial"/>
              </a:rPr>
              <a:t>The</a:t>
            </a:r>
            <a:r>
              <a:rPr dirty="0" sz="3150" spc="22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D1C38"/>
                </a:solidFill>
                <a:latin typeface="Arial"/>
                <a:cs typeface="Arial"/>
              </a:rPr>
              <a:t>system</a:t>
            </a:r>
            <a:r>
              <a:rPr dirty="0" sz="3150" spc="2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D1C38"/>
                </a:solidFill>
                <a:latin typeface="Arial"/>
                <a:cs typeface="Arial"/>
              </a:rPr>
              <a:t>integrates:</a:t>
            </a:r>
            <a:endParaRPr sz="3150">
              <a:latin typeface="Arial"/>
              <a:cs typeface="Arial"/>
            </a:endParaRPr>
          </a:p>
          <a:p>
            <a:pPr marL="1143635" indent="-337185">
              <a:lnSpc>
                <a:spcPts val="3130"/>
              </a:lnSpc>
              <a:buFont typeface="Arial"/>
              <a:buChar char="•"/>
              <a:tabLst>
                <a:tab pos="1143635" algn="l"/>
              </a:tabLst>
            </a:pPr>
            <a:r>
              <a:rPr dirty="0" sz="3150" b="1">
                <a:solidFill>
                  <a:srgbClr val="0D1C38"/>
                </a:solidFill>
                <a:latin typeface="Arial"/>
                <a:cs typeface="Arial"/>
              </a:rPr>
              <a:t>Cognitive</a:t>
            </a:r>
            <a:r>
              <a:rPr dirty="0" sz="3150" spc="3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D1C38"/>
                </a:solidFill>
                <a:latin typeface="Arial"/>
                <a:cs typeface="Arial"/>
              </a:rPr>
              <a:t>Analysis</a:t>
            </a:r>
            <a:endParaRPr sz="3150">
              <a:latin typeface="Arial"/>
              <a:cs typeface="Arial"/>
            </a:endParaRPr>
          </a:p>
          <a:p>
            <a:pPr marL="1143635" indent="-337185">
              <a:lnSpc>
                <a:spcPts val="3130"/>
              </a:lnSpc>
              <a:buFont typeface="Arial"/>
              <a:buChar char="•"/>
              <a:tabLst>
                <a:tab pos="1143635" algn="l"/>
              </a:tabLst>
            </a:pPr>
            <a:r>
              <a:rPr dirty="0" sz="3150" b="1">
                <a:solidFill>
                  <a:srgbClr val="0D1C38"/>
                </a:solidFill>
                <a:latin typeface="Arial"/>
                <a:cs typeface="Arial"/>
              </a:rPr>
              <a:t>Personalized</a:t>
            </a:r>
            <a:r>
              <a:rPr dirty="0" sz="3150" spc="52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endParaRPr sz="3150">
              <a:latin typeface="Arial"/>
              <a:cs typeface="Arial"/>
            </a:endParaRPr>
          </a:p>
          <a:p>
            <a:pPr marL="1143635" indent="-337185">
              <a:lnSpc>
                <a:spcPts val="3130"/>
              </a:lnSpc>
              <a:buFont typeface="Arial"/>
              <a:buChar char="•"/>
              <a:tabLst>
                <a:tab pos="1143635" algn="l"/>
              </a:tabLst>
            </a:pPr>
            <a:r>
              <a:rPr dirty="0" sz="3150" b="1">
                <a:solidFill>
                  <a:srgbClr val="0D1C38"/>
                </a:solidFill>
                <a:latin typeface="Arial"/>
                <a:cs typeface="Arial"/>
              </a:rPr>
              <a:t>Adaptive</a:t>
            </a:r>
            <a:r>
              <a:rPr dirty="0" sz="3150" spc="35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D1C38"/>
                </a:solidFill>
                <a:latin typeface="Arial"/>
                <a:cs typeface="Arial"/>
              </a:rPr>
              <a:t>Gaming</a:t>
            </a:r>
            <a:endParaRPr sz="3150">
              <a:latin typeface="Arial"/>
              <a:cs typeface="Arial"/>
            </a:endParaRPr>
          </a:p>
          <a:p>
            <a:pPr marL="1143635" indent="-337185">
              <a:lnSpc>
                <a:spcPts val="3454"/>
              </a:lnSpc>
              <a:buFont typeface="Arial"/>
              <a:buChar char="•"/>
              <a:tabLst>
                <a:tab pos="1143635" algn="l"/>
              </a:tabLst>
            </a:pPr>
            <a:r>
              <a:rPr dirty="0" sz="3150" b="1">
                <a:solidFill>
                  <a:srgbClr val="0D1C38"/>
                </a:solidFill>
                <a:latin typeface="Arial"/>
                <a:cs typeface="Arial"/>
              </a:rPr>
              <a:t>Predictive</a:t>
            </a:r>
            <a:r>
              <a:rPr dirty="0" sz="3150" spc="4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D1C38"/>
                </a:solidFill>
                <a:latin typeface="Arial"/>
                <a:cs typeface="Arial"/>
              </a:rPr>
              <a:t>Analytics</a:t>
            </a:r>
            <a:endParaRPr sz="3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1251" y="9447834"/>
            <a:ext cx="4420235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9885" indent="-3371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49885" algn="l"/>
              </a:tabLst>
            </a:pPr>
            <a:r>
              <a:rPr dirty="0" sz="3150" b="1">
                <a:solidFill>
                  <a:srgbClr val="0D1C38"/>
                </a:solidFill>
                <a:latin typeface="Arial"/>
                <a:cs typeface="Arial"/>
              </a:rPr>
              <a:t>Teacher</a:t>
            </a:r>
            <a:r>
              <a:rPr dirty="0" sz="315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D1C38"/>
                </a:solidFill>
                <a:latin typeface="Arial"/>
                <a:cs typeface="Arial"/>
              </a:rPr>
              <a:t>Dashboards</a:t>
            </a:r>
            <a:endParaRPr sz="3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81361" y="9304883"/>
            <a:ext cx="1438910" cy="91948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314325" marR="5080" indent="-302260">
              <a:lnSpc>
                <a:spcPts val="3200"/>
              </a:lnSpc>
              <a:spcBef>
                <a:spcPts val="740"/>
              </a:spcBef>
            </a:pP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R26-IT-</a:t>
            </a:r>
            <a:r>
              <a:rPr dirty="0" sz="320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4536"/>
            <a:ext cx="18288000" cy="10242550"/>
            <a:chOff x="0" y="44536"/>
            <a:chExt cx="18288000" cy="10242550"/>
          </a:xfrm>
        </p:grpSpPr>
        <p:sp>
          <p:nvSpPr>
            <p:cNvPr id="3" name="object 3"/>
            <p:cNvSpPr/>
            <p:nvPr/>
          </p:nvSpPr>
          <p:spPr>
            <a:xfrm>
              <a:off x="1028700" y="684814"/>
              <a:ext cx="16230600" cy="9006840"/>
            </a:xfrm>
            <a:custGeom>
              <a:avLst/>
              <a:gdLst/>
              <a:ahLst/>
              <a:cxnLst/>
              <a:rect l="l" t="t" r="r" b="b"/>
              <a:pathLst>
                <a:path w="16230600" h="9006840">
                  <a:moveTo>
                    <a:pt x="16230600" y="0"/>
                  </a:moveTo>
                  <a:lnTo>
                    <a:pt x="0" y="0"/>
                  </a:lnTo>
                  <a:lnTo>
                    <a:pt x="0" y="9006446"/>
                  </a:lnTo>
                  <a:lnTo>
                    <a:pt x="16230600" y="9006446"/>
                  </a:lnTo>
                  <a:lnTo>
                    <a:pt x="16230600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4536"/>
              <a:ext cx="18288000" cy="1024246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142058" y="648797"/>
            <a:ext cx="11738610" cy="6578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Interactive</a:t>
            </a:r>
            <a:r>
              <a:rPr dirty="0" spc="370"/>
              <a:t> </a:t>
            </a:r>
            <a:r>
              <a:rPr dirty="0"/>
              <a:t>Learning</a:t>
            </a:r>
            <a:r>
              <a:rPr dirty="0" spc="380"/>
              <a:t> </a:t>
            </a:r>
            <a:r>
              <a:rPr dirty="0"/>
              <a:t>Tool</a:t>
            </a:r>
            <a:r>
              <a:rPr dirty="0" spc="375"/>
              <a:t> </a:t>
            </a:r>
            <a:r>
              <a:rPr dirty="0"/>
              <a:t>for</a:t>
            </a:r>
            <a:r>
              <a:rPr dirty="0" spc="380"/>
              <a:t> </a:t>
            </a:r>
            <a:r>
              <a:rPr dirty="0"/>
              <a:t>Dyscalculia</a:t>
            </a:r>
            <a:r>
              <a:rPr dirty="0" spc="380"/>
              <a:t> </a:t>
            </a:r>
            <a:r>
              <a:rPr dirty="0" spc="-20"/>
              <a:t>kids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6803" y="3940809"/>
            <a:ext cx="13814425" cy="35960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900" spc="60" b="1">
                <a:solidFill>
                  <a:srgbClr val="0D1C38"/>
                </a:solidFill>
                <a:latin typeface="Arial"/>
                <a:cs typeface="Arial"/>
              </a:rPr>
              <a:t>IT22136206</a:t>
            </a:r>
            <a:r>
              <a:rPr dirty="0" sz="4900" spc="105" b="1">
                <a:solidFill>
                  <a:srgbClr val="0D1C38"/>
                </a:solidFill>
                <a:latin typeface="Arial"/>
                <a:cs typeface="Arial"/>
              </a:rPr>
              <a:t>  </a:t>
            </a:r>
            <a:r>
              <a:rPr dirty="0" sz="49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4900" spc="105" b="1">
                <a:solidFill>
                  <a:srgbClr val="0D1C38"/>
                </a:solidFill>
                <a:latin typeface="Arial"/>
                <a:cs typeface="Arial"/>
              </a:rPr>
              <a:t>  </a:t>
            </a:r>
            <a:r>
              <a:rPr dirty="0" sz="4900" spc="60" b="1">
                <a:solidFill>
                  <a:srgbClr val="0D1C38"/>
                </a:solidFill>
                <a:latin typeface="Arial"/>
                <a:cs typeface="Arial"/>
              </a:rPr>
              <a:t>Navodya</a:t>
            </a:r>
            <a:r>
              <a:rPr dirty="0" sz="4900" spc="1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4900" spc="35" b="1">
                <a:solidFill>
                  <a:srgbClr val="0D1C38"/>
                </a:solidFill>
                <a:latin typeface="Arial"/>
                <a:cs typeface="Arial"/>
              </a:rPr>
              <a:t>K.M.I.G.T</a:t>
            </a:r>
            <a:endParaRPr sz="4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4900">
              <a:latin typeface="Arial"/>
              <a:cs typeface="Arial"/>
            </a:endParaRPr>
          </a:p>
          <a:p>
            <a:pPr marL="996315">
              <a:lnSpc>
                <a:spcPct val="100000"/>
              </a:lnSpc>
            </a:pPr>
            <a:r>
              <a:rPr dirty="0" sz="4900" spc="55" b="1">
                <a:solidFill>
                  <a:srgbClr val="0D1C38"/>
                </a:solidFill>
                <a:latin typeface="Arial"/>
                <a:cs typeface="Arial"/>
              </a:rPr>
              <a:t>Cognitive</a:t>
            </a:r>
            <a:r>
              <a:rPr dirty="0" sz="4900" spc="24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4900" b="1">
                <a:solidFill>
                  <a:srgbClr val="0D1C38"/>
                </a:solidFill>
                <a:latin typeface="Arial"/>
                <a:cs typeface="Arial"/>
              </a:rPr>
              <a:t>Skill</a:t>
            </a:r>
            <a:r>
              <a:rPr dirty="0" sz="4900" spc="2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4900" spc="50" b="1">
                <a:solidFill>
                  <a:srgbClr val="0D1C38"/>
                </a:solidFill>
                <a:latin typeface="Arial"/>
                <a:cs typeface="Arial"/>
              </a:rPr>
              <a:t>Profiling</a:t>
            </a:r>
            <a:r>
              <a:rPr dirty="0" sz="4900" spc="24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4900" spc="-10" b="1">
                <a:solidFill>
                  <a:srgbClr val="0D1C38"/>
                </a:solidFill>
                <a:latin typeface="Arial"/>
                <a:cs typeface="Arial"/>
              </a:rPr>
              <a:t>System</a:t>
            </a:r>
            <a:endParaRPr sz="4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4900">
              <a:latin typeface="Arial"/>
              <a:cs typeface="Arial"/>
            </a:endParaRPr>
          </a:p>
          <a:p>
            <a:pPr marL="1266190">
              <a:lnSpc>
                <a:spcPct val="100000"/>
              </a:lnSpc>
              <a:spcBef>
                <a:spcPts val="5"/>
              </a:spcBef>
            </a:pPr>
            <a:r>
              <a:rPr dirty="0" sz="3800" spc="45" b="1">
                <a:solidFill>
                  <a:srgbClr val="0D1C38"/>
                </a:solidFill>
                <a:latin typeface="Arial"/>
                <a:cs typeface="Arial"/>
              </a:rPr>
              <a:t>Specialization:</a:t>
            </a:r>
            <a:r>
              <a:rPr dirty="0" sz="380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800" b="1">
                <a:solidFill>
                  <a:srgbClr val="0D1C38"/>
                </a:solidFill>
                <a:latin typeface="Arial"/>
                <a:cs typeface="Arial"/>
              </a:rPr>
              <a:t>BSc(Hons)</a:t>
            </a:r>
            <a:r>
              <a:rPr dirty="0" sz="380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800" b="1">
                <a:solidFill>
                  <a:srgbClr val="0D1C38"/>
                </a:solidFill>
                <a:latin typeface="Arial"/>
                <a:cs typeface="Arial"/>
              </a:rPr>
              <a:t>in</a:t>
            </a:r>
            <a:r>
              <a:rPr dirty="0" sz="380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800" b="1">
                <a:solidFill>
                  <a:srgbClr val="0D1C38"/>
                </a:solidFill>
                <a:latin typeface="Arial"/>
                <a:cs typeface="Arial"/>
              </a:rPr>
              <a:t>Information</a:t>
            </a:r>
            <a:r>
              <a:rPr dirty="0" sz="380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800" spc="-10" b="1">
                <a:solidFill>
                  <a:srgbClr val="0D1C38"/>
                </a:solidFill>
                <a:latin typeface="Arial"/>
                <a:cs typeface="Arial"/>
              </a:rPr>
              <a:t>Technology</a:t>
            </a:r>
            <a:endParaRPr sz="3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54028" y="9139949"/>
            <a:ext cx="7537450" cy="91948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3166110" marR="5080" indent="-3154045">
              <a:lnSpc>
                <a:spcPts val="3200"/>
              </a:lnSpc>
              <a:spcBef>
                <a:spcPts val="740"/>
              </a:spcBef>
            </a:pP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IT22136206</a:t>
            </a:r>
            <a:r>
              <a:rPr dirty="0" sz="3200" spc="2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Navodya</a:t>
            </a:r>
            <a:r>
              <a:rPr dirty="0" sz="3200" spc="2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K.M.I.G.T</a:t>
            </a:r>
            <a:r>
              <a:rPr dirty="0" sz="3200" spc="2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spc="-2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IT-</a:t>
            </a:r>
            <a:r>
              <a:rPr dirty="0" sz="320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82258" y="678501"/>
            <a:ext cx="17433290" cy="9280525"/>
          </a:xfrm>
          <a:custGeom>
            <a:avLst/>
            <a:gdLst/>
            <a:ahLst/>
            <a:cxnLst/>
            <a:rect l="l" t="t" r="r" b="b"/>
            <a:pathLst>
              <a:path w="17433290" h="9280525">
                <a:moveTo>
                  <a:pt x="17432909" y="0"/>
                </a:moveTo>
                <a:lnTo>
                  <a:pt x="0" y="0"/>
                </a:lnTo>
                <a:lnTo>
                  <a:pt x="0" y="9280193"/>
                </a:lnTo>
                <a:lnTo>
                  <a:pt x="17432909" y="9280193"/>
                </a:lnTo>
                <a:lnTo>
                  <a:pt x="17432909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9712" rIns="0" bIns="0" rtlCol="0" vert="horz">
            <a:spAutoFit/>
          </a:bodyPr>
          <a:lstStyle/>
          <a:p>
            <a:pPr marL="2660015">
              <a:lnSpc>
                <a:spcPct val="100000"/>
              </a:lnSpc>
              <a:spcBef>
                <a:spcPts val="100"/>
              </a:spcBef>
            </a:pPr>
            <a:r>
              <a:rPr dirty="0" sz="4300" spc="45"/>
              <a:t>Cognitive</a:t>
            </a:r>
            <a:r>
              <a:rPr dirty="0" sz="4300" spc="204"/>
              <a:t> </a:t>
            </a:r>
            <a:r>
              <a:rPr dirty="0" sz="4300"/>
              <a:t>Skill</a:t>
            </a:r>
            <a:r>
              <a:rPr dirty="0" sz="4300" spc="210"/>
              <a:t> </a:t>
            </a:r>
            <a:r>
              <a:rPr dirty="0" sz="4300" spc="45"/>
              <a:t>Profiling</a:t>
            </a:r>
            <a:r>
              <a:rPr dirty="0" sz="4300" spc="204"/>
              <a:t> </a:t>
            </a:r>
            <a:r>
              <a:rPr dirty="0" sz="4300" spc="-10"/>
              <a:t>System</a:t>
            </a:r>
            <a:endParaRPr sz="4300"/>
          </a:p>
        </p:txBody>
      </p:sp>
      <p:sp>
        <p:nvSpPr>
          <p:cNvPr id="10" name="object 10"/>
          <p:cNvSpPr txBox="1"/>
          <p:nvPr/>
        </p:nvSpPr>
        <p:spPr>
          <a:xfrm>
            <a:off x="981861" y="1621180"/>
            <a:ext cx="8482965" cy="4543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2100">
              <a:lnSpc>
                <a:spcPts val="3554"/>
              </a:lnSpc>
              <a:spcBef>
                <a:spcPts val="100"/>
              </a:spcBef>
            </a:pPr>
            <a:r>
              <a:rPr dirty="0" u="sng" sz="355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How</a:t>
            </a:r>
            <a:r>
              <a:rPr dirty="0" u="sng" sz="3550" spc="-6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55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3550" spc="-55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55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Solution</a:t>
            </a:r>
            <a:r>
              <a:rPr dirty="0" u="sng" sz="3550" spc="-55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550" spc="-1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Addresses</a:t>
            </a:r>
            <a:endParaRPr sz="3550">
              <a:latin typeface="Arial"/>
              <a:cs typeface="Arial"/>
            </a:endParaRPr>
          </a:p>
          <a:p>
            <a:pPr marL="292100">
              <a:lnSpc>
                <a:spcPts val="3554"/>
              </a:lnSpc>
            </a:pPr>
            <a:r>
              <a:rPr dirty="0" u="sng" sz="3550" spc="75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55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3550" spc="-15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550" spc="-25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Sub-</a:t>
            </a:r>
            <a:r>
              <a:rPr dirty="0" u="sng" sz="3550" spc="-1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Problem</a:t>
            </a:r>
            <a:endParaRPr sz="3550">
              <a:latin typeface="Arial"/>
              <a:cs typeface="Arial"/>
            </a:endParaRPr>
          </a:p>
          <a:p>
            <a:pPr marL="330835" marR="5080" indent="-318770">
              <a:lnSpc>
                <a:spcPct val="66600"/>
              </a:lnSpc>
              <a:spcBef>
                <a:spcPts val="2510"/>
              </a:spcBef>
              <a:buFont typeface="Arial"/>
              <a:buChar char="•"/>
              <a:tabLst>
                <a:tab pos="330835" algn="l"/>
              </a:tabLst>
            </a:pP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Existing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systems</a:t>
            </a:r>
            <a:r>
              <a:rPr dirty="0" sz="295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only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evaluate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correct</a:t>
            </a:r>
            <a:r>
              <a:rPr dirty="0" sz="295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40" b="1">
                <a:solidFill>
                  <a:srgbClr val="0D1C38"/>
                </a:solidFill>
                <a:latin typeface="Arial"/>
                <a:cs typeface="Arial"/>
              </a:rPr>
              <a:t>or </a:t>
            </a: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incorrect</a:t>
            </a:r>
            <a:r>
              <a:rPr dirty="0" sz="295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answers</a:t>
            </a:r>
            <a:endParaRPr sz="2950">
              <a:latin typeface="Arial"/>
              <a:cs typeface="Arial"/>
            </a:endParaRPr>
          </a:p>
          <a:p>
            <a:pPr marL="330835" marR="890905" indent="-318770">
              <a:lnSpc>
                <a:spcPct val="66600"/>
              </a:lnSpc>
              <a:spcBef>
                <a:spcPts val="2360"/>
              </a:spcBef>
              <a:buFont typeface="Arial"/>
              <a:buChar char="•"/>
              <a:tabLst>
                <a:tab pos="330835" algn="l"/>
              </a:tabLst>
            </a:pPr>
            <a:r>
              <a:rPr dirty="0" sz="2950" spc="95" b="1">
                <a:solidFill>
                  <a:srgbClr val="0D1C38"/>
                </a:solidFill>
                <a:latin typeface="Arial"/>
                <a:cs typeface="Arial"/>
              </a:rPr>
              <a:t>The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system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collects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35" b="1">
                <a:solidFill>
                  <a:srgbClr val="0D1C38"/>
                </a:solidFill>
                <a:latin typeface="Arial"/>
                <a:cs typeface="Arial"/>
              </a:rPr>
              <a:t>real-</a:t>
            </a:r>
            <a:r>
              <a:rPr dirty="0" sz="2950" spc="95" b="1">
                <a:solidFill>
                  <a:srgbClr val="0D1C38"/>
                </a:solidFill>
                <a:latin typeface="Arial"/>
                <a:cs typeface="Arial"/>
              </a:rPr>
              <a:t>time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learner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interaction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85" b="1">
                <a:solidFill>
                  <a:srgbClr val="0D1C38"/>
                </a:solidFill>
                <a:latin typeface="Arial"/>
                <a:cs typeface="Arial"/>
              </a:rPr>
              <a:t>data</a:t>
            </a:r>
            <a:endParaRPr sz="2950">
              <a:latin typeface="Arial"/>
              <a:cs typeface="Arial"/>
            </a:endParaRPr>
          </a:p>
          <a:p>
            <a:pPr marL="330835" marR="495934" indent="-318770">
              <a:lnSpc>
                <a:spcPct val="66600"/>
              </a:lnSpc>
              <a:spcBef>
                <a:spcPts val="2365"/>
              </a:spcBef>
              <a:buFont typeface="Arial"/>
              <a:buChar char="•"/>
              <a:tabLst>
                <a:tab pos="330835" algn="l"/>
              </a:tabLst>
            </a:pP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Captures</a:t>
            </a:r>
            <a:r>
              <a:rPr dirty="0" sz="29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accuracy,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response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time,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70" b="1">
                <a:solidFill>
                  <a:srgbClr val="0D1C38"/>
                </a:solidFill>
                <a:latin typeface="Arial"/>
                <a:cs typeface="Arial"/>
              </a:rPr>
              <a:t>and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number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65" b="1">
                <a:solidFill>
                  <a:srgbClr val="0D1C38"/>
                </a:solidFill>
                <a:latin typeface="Arial"/>
                <a:cs typeface="Arial"/>
              </a:rPr>
              <a:t>of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attempts</a:t>
            </a:r>
            <a:endParaRPr sz="2950">
              <a:latin typeface="Arial"/>
              <a:cs typeface="Arial"/>
            </a:endParaRPr>
          </a:p>
          <a:p>
            <a:pPr marL="330835" marR="226060" indent="-318770">
              <a:lnSpc>
                <a:spcPct val="66600"/>
              </a:lnSpc>
              <a:spcBef>
                <a:spcPts val="2360"/>
              </a:spcBef>
              <a:buFont typeface="Arial"/>
              <a:buChar char="•"/>
              <a:tabLst>
                <a:tab pos="330835" algn="l"/>
              </a:tabLst>
            </a:pP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Uses</a:t>
            </a:r>
            <a:r>
              <a:rPr dirty="0" sz="29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D1C38"/>
                </a:solidFill>
                <a:latin typeface="Arial"/>
                <a:cs typeface="Arial"/>
              </a:rPr>
              <a:t>a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Random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Forest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machine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learning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model</a:t>
            </a:r>
            <a:r>
              <a:rPr dirty="0" sz="29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85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analysis</a:t>
            </a:r>
            <a:endParaRPr sz="2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1861" y="6288684"/>
            <a:ext cx="7569834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32105" algn="l"/>
              </a:tabLst>
            </a:pP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Identifies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cognitive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abilities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such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65" b="1">
                <a:solidFill>
                  <a:srgbClr val="0D1C38"/>
                </a:solidFill>
                <a:latin typeface="Arial"/>
                <a:cs typeface="Arial"/>
              </a:rPr>
              <a:t>as:</a:t>
            </a:r>
            <a:endParaRPr sz="2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2615" y="6588276"/>
            <a:ext cx="197993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740">
                <a:solidFill>
                  <a:srgbClr val="0D1C38"/>
                </a:solidFill>
                <a:latin typeface="Segoe UI Symbol"/>
                <a:cs typeface="Segoe UI Symbol"/>
              </a:rPr>
              <a:t>o</a:t>
            </a:r>
            <a:r>
              <a:rPr dirty="0" sz="2950" spc="60">
                <a:solidFill>
                  <a:srgbClr val="0D1C38"/>
                </a:solidFill>
                <a:latin typeface="Segoe UI Symbol"/>
                <a:cs typeface="Segoe UI Symbol"/>
              </a:rPr>
              <a:t> </a:t>
            </a:r>
            <a:r>
              <a:rPr dirty="0" sz="2950" spc="100" b="1">
                <a:solidFill>
                  <a:srgbClr val="0D1C38"/>
                </a:solidFill>
                <a:latin typeface="Arial"/>
                <a:cs typeface="Arial"/>
              </a:rPr>
              <a:t>Memory</a:t>
            </a:r>
            <a:endParaRPr sz="2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2615" y="6887870"/>
            <a:ext cx="2243455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740">
                <a:solidFill>
                  <a:srgbClr val="0D1C38"/>
                </a:solidFill>
                <a:latin typeface="Segoe UI Symbol"/>
                <a:cs typeface="Segoe UI Symbol"/>
              </a:rPr>
              <a:t>o</a:t>
            </a:r>
            <a:r>
              <a:rPr dirty="0" sz="2950" spc="60">
                <a:solidFill>
                  <a:srgbClr val="0D1C38"/>
                </a:solidFill>
                <a:latin typeface="Segoe UI Symbol"/>
                <a:cs typeface="Segoe UI Symbo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Attention</a:t>
            </a:r>
            <a:endParaRPr sz="2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2615" y="7187463"/>
            <a:ext cx="3237865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740">
                <a:solidFill>
                  <a:srgbClr val="0D1C38"/>
                </a:solidFill>
                <a:latin typeface="Segoe UI Symbol"/>
                <a:cs typeface="Segoe UI Symbol"/>
              </a:rPr>
              <a:t>o</a:t>
            </a:r>
            <a:r>
              <a:rPr dirty="0" sz="2950" spc="60">
                <a:solidFill>
                  <a:srgbClr val="0D1C38"/>
                </a:solidFill>
                <a:latin typeface="Segoe UI Symbol"/>
                <a:cs typeface="Segoe UI Symbo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Number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95" b="1">
                <a:solidFill>
                  <a:srgbClr val="0D1C38"/>
                </a:solidFill>
                <a:latin typeface="Arial"/>
                <a:cs typeface="Arial"/>
              </a:rPr>
              <a:t>sense</a:t>
            </a:r>
            <a:endParaRPr sz="2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12615" y="7487056"/>
            <a:ext cx="393700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740">
                <a:solidFill>
                  <a:srgbClr val="0D1C38"/>
                </a:solidFill>
                <a:latin typeface="Segoe UI Symbol"/>
                <a:cs typeface="Segoe UI Symbol"/>
              </a:rPr>
              <a:t>o</a:t>
            </a:r>
            <a:r>
              <a:rPr dirty="0" sz="2950" spc="75">
                <a:solidFill>
                  <a:srgbClr val="0D1C38"/>
                </a:solidFill>
                <a:latin typeface="Segoe UI Symbol"/>
                <a:cs typeface="Segoe UI Symbol"/>
              </a:rPr>
              <a:t>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Processing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95" b="1">
                <a:solidFill>
                  <a:srgbClr val="0D1C38"/>
                </a:solidFill>
                <a:latin typeface="Arial"/>
                <a:cs typeface="Arial"/>
              </a:rPr>
              <a:t>speed</a:t>
            </a:r>
            <a:endParaRPr sz="2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46626" y="1886559"/>
            <a:ext cx="6868795" cy="6196330"/>
          </a:xfrm>
          <a:prstGeom prst="rect">
            <a:avLst/>
          </a:prstGeom>
        </p:spPr>
        <p:txBody>
          <a:bodyPr wrap="square" lIns="0" tIns="193675" rIns="0" bIns="0" rtlCol="0" vert="horz">
            <a:spAutoFit/>
          </a:bodyPr>
          <a:lstStyle/>
          <a:p>
            <a:pPr marL="12700" marR="2913380">
              <a:lnSpc>
                <a:spcPct val="67000"/>
              </a:lnSpc>
              <a:spcBef>
                <a:spcPts val="1525"/>
              </a:spcBef>
            </a:pPr>
            <a:r>
              <a:rPr dirty="0" u="sng" sz="360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User</a:t>
            </a:r>
            <a:r>
              <a:rPr dirty="0" u="sng" sz="3600" spc="-15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600" spc="-1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Requirements</a:t>
            </a:r>
            <a:r>
              <a:rPr dirty="0" sz="3600" spc="-10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u="sng" sz="3600" spc="-1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Addressed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3600">
              <a:latin typeface="Arial"/>
              <a:cs typeface="Arial"/>
            </a:endParaRPr>
          </a:p>
          <a:p>
            <a:pPr marL="491490" indent="-31940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91490" algn="l"/>
              </a:tabLst>
            </a:pPr>
            <a:r>
              <a:rPr dirty="0" sz="2950" spc="140" b="1">
                <a:solidFill>
                  <a:srgbClr val="0D1C38"/>
                </a:solidFill>
                <a:latin typeface="Arial"/>
                <a:cs typeface="Arial"/>
              </a:rPr>
              <a:t>Real-</a:t>
            </a:r>
            <a:r>
              <a:rPr dirty="0" sz="2950" spc="95" b="1">
                <a:solidFill>
                  <a:srgbClr val="0D1C38"/>
                </a:solidFill>
                <a:latin typeface="Arial"/>
                <a:cs typeface="Arial"/>
              </a:rPr>
              <a:t>time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learner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data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collection</a:t>
            </a:r>
            <a:endParaRPr sz="2950">
              <a:latin typeface="Arial"/>
              <a:cs typeface="Arial"/>
            </a:endParaRPr>
          </a:p>
          <a:p>
            <a:pPr marL="491490" indent="-319405">
              <a:lnSpc>
                <a:spcPct val="100000"/>
              </a:lnSpc>
              <a:spcBef>
                <a:spcPts val="1175"/>
              </a:spcBef>
              <a:buFont typeface="Arial"/>
              <a:buChar char="•"/>
              <a:tabLst>
                <a:tab pos="491490" algn="l"/>
              </a:tabLst>
            </a:pP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Cognitive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behavior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analysis</a:t>
            </a:r>
            <a:endParaRPr sz="2950">
              <a:latin typeface="Arial"/>
              <a:cs typeface="Arial"/>
            </a:endParaRPr>
          </a:p>
          <a:p>
            <a:pPr marL="491490" indent="-31940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491490" algn="l"/>
              </a:tabLst>
            </a:pPr>
            <a:r>
              <a:rPr dirty="0" sz="2950" spc="135" b="1">
                <a:solidFill>
                  <a:srgbClr val="0D1C38"/>
                </a:solidFill>
                <a:latin typeface="Arial"/>
                <a:cs typeface="Arial"/>
              </a:rPr>
              <a:t>AI-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based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cognitive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profiling</a:t>
            </a:r>
            <a:endParaRPr sz="2950">
              <a:latin typeface="Arial"/>
              <a:cs typeface="Arial"/>
            </a:endParaRPr>
          </a:p>
          <a:p>
            <a:pPr marL="491490" indent="-319405">
              <a:lnSpc>
                <a:spcPct val="100000"/>
              </a:lnSpc>
              <a:spcBef>
                <a:spcPts val="1175"/>
              </a:spcBef>
              <a:buFont typeface="Arial"/>
              <a:buChar char="•"/>
              <a:tabLst>
                <a:tab pos="491490" algn="l"/>
              </a:tabLst>
            </a:pPr>
            <a:r>
              <a:rPr dirty="0" sz="2950" spc="130" b="1">
                <a:solidFill>
                  <a:srgbClr val="0D1C38"/>
                </a:solidFill>
                <a:latin typeface="Arial"/>
                <a:cs typeface="Arial"/>
              </a:rPr>
              <a:t>Personalized</a:t>
            </a:r>
            <a:r>
              <a:rPr dirty="0" sz="29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support</a:t>
            </a:r>
            <a:endParaRPr sz="2950">
              <a:latin typeface="Arial"/>
              <a:cs typeface="Arial"/>
            </a:endParaRPr>
          </a:p>
          <a:p>
            <a:pPr marL="491490" marR="419734" indent="-319405">
              <a:lnSpc>
                <a:spcPct val="133300"/>
              </a:lnSpc>
              <a:buFont typeface="Arial"/>
              <a:buChar char="•"/>
              <a:tabLst>
                <a:tab pos="713105" algn="l"/>
              </a:tabLst>
            </a:pP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Early</a:t>
            </a:r>
            <a:r>
              <a:rPr dirty="0" sz="2950" spc="2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30" b="1">
                <a:solidFill>
                  <a:srgbClr val="0D1C38"/>
                </a:solidFill>
                <a:latin typeface="Arial"/>
                <a:cs typeface="Arial"/>
              </a:rPr>
              <a:t>identification</a:t>
            </a:r>
            <a:r>
              <a:rPr dirty="0" sz="29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65" b="1">
                <a:solidFill>
                  <a:srgbClr val="0D1C38"/>
                </a:solidFill>
                <a:latin typeface="Arial"/>
                <a:cs typeface="Arial"/>
              </a:rPr>
              <a:t>of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learning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	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difficulties</a:t>
            </a:r>
            <a:endParaRPr sz="2950">
              <a:latin typeface="Arial"/>
              <a:cs typeface="Arial"/>
            </a:endParaRPr>
          </a:p>
          <a:p>
            <a:pPr marL="491490" marR="20955" indent="-319405">
              <a:lnSpc>
                <a:spcPct val="133300"/>
              </a:lnSpc>
              <a:buFont typeface="Arial"/>
              <a:buChar char="•"/>
              <a:tabLst>
                <a:tab pos="713105" algn="l"/>
              </a:tabLst>
            </a:pP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Secure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95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scalable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educational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	</a:t>
            </a:r>
            <a:r>
              <a:rPr dirty="0" sz="2950" spc="100" b="1">
                <a:solidFill>
                  <a:srgbClr val="0D1C38"/>
                </a:solidFill>
                <a:latin typeface="Arial"/>
                <a:cs typeface="Arial"/>
              </a:rPr>
              <a:t>system</a:t>
            </a:r>
            <a:endParaRPr sz="2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1861" y="8086242"/>
            <a:ext cx="8338184" cy="1374140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330835" marR="5080" indent="-318770">
              <a:lnSpc>
                <a:spcPct val="66600"/>
              </a:lnSpc>
              <a:spcBef>
                <a:spcPts val="1280"/>
              </a:spcBef>
              <a:buFont typeface="Arial"/>
              <a:buChar char="•"/>
              <a:tabLst>
                <a:tab pos="330835" algn="l"/>
              </a:tabLst>
            </a:pP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Generates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dynamic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cognitive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profiles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60" b="1">
                <a:solidFill>
                  <a:srgbClr val="0D1C38"/>
                </a:solidFill>
                <a:latin typeface="Arial"/>
                <a:cs typeface="Arial"/>
              </a:rPr>
              <a:t>for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each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learner</a:t>
            </a:r>
            <a:endParaRPr sz="295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332105" algn="l"/>
              </a:tabLst>
            </a:pP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Supports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30" b="1">
                <a:solidFill>
                  <a:srgbClr val="0D1C38"/>
                </a:solidFill>
                <a:latin typeface="Arial"/>
                <a:cs typeface="Arial"/>
              </a:rPr>
              <a:t>personalized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endParaRPr sz="29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082" y="0"/>
            <a:ext cx="18257520" cy="10287000"/>
            <a:chOff x="31082" y="0"/>
            <a:chExt cx="18257520" cy="10287000"/>
          </a:xfrm>
        </p:grpSpPr>
        <p:sp>
          <p:nvSpPr>
            <p:cNvPr id="14" name="object 14"/>
            <p:cNvSpPr/>
            <p:nvPr/>
          </p:nvSpPr>
          <p:spPr>
            <a:xfrm>
              <a:off x="9688055" y="2108390"/>
              <a:ext cx="0" cy="6492240"/>
            </a:xfrm>
            <a:custGeom>
              <a:avLst/>
              <a:gdLst/>
              <a:ahLst/>
              <a:cxnLst/>
              <a:rect l="l" t="t" r="r" b="b"/>
              <a:pathLst>
                <a:path w="0" h="6492240">
                  <a:moveTo>
                    <a:pt x="0" y="0"/>
                  </a:moveTo>
                  <a:lnTo>
                    <a:pt x="0" y="649224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82" y="0"/>
              <a:ext cx="18256917" cy="102870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300313" y="9320103"/>
            <a:ext cx="2378710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experiences</a:t>
            </a:r>
            <a:endParaRPr sz="29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57778" y="9487443"/>
            <a:ext cx="7068184" cy="83185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2969260" marR="5080" indent="-2956560">
              <a:lnSpc>
                <a:spcPts val="3000"/>
              </a:lnSpc>
              <a:spcBef>
                <a:spcPts val="415"/>
              </a:spcBef>
            </a:pPr>
            <a:r>
              <a:rPr dirty="0" sz="3000" b="1">
                <a:solidFill>
                  <a:srgbClr val="0D1C38"/>
                </a:solidFill>
                <a:latin typeface="Arial"/>
                <a:cs typeface="Arial"/>
              </a:rPr>
              <a:t>IT22136206</a:t>
            </a:r>
            <a:r>
              <a:rPr dirty="0" sz="3000" spc="22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000" spc="22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D1C38"/>
                </a:solidFill>
                <a:latin typeface="Arial"/>
                <a:cs typeface="Arial"/>
              </a:rPr>
              <a:t>Navodya</a:t>
            </a:r>
            <a:r>
              <a:rPr dirty="0" sz="3000" spc="22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D1C38"/>
                </a:solidFill>
                <a:latin typeface="Arial"/>
                <a:cs typeface="Arial"/>
              </a:rPr>
              <a:t>K.M.I.G.T</a:t>
            </a:r>
            <a:r>
              <a:rPr dirty="0" sz="3000" spc="22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000" spc="22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000" spc="-2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r>
              <a:rPr dirty="0" sz="3000" b="1">
                <a:solidFill>
                  <a:srgbClr val="0D1C38"/>
                </a:solidFill>
                <a:latin typeface="Arial"/>
                <a:cs typeface="Arial"/>
              </a:rPr>
              <a:t>IT-</a:t>
            </a:r>
            <a:r>
              <a:rPr dirty="0" sz="300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82258" y="634726"/>
            <a:ext cx="17608550" cy="9280525"/>
          </a:xfrm>
          <a:custGeom>
            <a:avLst/>
            <a:gdLst/>
            <a:ahLst/>
            <a:cxnLst/>
            <a:rect l="l" t="t" r="r" b="b"/>
            <a:pathLst>
              <a:path w="17608550" h="9280525">
                <a:moveTo>
                  <a:pt x="17608042" y="0"/>
                </a:moveTo>
                <a:lnTo>
                  <a:pt x="0" y="0"/>
                </a:lnTo>
                <a:lnTo>
                  <a:pt x="0" y="9280193"/>
                </a:lnTo>
                <a:lnTo>
                  <a:pt x="17608042" y="9280193"/>
                </a:lnTo>
                <a:lnTo>
                  <a:pt x="17608042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1783" rIns="0" bIns="0" rtlCol="0" vert="horz">
            <a:spAutoFit/>
          </a:bodyPr>
          <a:lstStyle/>
          <a:p>
            <a:pPr marL="2660015">
              <a:lnSpc>
                <a:spcPct val="100000"/>
              </a:lnSpc>
              <a:spcBef>
                <a:spcPts val="100"/>
              </a:spcBef>
            </a:pPr>
            <a:r>
              <a:rPr dirty="0" sz="4300" spc="45"/>
              <a:t>Cognitive</a:t>
            </a:r>
            <a:r>
              <a:rPr dirty="0" sz="4300" spc="204"/>
              <a:t> </a:t>
            </a:r>
            <a:r>
              <a:rPr dirty="0" sz="4300"/>
              <a:t>Skill</a:t>
            </a:r>
            <a:r>
              <a:rPr dirty="0" sz="4300" spc="210"/>
              <a:t> </a:t>
            </a:r>
            <a:r>
              <a:rPr dirty="0" sz="4300" spc="45"/>
              <a:t>Profiling</a:t>
            </a:r>
            <a:r>
              <a:rPr dirty="0" sz="4300" spc="204"/>
              <a:t> </a:t>
            </a:r>
            <a:r>
              <a:rPr dirty="0" sz="4300" spc="-10"/>
              <a:t>System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016000" y="1845589"/>
            <a:ext cx="8907780" cy="6706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9255">
              <a:lnSpc>
                <a:spcPct val="100000"/>
              </a:lnSpc>
              <a:spcBef>
                <a:spcPts val="100"/>
              </a:spcBef>
            </a:pPr>
            <a:r>
              <a:rPr dirty="0" u="sng" sz="365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Design</a:t>
            </a:r>
            <a:r>
              <a:rPr dirty="0" u="sng" sz="3650" spc="-3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65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Excellence</a:t>
            </a:r>
            <a:r>
              <a:rPr dirty="0" u="sng" sz="3650" spc="-3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65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/</a:t>
            </a:r>
            <a:r>
              <a:rPr dirty="0" u="sng" sz="3650" spc="-3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650" spc="-1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Contribution</a:t>
            </a:r>
            <a:endParaRPr sz="3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3650">
              <a:latin typeface="Arial"/>
              <a:cs typeface="Arial"/>
            </a:endParaRPr>
          </a:p>
          <a:p>
            <a:pPr marL="648335" marR="1597025" indent="-318135">
              <a:lnSpc>
                <a:spcPct val="66600"/>
              </a:lnSpc>
              <a:buFont typeface="Arial"/>
              <a:buChar char="•"/>
              <a:tabLst>
                <a:tab pos="648335" algn="l"/>
              </a:tabLst>
            </a:pP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Uses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35" b="1">
                <a:solidFill>
                  <a:srgbClr val="0D1C38"/>
                </a:solidFill>
                <a:latin typeface="Arial"/>
                <a:cs typeface="Arial"/>
              </a:rPr>
              <a:t>AI-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driven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35" b="1">
                <a:solidFill>
                  <a:srgbClr val="0D1C38"/>
                </a:solidFill>
                <a:latin typeface="Arial"/>
                <a:cs typeface="Arial"/>
              </a:rPr>
              <a:t>real-</a:t>
            </a:r>
            <a:r>
              <a:rPr dirty="0" sz="2950" spc="95" b="1">
                <a:solidFill>
                  <a:srgbClr val="0D1C38"/>
                </a:solidFill>
                <a:latin typeface="Arial"/>
                <a:cs typeface="Arial"/>
              </a:rPr>
              <a:t>time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cognitive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analysis</a:t>
            </a:r>
            <a:endParaRPr sz="2950">
              <a:latin typeface="Arial"/>
              <a:cs typeface="Arial"/>
            </a:endParaRPr>
          </a:p>
          <a:p>
            <a:pPr marL="648335" marR="415925" indent="-318135">
              <a:lnSpc>
                <a:spcPct val="66600"/>
              </a:lnSpc>
              <a:spcBef>
                <a:spcPts val="2355"/>
              </a:spcBef>
              <a:buFont typeface="Arial"/>
              <a:buChar char="•"/>
              <a:tabLst>
                <a:tab pos="648335" algn="l"/>
              </a:tabLst>
            </a:pP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Combines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accuracy,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response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time,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70" b="1">
                <a:solidFill>
                  <a:srgbClr val="0D1C38"/>
                </a:solidFill>
                <a:latin typeface="Arial"/>
                <a:cs typeface="Arial"/>
              </a:rPr>
              <a:t>and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attempts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85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deeper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insights</a:t>
            </a:r>
            <a:endParaRPr sz="2950">
              <a:latin typeface="Arial"/>
              <a:cs typeface="Arial"/>
            </a:endParaRPr>
          </a:p>
          <a:p>
            <a:pPr marL="648335" marR="256540" indent="-318135">
              <a:lnSpc>
                <a:spcPct val="66600"/>
              </a:lnSpc>
              <a:spcBef>
                <a:spcPts val="2355"/>
              </a:spcBef>
              <a:buFont typeface="Arial"/>
              <a:buChar char="•"/>
              <a:tabLst>
                <a:tab pos="648335" algn="l"/>
              </a:tabLst>
            </a:pP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Generates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dynamic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cognitive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profiles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60" b="1">
                <a:solidFill>
                  <a:srgbClr val="0D1C38"/>
                </a:solidFill>
                <a:latin typeface="Arial"/>
                <a:cs typeface="Arial"/>
              </a:rPr>
              <a:t>for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each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learner</a:t>
            </a:r>
            <a:endParaRPr sz="2950">
              <a:latin typeface="Arial"/>
              <a:cs typeface="Arial"/>
            </a:endParaRPr>
          </a:p>
          <a:p>
            <a:pPr marL="648335" marR="5080" indent="-318135">
              <a:lnSpc>
                <a:spcPct val="66600"/>
              </a:lnSpc>
              <a:spcBef>
                <a:spcPts val="2355"/>
              </a:spcBef>
              <a:buFont typeface="Arial"/>
              <a:buChar char="•"/>
              <a:tabLst>
                <a:tab pos="648335" algn="l"/>
              </a:tabLst>
            </a:pP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Uses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interpretable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Random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Forest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models </a:t>
            </a:r>
            <a:r>
              <a:rPr dirty="0" sz="2950" spc="85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29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educators</a:t>
            </a:r>
            <a:endParaRPr sz="2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90"/>
              </a:spcBef>
              <a:buClr>
                <a:srgbClr val="0D1C38"/>
              </a:buClr>
              <a:buFont typeface="Arial"/>
              <a:buChar char="•"/>
            </a:pPr>
            <a:endParaRPr sz="2950">
              <a:latin typeface="Arial"/>
              <a:cs typeface="Arial"/>
            </a:endParaRPr>
          </a:p>
          <a:p>
            <a:pPr marL="12700">
              <a:lnSpc>
                <a:spcPts val="2950"/>
              </a:lnSpc>
            </a:pPr>
            <a:r>
              <a:rPr dirty="0" sz="2950" spc="95" b="1">
                <a:solidFill>
                  <a:srgbClr val="0D1C38"/>
                </a:solidFill>
                <a:latin typeface="Arial"/>
                <a:cs typeface="Arial"/>
              </a:rPr>
              <a:t>Key</a:t>
            </a:r>
            <a:r>
              <a:rPr dirty="0" sz="29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Contribution</a:t>
            </a:r>
            <a:endParaRPr sz="2950">
              <a:latin typeface="Arial"/>
              <a:cs typeface="Arial"/>
            </a:endParaRPr>
          </a:p>
          <a:p>
            <a:pPr marL="648970" indent="-318770">
              <a:lnSpc>
                <a:spcPts val="2355"/>
              </a:lnSpc>
              <a:buFont typeface="Arial"/>
              <a:buChar char="•"/>
              <a:tabLst>
                <a:tab pos="648970" algn="l"/>
              </a:tabLst>
            </a:pP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Bridges</a:t>
            </a:r>
            <a:r>
              <a:rPr dirty="0" sz="29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90" b="1">
                <a:solidFill>
                  <a:srgbClr val="0D1C38"/>
                </a:solidFill>
                <a:latin typeface="Arial"/>
                <a:cs typeface="Arial"/>
              </a:rPr>
              <a:t>the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95" b="1">
                <a:solidFill>
                  <a:srgbClr val="0D1C38"/>
                </a:solidFill>
                <a:latin typeface="Arial"/>
                <a:cs typeface="Arial"/>
              </a:rPr>
              <a:t>gap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between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performance-</a:t>
            </a:r>
            <a:endParaRPr sz="2950">
              <a:latin typeface="Arial"/>
              <a:cs typeface="Arial"/>
            </a:endParaRPr>
          </a:p>
          <a:p>
            <a:pPr marL="648335" marR="687070">
              <a:lnSpc>
                <a:spcPct val="66600"/>
              </a:lnSpc>
              <a:spcBef>
                <a:spcPts val="590"/>
              </a:spcBef>
            </a:pP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based</a:t>
            </a: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 learning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systems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95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cognitive-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level</a:t>
            </a:r>
            <a:r>
              <a:rPr dirty="0" sz="29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analysis.</a:t>
            </a:r>
            <a:endParaRPr sz="2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14889" y="1908581"/>
            <a:ext cx="7172325" cy="5618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65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User</a:t>
            </a:r>
            <a:r>
              <a:rPr dirty="0" u="sng" sz="3650" spc="-15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65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Feedback on </a:t>
            </a:r>
            <a:r>
              <a:rPr dirty="0" u="sng" sz="3650" spc="-10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Prototype</a:t>
            </a:r>
            <a:endParaRPr sz="3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3650">
              <a:latin typeface="Arial"/>
              <a:cs typeface="Arial"/>
            </a:endParaRPr>
          </a:p>
          <a:p>
            <a:pPr marL="650240" indent="-319405">
              <a:lnSpc>
                <a:spcPts val="2950"/>
              </a:lnSpc>
              <a:buFont typeface="Arial"/>
              <a:buChar char="•"/>
              <a:tabLst>
                <a:tab pos="650240" algn="l"/>
              </a:tabLst>
            </a:pP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Teachers</a:t>
            </a:r>
            <a:r>
              <a:rPr dirty="0" sz="2950" spc="2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found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90" b="1">
                <a:solidFill>
                  <a:srgbClr val="0D1C38"/>
                </a:solidFill>
                <a:latin typeface="Arial"/>
                <a:cs typeface="Arial"/>
              </a:rPr>
              <a:t>the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00" b="1">
                <a:solidFill>
                  <a:srgbClr val="0D1C38"/>
                </a:solidFill>
                <a:latin typeface="Arial"/>
                <a:cs typeface="Arial"/>
              </a:rPr>
              <a:t>system</a:t>
            </a:r>
            <a:endParaRPr sz="2950">
              <a:latin typeface="Arial"/>
              <a:cs typeface="Arial"/>
            </a:endParaRPr>
          </a:p>
          <a:p>
            <a:pPr marL="648970" marR="811530">
              <a:lnSpc>
                <a:spcPct val="66600"/>
              </a:lnSpc>
              <a:spcBef>
                <a:spcPts val="595"/>
              </a:spcBef>
            </a:pP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useful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85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identifying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student </a:t>
            </a: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difficulties</a:t>
            </a:r>
            <a:endParaRPr sz="2950">
              <a:latin typeface="Arial"/>
              <a:cs typeface="Arial"/>
            </a:endParaRPr>
          </a:p>
          <a:p>
            <a:pPr marL="648970" marR="1504950" indent="-318770">
              <a:lnSpc>
                <a:spcPct val="66600"/>
              </a:lnSpc>
              <a:spcBef>
                <a:spcPts val="2360"/>
              </a:spcBef>
              <a:buFont typeface="Arial"/>
              <a:buChar char="•"/>
              <a:tabLst>
                <a:tab pos="648970" algn="l"/>
              </a:tabLst>
            </a:pP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Students</a:t>
            </a:r>
            <a:r>
              <a:rPr dirty="0" sz="295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found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activities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engaging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95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29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05" b="1">
                <a:solidFill>
                  <a:srgbClr val="0D1C38"/>
                </a:solidFill>
                <a:latin typeface="Arial"/>
                <a:cs typeface="Arial"/>
              </a:rPr>
              <a:t>easy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65" b="1">
                <a:solidFill>
                  <a:srgbClr val="0D1C38"/>
                </a:solidFill>
                <a:latin typeface="Arial"/>
                <a:cs typeface="Arial"/>
              </a:rPr>
              <a:t>to</a:t>
            </a:r>
            <a:r>
              <a:rPr dirty="0" sz="29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70" b="1">
                <a:solidFill>
                  <a:srgbClr val="0D1C38"/>
                </a:solidFill>
                <a:latin typeface="Arial"/>
                <a:cs typeface="Arial"/>
              </a:rPr>
              <a:t>use</a:t>
            </a:r>
            <a:endParaRPr sz="2950">
              <a:latin typeface="Arial"/>
              <a:cs typeface="Arial"/>
            </a:endParaRPr>
          </a:p>
          <a:p>
            <a:pPr marL="650240" indent="-319405">
              <a:lnSpc>
                <a:spcPts val="2950"/>
              </a:lnSpc>
              <a:spcBef>
                <a:spcPts val="1175"/>
              </a:spcBef>
              <a:buFont typeface="Arial"/>
              <a:buChar char="•"/>
              <a:tabLst>
                <a:tab pos="650240" algn="l"/>
              </a:tabLst>
            </a:pP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Parents</a:t>
            </a:r>
            <a:r>
              <a:rPr dirty="0" sz="29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appreciated</a:t>
            </a:r>
            <a:r>
              <a:rPr dirty="0" sz="29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insights</a:t>
            </a:r>
            <a:r>
              <a:rPr dirty="0" sz="295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80" b="1">
                <a:solidFill>
                  <a:srgbClr val="0D1C38"/>
                </a:solidFill>
                <a:latin typeface="Arial"/>
                <a:cs typeface="Arial"/>
              </a:rPr>
              <a:t>into</a:t>
            </a:r>
            <a:endParaRPr sz="2950">
              <a:latin typeface="Arial"/>
              <a:cs typeface="Arial"/>
            </a:endParaRPr>
          </a:p>
          <a:p>
            <a:pPr marL="648970" marR="1878330">
              <a:lnSpc>
                <a:spcPct val="66600"/>
              </a:lnSpc>
              <a:spcBef>
                <a:spcPts val="595"/>
              </a:spcBef>
            </a:pP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cognitive</a:t>
            </a:r>
            <a:r>
              <a:rPr dirty="0" sz="29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strengths</a:t>
            </a:r>
            <a:r>
              <a:rPr dirty="0" sz="29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70" b="1">
                <a:solidFill>
                  <a:srgbClr val="0D1C38"/>
                </a:solidFill>
                <a:latin typeface="Arial"/>
                <a:cs typeface="Arial"/>
              </a:rPr>
              <a:t>and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weaknesses</a:t>
            </a:r>
            <a:endParaRPr sz="2950">
              <a:latin typeface="Arial"/>
              <a:cs typeface="Arial"/>
            </a:endParaRPr>
          </a:p>
          <a:p>
            <a:pPr marL="650240" indent="-319405">
              <a:lnSpc>
                <a:spcPts val="2950"/>
              </a:lnSpc>
              <a:spcBef>
                <a:spcPts val="1175"/>
              </a:spcBef>
              <a:buFont typeface="Arial"/>
              <a:buChar char="•"/>
              <a:tabLst>
                <a:tab pos="650240" algn="l"/>
              </a:tabLst>
            </a:pPr>
            <a:r>
              <a:rPr dirty="0" sz="2950" spc="125" b="1">
                <a:solidFill>
                  <a:srgbClr val="0D1C38"/>
                </a:solidFill>
                <a:latin typeface="Arial"/>
                <a:cs typeface="Arial"/>
              </a:rPr>
              <a:t>Feedback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showed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improved</a:t>
            </a:r>
            <a:endParaRPr sz="2950">
              <a:latin typeface="Arial"/>
              <a:cs typeface="Arial"/>
            </a:endParaRPr>
          </a:p>
          <a:p>
            <a:pPr marL="648970" marR="499745">
              <a:lnSpc>
                <a:spcPct val="66600"/>
              </a:lnSpc>
              <a:spcBef>
                <a:spcPts val="595"/>
              </a:spcBef>
            </a:pP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support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85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20" b="1">
                <a:solidFill>
                  <a:srgbClr val="0D1C38"/>
                </a:solidFill>
                <a:latin typeface="Arial"/>
                <a:cs typeface="Arial"/>
              </a:rPr>
              <a:t>personalized learning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95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29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D1C38"/>
                </a:solidFill>
                <a:latin typeface="Arial"/>
                <a:cs typeface="Arial"/>
              </a:rPr>
              <a:t>early</a:t>
            </a:r>
            <a:r>
              <a:rPr dirty="0" sz="29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950" spc="114" b="1">
                <a:solidFill>
                  <a:srgbClr val="0D1C38"/>
                </a:solidFill>
                <a:latin typeface="Arial"/>
                <a:cs typeface="Arial"/>
              </a:rPr>
              <a:t>intervention</a:t>
            </a:r>
            <a:endParaRPr sz="29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8" name="object 8"/>
            <p:cNvSpPr/>
            <p:nvPr/>
          </p:nvSpPr>
          <p:spPr>
            <a:xfrm>
              <a:off x="10037064" y="2307234"/>
              <a:ext cx="0" cy="6492240"/>
            </a:xfrm>
            <a:custGeom>
              <a:avLst/>
              <a:gdLst/>
              <a:ahLst/>
              <a:cxnLst/>
              <a:rect l="l" t="t" r="r" b="b"/>
              <a:pathLst>
                <a:path w="0" h="6492240">
                  <a:moveTo>
                    <a:pt x="0" y="0"/>
                  </a:moveTo>
                  <a:lnTo>
                    <a:pt x="0" y="649224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749853" y="9364291"/>
            <a:ext cx="7068184" cy="83185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2969260" marR="5080" indent="-2956560">
              <a:lnSpc>
                <a:spcPts val="3000"/>
              </a:lnSpc>
              <a:spcBef>
                <a:spcPts val="415"/>
              </a:spcBef>
            </a:pPr>
            <a:r>
              <a:rPr dirty="0" sz="3000" b="1">
                <a:solidFill>
                  <a:srgbClr val="0D1C38"/>
                </a:solidFill>
                <a:latin typeface="Arial"/>
                <a:cs typeface="Arial"/>
              </a:rPr>
              <a:t>IT22136206</a:t>
            </a:r>
            <a:r>
              <a:rPr dirty="0" sz="3000" spc="22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000" spc="22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D1C38"/>
                </a:solidFill>
                <a:latin typeface="Arial"/>
                <a:cs typeface="Arial"/>
              </a:rPr>
              <a:t>Navodya</a:t>
            </a:r>
            <a:r>
              <a:rPr dirty="0" sz="3000" spc="22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D1C38"/>
                </a:solidFill>
                <a:latin typeface="Arial"/>
                <a:cs typeface="Arial"/>
              </a:rPr>
              <a:t>K.M.I.G.T</a:t>
            </a:r>
            <a:r>
              <a:rPr dirty="0" sz="3000" spc="22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000" spc="22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000" spc="-2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r>
              <a:rPr dirty="0" sz="3000" b="1">
                <a:solidFill>
                  <a:srgbClr val="0D1C38"/>
                </a:solidFill>
                <a:latin typeface="Arial"/>
                <a:cs typeface="Arial"/>
              </a:rPr>
              <a:t>IT-</a:t>
            </a:r>
            <a:r>
              <a:rPr dirty="0" sz="300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4536"/>
            <a:ext cx="18288000" cy="10242550"/>
            <a:chOff x="0" y="44536"/>
            <a:chExt cx="18288000" cy="10242550"/>
          </a:xfrm>
        </p:grpSpPr>
        <p:sp>
          <p:nvSpPr>
            <p:cNvPr id="3" name="object 3"/>
            <p:cNvSpPr/>
            <p:nvPr/>
          </p:nvSpPr>
          <p:spPr>
            <a:xfrm>
              <a:off x="1028700" y="684814"/>
              <a:ext cx="16230600" cy="9006840"/>
            </a:xfrm>
            <a:custGeom>
              <a:avLst/>
              <a:gdLst/>
              <a:ahLst/>
              <a:cxnLst/>
              <a:rect l="l" t="t" r="r" b="b"/>
              <a:pathLst>
                <a:path w="16230600" h="9006840">
                  <a:moveTo>
                    <a:pt x="16230600" y="0"/>
                  </a:moveTo>
                  <a:lnTo>
                    <a:pt x="0" y="0"/>
                  </a:lnTo>
                  <a:lnTo>
                    <a:pt x="0" y="9006446"/>
                  </a:lnTo>
                  <a:lnTo>
                    <a:pt x="16230600" y="9006446"/>
                  </a:lnTo>
                  <a:lnTo>
                    <a:pt x="16230600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4536"/>
              <a:ext cx="18288000" cy="1024246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142058" y="648797"/>
            <a:ext cx="11738610" cy="6578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Interactive</a:t>
            </a:r>
            <a:r>
              <a:rPr dirty="0" spc="370"/>
              <a:t> </a:t>
            </a:r>
            <a:r>
              <a:rPr dirty="0"/>
              <a:t>Learning</a:t>
            </a:r>
            <a:r>
              <a:rPr dirty="0" spc="380"/>
              <a:t> </a:t>
            </a:r>
            <a:r>
              <a:rPr dirty="0"/>
              <a:t>Tool</a:t>
            </a:r>
            <a:r>
              <a:rPr dirty="0" spc="375"/>
              <a:t> </a:t>
            </a:r>
            <a:r>
              <a:rPr dirty="0"/>
              <a:t>for</a:t>
            </a:r>
            <a:r>
              <a:rPr dirty="0" spc="380"/>
              <a:t> </a:t>
            </a:r>
            <a:r>
              <a:rPr dirty="0"/>
              <a:t>Dyscalculia</a:t>
            </a:r>
            <a:r>
              <a:rPr dirty="0" spc="380"/>
              <a:t> </a:t>
            </a:r>
            <a:r>
              <a:rPr dirty="0" spc="-20"/>
              <a:t>kids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0"/>
              <a:t>IT22224316</a:t>
            </a:r>
            <a:r>
              <a:rPr dirty="0" spc="105"/>
              <a:t>  </a:t>
            </a:r>
            <a:r>
              <a:rPr dirty="0"/>
              <a:t>|</a:t>
            </a:r>
            <a:r>
              <a:rPr dirty="0" spc="105"/>
              <a:t>  </a:t>
            </a:r>
            <a:r>
              <a:rPr dirty="0" spc="60"/>
              <a:t>Dhananjani</a:t>
            </a:r>
            <a:r>
              <a:rPr dirty="0" spc="155"/>
              <a:t> </a:t>
            </a:r>
            <a:r>
              <a:rPr dirty="0" spc="-10"/>
              <a:t>G.A.U.</a:t>
            </a:r>
          </a:p>
          <a:p>
            <a:pPr>
              <a:lnSpc>
                <a:spcPct val="100000"/>
              </a:lnSpc>
              <a:spcBef>
                <a:spcPts val="265"/>
              </a:spcBef>
            </a:pPr>
          </a:p>
          <a:p>
            <a:pPr algn="ctr" marL="1296035">
              <a:lnSpc>
                <a:spcPct val="100000"/>
              </a:lnSpc>
            </a:pPr>
            <a:r>
              <a:rPr dirty="0" spc="60"/>
              <a:t>Personalized</a:t>
            </a:r>
            <a:r>
              <a:rPr dirty="0" spc="225"/>
              <a:t> </a:t>
            </a:r>
            <a:r>
              <a:rPr dirty="0"/>
              <a:t>Maths</a:t>
            </a:r>
            <a:r>
              <a:rPr dirty="0" spc="225"/>
              <a:t> </a:t>
            </a:r>
            <a:r>
              <a:rPr dirty="0" spc="55"/>
              <a:t>Learning</a:t>
            </a:r>
            <a:r>
              <a:rPr dirty="0" spc="225"/>
              <a:t> </a:t>
            </a:r>
            <a:r>
              <a:rPr dirty="0" spc="45"/>
              <a:t>Engine</a:t>
            </a:r>
          </a:p>
          <a:p>
            <a:pPr>
              <a:lnSpc>
                <a:spcPct val="100000"/>
              </a:lnSpc>
              <a:spcBef>
                <a:spcPts val="254"/>
              </a:spcBef>
            </a:pPr>
          </a:p>
          <a:p>
            <a:pPr algn="ctr" marL="1235710">
              <a:lnSpc>
                <a:spcPct val="100000"/>
              </a:lnSpc>
              <a:spcBef>
                <a:spcPts val="5"/>
              </a:spcBef>
            </a:pPr>
            <a:r>
              <a:rPr dirty="0" sz="3800" spc="45"/>
              <a:t>Specialization:</a:t>
            </a:r>
            <a:r>
              <a:rPr dirty="0" sz="3800" spc="310"/>
              <a:t> </a:t>
            </a:r>
            <a:r>
              <a:rPr dirty="0" sz="3800"/>
              <a:t>BSc(Hons)</a:t>
            </a:r>
            <a:r>
              <a:rPr dirty="0" sz="3800" spc="310"/>
              <a:t> </a:t>
            </a:r>
            <a:r>
              <a:rPr dirty="0" sz="3800"/>
              <a:t>in</a:t>
            </a:r>
            <a:r>
              <a:rPr dirty="0" sz="3800" spc="310"/>
              <a:t> </a:t>
            </a:r>
            <a:r>
              <a:rPr dirty="0" sz="3800"/>
              <a:t>Information</a:t>
            </a:r>
            <a:r>
              <a:rPr dirty="0" sz="3800" spc="310"/>
              <a:t> </a:t>
            </a:r>
            <a:r>
              <a:rPr dirty="0" sz="3800" spc="-10"/>
              <a:t>Technology</a:t>
            </a:r>
            <a:endParaRPr sz="3800"/>
          </a:p>
        </p:txBody>
      </p:sp>
      <p:sp>
        <p:nvSpPr>
          <p:cNvPr id="8" name="object 8"/>
          <p:cNvSpPr txBox="1"/>
          <p:nvPr/>
        </p:nvSpPr>
        <p:spPr>
          <a:xfrm>
            <a:off x="9007823" y="9584464"/>
            <a:ext cx="1229995" cy="479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635"/>
              </a:lnSpc>
            </a:pP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IT-</a:t>
            </a:r>
            <a:r>
              <a:rPr dirty="0" sz="320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5449" y="9139949"/>
            <a:ext cx="75145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IT22224316</a:t>
            </a:r>
            <a:r>
              <a:rPr dirty="0" sz="3200" spc="27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Dhananjani</a:t>
            </a:r>
            <a:r>
              <a:rPr dirty="0" sz="3200" spc="2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G.A.U.</a:t>
            </a:r>
            <a:r>
              <a:rPr dirty="0" sz="3200" spc="2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spc="-2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E2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59357" y="251854"/>
            <a:ext cx="16230600" cy="9006840"/>
          </a:xfrm>
          <a:custGeom>
            <a:avLst/>
            <a:gdLst/>
            <a:ahLst/>
            <a:cxnLst/>
            <a:rect l="l" t="t" r="r" b="b"/>
            <a:pathLst>
              <a:path w="16230600" h="9006840">
                <a:moveTo>
                  <a:pt x="16230600" y="0"/>
                </a:moveTo>
                <a:lnTo>
                  <a:pt x="0" y="0"/>
                </a:lnTo>
                <a:lnTo>
                  <a:pt x="0" y="9006446"/>
                </a:lnTo>
                <a:lnTo>
                  <a:pt x="16230600" y="9006446"/>
                </a:lnTo>
                <a:lnTo>
                  <a:pt x="16230600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1511" rIns="0" bIns="0" rtlCol="0" vert="horz">
            <a:spAutoFit/>
          </a:bodyPr>
          <a:lstStyle/>
          <a:p>
            <a:pPr marL="2007235">
              <a:lnSpc>
                <a:spcPct val="100000"/>
              </a:lnSpc>
              <a:spcBef>
                <a:spcPts val="100"/>
              </a:spcBef>
            </a:pPr>
            <a:r>
              <a:rPr dirty="0" sz="4250" spc="45"/>
              <a:t>Personalized</a:t>
            </a:r>
            <a:r>
              <a:rPr dirty="0" sz="4250" spc="295"/>
              <a:t> </a:t>
            </a:r>
            <a:r>
              <a:rPr dirty="0" sz="4250"/>
              <a:t>Maths</a:t>
            </a:r>
            <a:r>
              <a:rPr dirty="0" sz="4250" spc="305"/>
              <a:t> </a:t>
            </a:r>
            <a:r>
              <a:rPr dirty="0" sz="4250"/>
              <a:t>Learning</a:t>
            </a:r>
            <a:r>
              <a:rPr dirty="0" sz="4250" spc="310"/>
              <a:t> </a:t>
            </a:r>
            <a:r>
              <a:rPr dirty="0" sz="4250" spc="-10"/>
              <a:t>Engine</a:t>
            </a:r>
            <a:endParaRPr sz="4250"/>
          </a:p>
        </p:txBody>
      </p:sp>
      <p:sp>
        <p:nvSpPr>
          <p:cNvPr id="5" name="object 5"/>
          <p:cNvSpPr txBox="1"/>
          <p:nvPr/>
        </p:nvSpPr>
        <p:spPr>
          <a:xfrm>
            <a:off x="2956787" y="1591284"/>
            <a:ext cx="11432540" cy="891730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880"/>
              </a:spcBef>
            </a:pPr>
            <a:r>
              <a:rPr dirty="0" sz="3900" b="1">
                <a:solidFill>
                  <a:srgbClr val="0D1C38"/>
                </a:solidFill>
                <a:latin typeface="Arial"/>
                <a:cs typeface="Arial"/>
              </a:rPr>
              <a:t>How</a:t>
            </a:r>
            <a:r>
              <a:rPr dirty="0" sz="390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b="1">
                <a:solidFill>
                  <a:srgbClr val="0D1C38"/>
                </a:solidFill>
                <a:latin typeface="Arial"/>
                <a:cs typeface="Arial"/>
              </a:rPr>
              <a:t>the</a:t>
            </a:r>
            <a:r>
              <a:rPr dirty="0" sz="390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b="1">
                <a:solidFill>
                  <a:srgbClr val="0D1C38"/>
                </a:solidFill>
                <a:latin typeface="Arial"/>
                <a:cs typeface="Arial"/>
              </a:rPr>
              <a:t>Solution</a:t>
            </a:r>
            <a:r>
              <a:rPr dirty="0" sz="390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b="1">
                <a:solidFill>
                  <a:srgbClr val="0D1C38"/>
                </a:solidFill>
                <a:latin typeface="Arial"/>
                <a:cs typeface="Arial"/>
              </a:rPr>
              <a:t>Addresses</a:t>
            </a:r>
            <a:r>
              <a:rPr dirty="0" sz="390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b="1">
                <a:solidFill>
                  <a:srgbClr val="0D1C38"/>
                </a:solidFill>
                <a:latin typeface="Arial"/>
                <a:cs typeface="Arial"/>
              </a:rPr>
              <a:t>the</a:t>
            </a:r>
            <a:r>
              <a:rPr dirty="0" sz="390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b="1">
                <a:solidFill>
                  <a:srgbClr val="0D1C38"/>
                </a:solidFill>
                <a:latin typeface="Arial"/>
                <a:cs typeface="Arial"/>
              </a:rPr>
              <a:t>Sub-Problem</a:t>
            </a:r>
            <a:r>
              <a:rPr dirty="0" sz="390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-50" b="1">
                <a:solidFill>
                  <a:srgbClr val="0D1C38"/>
                </a:solidFill>
                <a:latin typeface="Arial"/>
                <a:cs typeface="Arial"/>
              </a:rPr>
              <a:t>/ </a:t>
            </a:r>
            <a:r>
              <a:rPr dirty="0" sz="3900" spc="-10" b="1">
                <a:solidFill>
                  <a:srgbClr val="0D1C38"/>
                </a:solidFill>
                <a:latin typeface="Arial"/>
                <a:cs typeface="Arial"/>
              </a:rPr>
              <a:t>Prototype</a:t>
            </a:r>
            <a:endParaRPr sz="3900">
              <a:latin typeface="Arial"/>
              <a:cs typeface="Arial"/>
            </a:endParaRPr>
          </a:p>
          <a:p>
            <a:pPr marL="722630" indent="-354330">
              <a:lnSpc>
                <a:spcPts val="3629"/>
              </a:lnSpc>
              <a:spcBef>
                <a:spcPts val="3220"/>
              </a:spcBef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Adaptive</a:t>
            </a:r>
            <a:r>
              <a:rPr dirty="0" sz="330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r>
              <a:rPr dirty="0" sz="330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system</a:t>
            </a:r>
            <a:r>
              <a:rPr dirty="0" sz="330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330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dyscalculia</a:t>
            </a:r>
            <a:r>
              <a:rPr dirty="0" sz="330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students</a:t>
            </a:r>
            <a:endParaRPr sz="3300">
              <a:latin typeface="Arial"/>
              <a:cs typeface="Arial"/>
            </a:endParaRPr>
          </a:p>
          <a:p>
            <a:pPr marL="722630" indent="-354330">
              <a:lnSpc>
                <a:spcPts val="3295"/>
              </a:lnSpc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Uses</a:t>
            </a:r>
            <a:r>
              <a:rPr dirty="0" sz="3300" spc="1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BKT</a:t>
            </a:r>
            <a:r>
              <a:rPr dirty="0" sz="3300" spc="1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to</a:t>
            </a:r>
            <a:r>
              <a:rPr dirty="0" sz="3300" spc="1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estimate</a:t>
            </a:r>
            <a:r>
              <a:rPr dirty="0" sz="3300" spc="1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skill</a:t>
            </a:r>
            <a:r>
              <a:rPr dirty="0" sz="3300" spc="1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mastery</a:t>
            </a:r>
            <a:endParaRPr sz="3300">
              <a:latin typeface="Arial"/>
              <a:cs typeface="Arial"/>
            </a:endParaRPr>
          </a:p>
          <a:p>
            <a:pPr marL="722630" indent="-354330">
              <a:lnSpc>
                <a:spcPts val="3295"/>
              </a:lnSpc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Tracks</a:t>
            </a:r>
            <a:r>
              <a:rPr dirty="0" sz="330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accuracy,</a:t>
            </a:r>
            <a:r>
              <a:rPr dirty="0" sz="330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time,</a:t>
            </a:r>
            <a:r>
              <a:rPr dirty="0" sz="33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attempts,</a:t>
            </a:r>
            <a:r>
              <a:rPr dirty="0" sz="330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3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errors</a:t>
            </a:r>
            <a:endParaRPr sz="3300">
              <a:latin typeface="Arial"/>
              <a:cs typeface="Arial"/>
            </a:endParaRPr>
          </a:p>
          <a:p>
            <a:pPr marL="722630" indent="-354330">
              <a:lnSpc>
                <a:spcPts val="3295"/>
              </a:lnSpc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Adjusts</a:t>
            </a:r>
            <a:r>
              <a:rPr dirty="0" sz="3300" spc="27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difficulty</a:t>
            </a:r>
            <a:r>
              <a:rPr dirty="0" sz="3300" spc="27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based</a:t>
            </a:r>
            <a:r>
              <a:rPr dirty="0" sz="3300" spc="27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on</a:t>
            </a:r>
            <a:r>
              <a:rPr dirty="0" sz="3300" spc="27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performance</a:t>
            </a:r>
            <a:endParaRPr sz="3300">
              <a:latin typeface="Arial"/>
              <a:cs typeface="Arial"/>
            </a:endParaRPr>
          </a:p>
          <a:p>
            <a:pPr marL="722630" indent="-354330">
              <a:lnSpc>
                <a:spcPts val="3629"/>
              </a:lnSpc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Provides</a:t>
            </a:r>
            <a:r>
              <a:rPr dirty="0" sz="3300" spc="3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personalized</a:t>
            </a:r>
            <a:r>
              <a:rPr dirty="0" sz="3300" spc="3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activities</a:t>
            </a:r>
            <a:r>
              <a:rPr dirty="0" sz="3300" spc="3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300" spc="3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real-time</a:t>
            </a:r>
            <a:r>
              <a:rPr dirty="0" sz="3300" spc="3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hints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25"/>
              </a:spcBef>
            </a:pPr>
            <a:r>
              <a:rPr dirty="0" sz="3900" b="1">
                <a:solidFill>
                  <a:srgbClr val="0D1C38"/>
                </a:solidFill>
                <a:latin typeface="Arial"/>
                <a:cs typeface="Arial"/>
              </a:rPr>
              <a:t>User</a:t>
            </a:r>
            <a:r>
              <a:rPr dirty="0" sz="3900" spc="3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b="1">
                <a:solidFill>
                  <a:srgbClr val="0D1C38"/>
                </a:solidFill>
                <a:latin typeface="Arial"/>
                <a:cs typeface="Arial"/>
              </a:rPr>
              <a:t>Requirements</a:t>
            </a:r>
            <a:r>
              <a:rPr dirty="0" sz="3900" spc="3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900" spc="-10" b="1">
                <a:solidFill>
                  <a:srgbClr val="0D1C38"/>
                </a:solidFill>
                <a:latin typeface="Arial"/>
                <a:cs typeface="Arial"/>
              </a:rPr>
              <a:t>Addressed</a:t>
            </a:r>
            <a:endParaRPr sz="3900">
              <a:latin typeface="Arial"/>
              <a:cs typeface="Arial"/>
            </a:endParaRPr>
          </a:p>
          <a:p>
            <a:pPr marL="722630" indent="-354330">
              <a:lnSpc>
                <a:spcPts val="3629"/>
              </a:lnSpc>
              <a:spcBef>
                <a:spcPts val="3225"/>
              </a:spcBef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Simple</a:t>
            </a:r>
            <a:r>
              <a:rPr dirty="0" sz="3300" spc="34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300" spc="3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child-friendly</a:t>
            </a:r>
            <a:r>
              <a:rPr dirty="0" sz="3300" spc="34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interface</a:t>
            </a:r>
            <a:endParaRPr sz="3300">
              <a:latin typeface="Arial"/>
              <a:cs typeface="Arial"/>
            </a:endParaRPr>
          </a:p>
          <a:p>
            <a:pPr marL="722630" indent="-354330">
              <a:lnSpc>
                <a:spcPts val="3295"/>
              </a:lnSpc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Personalized</a:t>
            </a:r>
            <a:r>
              <a:rPr dirty="0" sz="3300" spc="43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r>
              <a:rPr dirty="0" sz="3300" spc="43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support</a:t>
            </a:r>
            <a:endParaRPr sz="3300">
              <a:latin typeface="Arial"/>
              <a:cs typeface="Arial"/>
            </a:endParaRPr>
          </a:p>
          <a:p>
            <a:pPr marL="722630" indent="-354330">
              <a:lnSpc>
                <a:spcPts val="3295"/>
              </a:lnSpc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Real-time</a:t>
            </a:r>
            <a:r>
              <a:rPr dirty="0" sz="3300" spc="2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feedback</a:t>
            </a:r>
            <a:r>
              <a:rPr dirty="0" sz="3300" spc="2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300" spc="2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hints</a:t>
            </a:r>
            <a:endParaRPr sz="3300">
              <a:latin typeface="Arial"/>
              <a:cs typeface="Arial"/>
            </a:endParaRPr>
          </a:p>
          <a:p>
            <a:pPr marL="722630" indent="-354330">
              <a:lnSpc>
                <a:spcPts val="3295"/>
              </a:lnSpc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Fast</a:t>
            </a:r>
            <a:r>
              <a:rPr dirty="0" sz="3300" spc="1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300" spc="1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secure</a:t>
            </a:r>
            <a:r>
              <a:rPr dirty="0" sz="3300" spc="1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system</a:t>
            </a:r>
            <a:endParaRPr sz="3300">
              <a:latin typeface="Arial"/>
              <a:cs typeface="Arial"/>
            </a:endParaRPr>
          </a:p>
          <a:p>
            <a:pPr marL="722630" indent="-354330">
              <a:lnSpc>
                <a:spcPts val="3629"/>
              </a:lnSpc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Adaptive</a:t>
            </a:r>
            <a:r>
              <a:rPr dirty="0" sz="3300" spc="27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activities</a:t>
            </a:r>
            <a:r>
              <a:rPr dirty="0" sz="3300" spc="27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based</a:t>
            </a:r>
            <a:r>
              <a:rPr dirty="0" sz="3300" spc="27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on</a:t>
            </a:r>
            <a:r>
              <a:rPr dirty="0" sz="3300" spc="27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student</a:t>
            </a:r>
            <a:r>
              <a:rPr dirty="0" sz="3300" spc="27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ability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95"/>
              </a:spcBef>
            </a:pPr>
            <a:endParaRPr sz="3300">
              <a:latin typeface="Arial"/>
              <a:cs typeface="Arial"/>
            </a:endParaRPr>
          </a:p>
          <a:p>
            <a:pPr marL="5581650" marR="1495425" indent="-3142615">
              <a:lnSpc>
                <a:spcPts val="3200"/>
              </a:lnSpc>
            </a:pP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IT22224316</a:t>
            </a:r>
            <a:r>
              <a:rPr dirty="0" sz="3200" spc="27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7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Dhananjani</a:t>
            </a:r>
            <a:r>
              <a:rPr dirty="0" sz="3200" spc="27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G.A.U.</a:t>
            </a:r>
            <a:r>
              <a:rPr dirty="0" sz="3200" spc="27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7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spc="-2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IT-</a:t>
            </a:r>
            <a:r>
              <a:rPr dirty="0" sz="320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E2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94513" y="813389"/>
            <a:ext cx="16779875" cy="8877935"/>
          </a:xfrm>
          <a:custGeom>
            <a:avLst/>
            <a:gdLst/>
            <a:ahLst/>
            <a:cxnLst/>
            <a:rect l="l" t="t" r="r" b="b"/>
            <a:pathLst>
              <a:path w="16779875" h="8877935">
                <a:moveTo>
                  <a:pt x="16779367" y="0"/>
                </a:moveTo>
                <a:lnTo>
                  <a:pt x="0" y="0"/>
                </a:lnTo>
                <a:lnTo>
                  <a:pt x="0" y="8877871"/>
                </a:lnTo>
                <a:lnTo>
                  <a:pt x="16779367" y="8877871"/>
                </a:lnTo>
                <a:lnTo>
                  <a:pt x="16779367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2356" rIns="0" bIns="0" rtlCol="0" vert="horz">
            <a:spAutoFit/>
          </a:bodyPr>
          <a:lstStyle/>
          <a:p>
            <a:pPr marL="2198370">
              <a:lnSpc>
                <a:spcPct val="100000"/>
              </a:lnSpc>
              <a:spcBef>
                <a:spcPts val="100"/>
              </a:spcBef>
            </a:pPr>
            <a:r>
              <a:rPr dirty="0"/>
              <a:t>Personalized</a:t>
            </a:r>
            <a:r>
              <a:rPr dirty="0" spc="405"/>
              <a:t> </a:t>
            </a:r>
            <a:r>
              <a:rPr dirty="0"/>
              <a:t>Maths</a:t>
            </a:r>
            <a:r>
              <a:rPr dirty="0" spc="415"/>
              <a:t> </a:t>
            </a:r>
            <a:r>
              <a:rPr dirty="0"/>
              <a:t>Learning</a:t>
            </a:r>
            <a:r>
              <a:rPr dirty="0" spc="415"/>
              <a:t> </a:t>
            </a:r>
            <a:r>
              <a:rPr dirty="0" spc="-10"/>
              <a:t>Engine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0744" y="1814614"/>
            <a:ext cx="7494905" cy="7521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Design</a:t>
            </a:r>
            <a:r>
              <a:rPr dirty="0" u="sng" sz="3000" spc="2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Excellence</a:t>
            </a:r>
            <a:r>
              <a:rPr dirty="0" u="sng" sz="3000" spc="2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/</a:t>
            </a:r>
            <a:r>
              <a:rPr dirty="0" u="sng" sz="3000" spc="2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Contribution</a:t>
            </a:r>
            <a:endParaRPr sz="3000">
              <a:latin typeface="Arial"/>
              <a:cs typeface="Arial"/>
            </a:endParaRPr>
          </a:p>
          <a:p>
            <a:pPr marL="640080" marR="43180" indent="-313055">
              <a:lnSpc>
                <a:spcPts val="2920"/>
              </a:lnSpc>
              <a:spcBef>
                <a:spcPts val="2915"/>
              </a:spcBef>
              <a:buFont typeface="Arial"/>
              <a:buChar char="•"/>
              <a:tabLst>
                <a:tab pos="641985" algn="l"/>
              </a:tabLst>
            </a:pPr>
            <a:r>
              <a:rPr dirty="0" sz="2900" b="1">
                <a:latin typeface="Arial"/>
                <a:cs typeface="Arial"/>
              </a:rPr>
              <a:t>Independent</a:t>
            </a:r>
            <a:r>
              <a:rPr dirty="0" sz="2900" spc="33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adaptive</a:t>
            </a:r>
            <a:r>
              <a:rPr dirty="0" sz="2900" spc="34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learning</a:t>
            </a:r>
            <a:r>
              <a:rPr dirty="0" sz="2900" spc="34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engine </a:t>
            </a:r>
            <a:r>
              <a:rPr dirty="0" sz="2900" spc="-10" b="1">
                <a:latin typeface="Arial"/>
                <a:cs typeface="Arial"/>
              </a:rPr>
              <a:t>	</a:t>
            </a:r>
            <a:r>
              <a:rPr dirty="0" sz="2900" b="1">
                <a:latin typeface="Arial"/>
                <a:cs typeface="Arial"/>
              </a:rPr>
              <a:t>without</a:t>
            </a:r>
            <a:r>
              <a:rPr dirty="0" sz="2900" spc="32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external</a:t>
            </a:r>
            <a:r>
              <a:rPr dirty="0" sz="2900" spc="32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cognitive</a:t>
            </a:r>
            <a:r>
              <a:rPr dirty="0" sz="2900" spc="325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profiling.</a:t>
            </a:r>
            <a:endParaRPr sz="2900">
              <a:latin typeface="Arial"/>
              <a:cs typeface="Arial"/>
            </a:endParaRPr>
          </a:p>
          <a:p>
            <a:pPr marL="640080" indent="-313055">
              <a:lnSpc>
                <a:spcPts val="3200"/>
              </a:lnSpc>
              <a:spcBef>
                <a:spcPts val="2345"/>
              </a:spcBef>
              <a:buFont typeface="Arial"/>
              <a:buChar char="•"/>
              <a:tabLst>
                <a:tab pos="640080" algn="l"/>
              </a:tabLst>
            </a:pPr>
            <a:r>
              <a:rPr dirty="0" sz="2900" spc="-10" b="1">
                <a:latin typeface="Arial"/>
                <a:cs typeface="Arial"/>
              </a:rPr>
              <a:t>Combines:</a:t>
            </a:r>
            <a:endParaRPr sz="2900">
              <a:latin typeface="Arial"/>
              <a:cs typeface="Arial"/>
            </a:endParaRPr>
          </a:p>
          <a:p>
            <a:pPr marL="1429385">
              <a:lnSpc>
                <a:spcPts val="2915"/>
              </a:lnSpc>
              <a:tabLst>
                <a:tab pos="1901825" algn="l"/>
              </a:tabLst>
            </a:pPr>
            <a:r>
              <a:rPr dirty="0" sz="2900" spc="-50">
                <a:latin typeface="Microsoft JhengHei"/>
                <a:cs typeface="Microsoft JhengHei"/>
              </a:rPr>
              <a:t>￭</a:t>
            </a:r>
            <a:r>
              <a:rPr dirty="0" sz="2900">
                <a:latin typeface="Microsoft JhengHei"/>
                <a:cs typeface="Microsoft JhengHei"/>
              </a:rPr>
              <a:t>	</a:t>
            </a:r>
            <a:r>
              <a:rPr dirty="0" sz="2900" b="1">
                <a:latin typeface="Arial"/>
                <a:cs typeface="Arial"/>
              </a:rPr>
              <a:t>Real-time</a:t>
            </a:r>
            <a:r>
              <a:rPr dirty="0" sz="2900" spc="38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behavioral</a:t>
            </a:r>
            <a:r>
              <a:rPr dirty="0" sz="2900" spc="39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analysis</a:t>
            </a:r>
            <a:endParaRPr sz="2900">
              <a:latin typeface="Arial"/>
              <a:cs typeface="Arial"/>
            </a:endParaRPr>
          </a:p>
          <a:p>
            <a:pPr lvl="1" marL="1901825" indent="-472440">
              <a:lnSpc>
                <a:spcPts val="2915"/>
              </a:lnSpc>
              <a:buFont typeface="Microsoft JhengHei"/>
              <a:buChar char="▪"/>
              <a:tabLst>
                <a:tab pos="1901825" algn="l"/>
              </a:tabLst>
            </a:pPr>
            <a:r>
              <a:rPr dirty="0" sz="2900" b="1">
                <a:latin typeface="Arial"/>
                <a:cs typeface="Arial"/>
              </a:rPr>
              <a:t>Probabilistic</a:t>
            </a:r>
            <a:r>
              <a:rPr dirty="0" sz="2900" spc="39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learner</a:t>
            </a:r>
            <a:r>
              <a:rPr dirty="0" sz="2900" spc="40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modeling</a:t>
            </a:r>
            <a:endParaRPr sz="2900">
              <a:latin typeface="Arial"/>
              <a:cs typeface="Arial"/>
            </a:endParaRPr>
          </a:p>
          <a:p>
            <a:pPr lvl="1" marL="1901825" indent="-472440">
              <a:lnSpc>
                <a:spcPts val="3200"/>
              </a:lnSpc>
              <a:buFont typeface="Microsoft JhengHei"/>
              <a:buChar char="▪"/>
              <a:tabLst>
                <a:tab pos="1901825" algn="l"/>
              </a:tabLst>
            </a:pPr>
            <a:r>
              <a:rPr dirty="0" sz="2900" b="1">
                <a:latin typeface="Arial"/>
                <a:cs typeface="Arial"/>
              </a:rPr>
              <a:t>Intelligent</a:t>
            </a:r>
            <a:r>
              <a:rPr dirty="0" sz="2900" spc="38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feedback</a:t>
            </a:r>
            <a:r>
              <a:rPr dirty="0" sz="2900" spc="38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system</a:t>
            </a:r>
            <a:endParaRPr sz="2900">
              <a:latin typeface="Arial"/>
              <a:cs typeface="Arial"/>
            </a:endParaRPr>
          </a:p>
          <a:p>
            <a:pPr marL="640080" marR="5080" indent="-313055">
              <a:lnSpc>
                <a:spcPts val="2920"/>
              </a:lnSpc>
              <a:spcBef>
                <a:spcPts val="2920"/>
              </a:spcBef>
              <a:buFont typeface="Arial"/>
              <a:buChar char="•"/>
              <a:tabLst>
                <a:tab pos="641985" algn="l"/>
              </a:tabLst>
            </a:pPr>
            <a:r>
              <a:rPr dirty="0" sz="2900" b="1">
                <a:latin typeface="Arial"/>
                <a:cs typeface="Arial"/>
              </a:rPr>
              <a:t>Improves</a:t>
            </a:r>
            <a:r>
              <a:rPr dirty="0" sz="2900" spc="35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engagement</a:t>
            </a:r>
            <a:r>
              <a:rPr dirty="0" sz="2900" spc="35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through </a:t>
            </a:r>
            <a:r>
              <a:rPr dirty="0" sz="2900" spc="-10" b="1">
                <a:latin typeface="Arial"/>
                <a:cs typeface="Arial"/>
              </a:rPr>
              <a:t>	</a:t>
            </a:r>
            <a:r>
              <a:rPr dirty="0" sz="2900" b="1">
                <a:latin typeface="Arial"/>
                <a:cs typeface="Arial"/>
              </a:rPr>
              <a:t>interactive</a:t>
            </a:r>
            <a:r>
              <a:rPr dirty="0" sz="2900" spc="35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and</a:t>
            </a:r>
            <a:r>
              <a:rPr dirty="0" sz="2900" spc="35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personalized</a:t>
            </a:r>
            <a:r>
              <a:rPr dirty="0" sz="2900" spc="35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activities</a:t>
            </a:r>
            <a:endParaRPr sz="2900">
              <a:latin typeface="Arial"/>
              <a:cs typeface="Arial"/>
            </a:endParaRPr>
          </a:p>
          <a:p>
            <a:pPr marL="640080" indent="-313055">
              <a:lnSpc>
                <a:spcPct val="100000"/>
              </a:lnSpc>
              <a:spcBef>
                <a:spcPts val="2345"/>
              </a:spcBef>
              <a:buFont typeface="Arial"/>
              <a:buChar char="•"/>
              <a:tabLst>
                <a:tab pos="640080" algn="l"/>
              </a:tabLst>
            </a:pPr>
            <a:r>
              <a:rPr dirty="0" sz="2900" b="1">
                <a:latin typeface="Arial"/>
                <a:cs typeface="Arial"/>
              </a:rPr>
              <a:t>Supports</a:t>
            </a:r>
            <a:r>
              <a:rPr dirty="0" sz="2900" spc="17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SDG</a:t>
            </a:r>
            <a:r>
              <a:rPr dirty="0" sz="2900" spc="17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4</a:t>
            </a:r>
            <a:r>
              <a:rPr dirty="0" sz="2900" spc="17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–</a:t>
            </a:r>
            <a:r>
              <a:rPr dirty="0" sz="2900" spc="17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Quality</a:t>
            </a:r>
            <a:r>
              <a:rPr dirty="0" sz="2900" spc="175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Education.</a:t>
            </a:r>
            <a:endParaRPr sz="2900">
              <a:latin typeface="Arial"/>
              <a:cs typeface="Arial"/>
            </a:endParaRPr>
          </a:p>
          <a:p>
            <a:pPr marL="640080" marR="1523365" indent="-313055">
              <a:lnSpc>
                <a:spcPts val="2920"/>
              </a:lnSpc>
              <a:spcBef>
                <a:spcPts val="2920"/>
              </a:spcBef>
              <a:buFont typeface="Arial"/>
              <a:buChar char="•"/>
              <a:tabLst>
                <a:tab pos="641985" algn="l"/>
              </a:tabLst>
            </a:pPr>
            <a:r>
              <a:rPr dirty="0" sz="2900" b="1">
                <a:latin typeface="Arial"/>
                <a:cs typeface="Arial"/>
              </a:rPr>
              <a:t>Scalable</a:t>
            </a:r>
            <a:r>
              <a:rPr dirty="0" sz="2900" spc="24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and</a:t>
            </a:r>
            <a:r>
              <a:rPr dirty="0" sz="2900" spc="24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modular</a:t>
            </a:r>
            <a:r>
              <a:rPr dirty="0" sz="2900" spc="24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system 	architecture</a:t>
            </a:r>
            <a:endParaRPr sz="2900">
              <a:latin typeface="Arial"/>
              <a:cs typeface="Arial"/>
            </a:endParaRPr>
          </a:p>
          <a:p>
            <a:pPr marL="640080" indent="-313055">
              <a:lnSpc>
                <a:spcPts val="2630"/>
              </a:lnSpc>
              <a:buFont typeface="Arial"/>
              <a:buChar char="•"/>
              <a:tabLst>
                <a:tab pos="640080" algn="l"/>
              </a:tabLst>
            </a:pPr>
            <a:r>
              <a:rPr dirty="0" sz="2900" spc="-50" b="1">
                <a:latin typeface="Arial"/>
                <a:cs typeface="Arial"/>
              </a:rPr>
              <a:t>.</a:t>
            </a:r>
            <a:endParaRPr sz="2900">
              <a:latin typeface="Arial"/>
              <a:cs typeface="Arial"/>
            </a:endParaRPr>
          </a:p>
          <a:p>
            <a:pPr marL="12700" marR="353695">
              <a:lnSpc>
                <a:spcPts val="2920"/>
              </a:lnSpc>
              <a:spcBef>
                <a:spcPts val="280"/>
              </a:spcBef>
            </a:pPr>
            <a:r>
              <a:rPr dirty="0" sz="2900" b="1">
                <a:latin typeface="Arial"/>
                <a:cs typeface="Arial"/>
              </a:rPr>
              <a:t>Key</a:t>
            </a:r>
            <a:r>
              <a:rPr dirty="0" sz="2900" spc="17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Contribution</a:t>
            </a:r>
            <a:r>
              <a:rPr dirty="0" sz="2900" spc="150" b="1">
                <a:latin typeface="Arial"/>
                <a:cs typeface="Arial"/>
              </a:rPr>
              <a:t>  </a:t>
            </a:r>
            <a:r>
              <a:rPr dirty="0" sz="2900" b="1">
                <a:latin typeface="Arial"/>
                <a:cs typeface="Arial"/>
              </a:rPr>
              <a:t>-</a:t>
            </a:r>
            <a:r>
              <a:rPr dirty="0" sz="2900" spc="18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This</a:t>
            </a:r>
            <a:r>
              <a:rPr dirty="0" sz="2900" spc="18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research </a:t>
            </a:r>
            <a:r>
              <a:rPr dirty="0" sz="2900" b="1">
                <a:latin typeface="Arial"/>
                <a:cs typeface="Arial"/>
              </a:rPr>
              <a:t>introduces</a:t>
            </a:r>
            <a:r>
              <a:rPr dirty="0" sz="2900" spc="28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an</a:t>
            </a:r>
            <a:r>
              <a:rPr dirty="0" sz="2900" spc="28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adaptive</a:t>
            </a:r>
            <a:r>
              <a:rPr dirty="0" sz="2900" spc="28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learning</a:t>
            </a:r>
            <a:r>
              <a:rPr dirty="0" sz="2900" spc="28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system</a:t>
            </a:r>
            <a:endParaRPr sz="29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354057" y="2006206"/>
            <a:ext cx="0" cy="6492240"/>
          </a:xfrm>
          <a:custGeom>
            <a:avLst/>
            <a:gdLst/>
            <a:ahLst/>
            <a:cxnLst/>
            <a:rect l="l" t="t" r="r" b="b"/>
            <a:pathLst>
              <a:path w="0" h="6492240">
                <a:moveTo>
                  <a:pt x="0" y="0"/>
                </a:moveTo>
                <a:lnTo>
                  <a:pt x="0" y="649224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582657" y="1814817"/>
            <a:ext cx="7005320" cy="6043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User</a:t>
            </a:r>
            <a:r>
              <a:rPr dirty="0" u="sng" sz="3000" spc="2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Feedback</a:t>
            </a:r>
            <a:r>
              <a:rPr dirty="0" u="sng" sz="3000" spc="2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</a:t>
            </a:r>
            <a:r>
              <a:rPr dirty="0" u="sng" sz="3000" spc="2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Prototype</a:t>
            </a:r>
            <a:endParaRPr sz="3000">
              <a:latin typeface="Arial"/>
              <a:cs typeface="Arial"/>
            </a:endParaRPr>
          </a:p>
          <a:p>
            <a:pPr marL="666115" marR="30480" indent="-313690">
              <a:lnSpc>
                <a:spcPts val="2920"/>
              </a:lnSpc>
              <a:spcBef>
                <a:spcPts val="2920"/>
              </a:spcBef>
              <a:buFont typeface="Arial"/>
              <a:buChar char="•"/>
              <a:tabLst>
                <a:tab pos="668020" algn="l"/>
              </a:tabLst>
            </a:pPr>
            <a:r>
              <a:rPr dirty="0" sz="2900" b="1">
                <a:latin typeface="Arial"/>
                <a:cs typeface="Arial"/>
              </a:rPr>
              <a:t>Students</a:t>
            </a:r>
            <a:r>
              <a:rPr dirty="0" sz="2900" spc="30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found</a:t>
            </a:r>
            <a:r>
              <a:rPr dirty="0" sz="2900" spc="30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activities</a:t>
            </a:r>
            <a:r>
              <a:rPr dirty="0" sz="2900" spc="305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engaging </a:t>
            </a:r>
            <a:r>
              <a:rPr dirty="0" sz="2900" spc="-10" b="1">
                <a:latin typeface="Arial"/>
                <a:cs typeface="Arial"/>
              </a:rPr>
              <a:t>	</a:t>
            </a:r>
            <a:r>
              <a:rPr dirty="0" sz="2900" b="1">
                <a:latin typeface="Arial"/>
                <a:cs typeface="Arial"/>
              </a:rPr>
              <a:t>and</a:t>
            </a:r>
            <a:r>
              <a:rPr dirty="0" sz="2900" spc="17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easier</a:t>
            </a:r>
            <a:r>
              <a:rPr dirty="0" sz="2900" spc="17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to</a:t>
            </a:r>
            <a:r>
              <a:rPr dirty="0" sz="2900" spc="175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understand.</a:t>
            </a:r>
            <a:endParaRPr sz="2900">
              <a:latin typeface="Arial"/>
              <a:cs typeface="Arial"/>
            </a:endParaRPr>
          </a:p>
          <a:p>
            <a:pPr marL="666115" marR="791845" indent="-313690">
              <a:lnSpc>
                <a:spcPts val="2920"/>
              </a:lnSpc>
              <a:spcBef>
                <a:spcPts val="2915"/>
              </a:spcBef>
              <a:buFont typeface="Arial"/>
              <a:buChar char="•"/>
              <a:tabLst>
                <a:tab pos="668020" algn="l"/>
              </a:tabLst>
            </a:pPr>
            <a:r>
              <a:rPr dirty="0" sz="2900" b="1">
                <a:latin typeface="Arial"/>
                <a:cs typeface="Arial"/>
              </a:rPr>
              <a:t>Teachers</a:t>
            </a:r>
            <a:r>
              <a:rPr dirty="0" sz="2900" spc="38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appreciated</a:t>
            </a:r>
            <a:r>
              <a:rPr dirty="0" sz="2900" spc="38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adaptive </a:t>
            </a:r>
            <a:r>
              <a:rPr dirty="0" sz="2900" spc="-10" b="1">
                <a:latin typeface="Arial"/>
                <a:cs typeface="Arial"/>
              </a:rPr>
              <a:t>	</a:t>
            </a:r>
            <a:r>
              <a:rPr dirty="0" sz="2900" b="1">
                <a:latin typeface="Arial"/>
                <a:cs typeface="Arial"/>
              </a:rPr>
              <a:t>difficulty</a:t>
            </a:r>
            <a:r>
              <a:rPr dirty="0" sz="2900" spc="405" b="1">
                <a:latin typeface="Arial"/>
                <a:cs typeface="Arial"/>
              </a:rPr>
              <a:t> </a:t>
            </a:r>
            <a:r>
              <a:rPr dirty="0" sz="2900" spc="50" b="1">
                <a:latin typeface="Arial"/>
                <a:cs typeface="Arial"/>
              </a:rPr>
              <a:t>adjustme</a:t>
            </a:r>
            <a:r>
              <a:rPr dirty="0" sz="2900" spc="-10" b="1">
                <a:latin typeface="Arial"/>
                <a:cs typeface="Arial"/>
              </a:rPr>
              <a:t>n</a:t>
            </a:r>
            <a:r>
              <a:rPr dirty="0" baseline="-31914" sz="3525" spc="-885" b="1">
                <a:latin typeface="Arial"/>
                <a:cs typeface="Arial"/>
              </a:rPr>
              <a:t>.</a:t>
            </a:r>
            <a:r>
              <a:rPr dirty="0" sz="2900" spc="50" b="1">
                <a:latin typeface="Arial"/>
                <a:cs typeface="Arial"/>
              </a:rPr>
              <a:t>t</a:t>
            </a:r>
            <a:r>
              <a:rPr dirty="0" sz="2900" spc="10" b="1">
                <a:latin typeface="Arial"/>
                <a:cs typeface="Arial"/>
              </a:rPr>
              <a:t>.</a:t>
            </a:r>
            <a:endParaRPr sz="2900">
              <a:latin typeface="Arial"/>
              <a:cs typeface="Arial"/>
            </a:endParaRPr>
          </a:p>
          <a:p>
            <a:pPr marL="666115" marR="306705" indent="-313690">
              <a:lnSpc>
                <a:spcPts val="2920"/>
              </a:lnSpc>
              <a:spcBef>
                <a:spcPts val="2920"/>
              </a:spcBef>
              <a:buFont typeface="Arial"/>
              <a:buChar char="•"/>
              <a:tabLst>
                <a:tab pos="668020" algn="l"/>
              </a:tabLst>
            </a:pPr>
            <a:r>
              <a:rPr dirty="0" sz="2900" b="1">
                <a:latin typeface="Arial"/>
                <a:cs typeface="Arial"/>
              </a:rPr>
              <a:t>Visual</a:t>
            </a:r>
            <a:r>
              <a:rPr dirty="0" sz="2900" spc="27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learning</a:t>
            </a:r>
            <a:r>
              <a:rPr dirty="0" sz="2900" spc="27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support</a:t>
            </a:r>
            <a:r>
              <a:rPr dirty="0" sz="2900" spc="27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improved </a:t>
            </a:r>
            <a:r>
              <a:rPr dirty="0" sz="2900" spc="-10" b="1">
                <a:latin typeface="Arial"/>
                <a:cs typeface="Arial"/>
              </a:rPr>
              <a:t>	</a:t>
            </a:r>
            <a:r>
              <a:rPr dirty="0" sz="2900" b="1">
                <a:latin typeface="Arial"/>
                <a:cs typeface="Arial"/>
              </a:rPr>
              <a:t>student</a:t>
            </a:r>
            <a:r>
              <a:rPr dirty="0" sz="2900" spc="27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interaction.</a:t>
            </a:r>
            <a:endParaRPr sz="2900">
              <a:latin typeface="Arial"/>
              <a:cs typeface="Arial"/>
            </a:endParaRPr>
          </a:p>
          <a:p>
            <a:pPr marL="666115" marR="598805" indent="-313690">
              <a:lnSpc>
                <a:spcPts val="2920"/>
              </a:lnSpc>
              <a:spcBef>
                <a:spcPts val="2915"/>
              </a:spcBef>
              <a:buFont typeface="Arial"/>
              <a:buChar char="•"/>
              <a:tabLst>
                <a:tab pos="668020" algn="l"/>
              </a:tabLst>
            </a:pPr>
            <a:r>
              <a:rPr dirty="0" sz="2900" b="1">
                <a:latin typeface="Arial"/>
                <a:cs typeface="Arial"/>
              </a:rPr>
              <a:t>Real-time</a:t>
            </a:r>
            <a:r>
              <a:rPr dirty="0" sz="2900" spc="27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hints</a:t>
            </a:r>
            <a:r>
              <a:rPr dirty="0" sz="2900" spc="27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helped</a:t>
            </a:r>
            <a:r>
              <a:rPr dirty="0" sz="2900" spc="275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students </a:t>
            </a:r>
            <a:r>
              <a:rPr dirty="0" sz="2900" spc="-10" b="1">
                <a:latin typeface="Arial"/>
                <a:cs typeface="Arial"/>
              </a:rPr>
              <a:t>	</a:t>
            </a:r>
            <a:r>
              <a:rPr dirty="0" sz="2900" b="1">
                <a:latin typeface="Arial"/>
                <a:cs typeface="Arial"/>
              </a:rPr>
              <a:t>correct</a:t>
            </a:r>
            <a:r>
              <a:rPr dirty="0" sz="2900" spc="33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mistakes</a:t>
            </a:r>
            <a:r>
              <a:rPr dirty="0" sz="2900" spc="335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effectively.</a:t>
            </a:r>
            <a:endParaRPr sz="2900">
              <a:latin typeface="Arial"/>
              <a:cs typeface="Arial"/>
            </a:endParaRPr>
          </a:p>
          <a:p>
            <a:pPr marL="666115" marR="474980" indent="-313690">
              <a:lnSpc>
                <a:spcPts val="2920"/>
              </a:lnSpc>
              <a:spcBef>
                <a:spcPts val="2915"/>
              </a:spcBef>
              <a:buFont typeface="Arial"/>
              <a:buChar char="•"/>
              <a:tabLst>
                <a:tab pos="668020" algn="l"/>
              </a:tabLst>
            </a:pPr>
            <a:r>
              <a:rPr dirty="0" sz="2900" b="1">
                <a:latin typeface="Arial"/>
                <a:cs typeface="Arial"/>
              </a:rPr>
              <a:t>Positive</a:t>
            </a:r>
            <a:r>
              <a:rPr dirty="0" sz="2900" spc="25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feedback</a:t>
            </a:r>
            <a:r>
              <a:rPr dirty="0" sz="2900" spc="254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on</a:t>
            </a:r>
            <a:r>
              <a:rPr dirty="0" sz="2900" spc="254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simple</a:t>
            </a:r>
            <a:r>
              <a:rPr dirty="0" sz="2900" spc="250" b="1">
                <a:latin typeface="Arial"/>
                <a:cs typeface="Arial"/>
              </a:rPr>
              <a:t> </a:t>
            </a:r>
            <a:r>
              <a:rPr dirty="0" sz="2900" spc="-25" b="1">
                <a:latin typeface="Arial"/>
                <a:cs typeface="Arial"/>
              </a:rPr>
              <a:t>and </a:t>
            </a:r>
            <a:r>
              <a:rPr dirty="0" sz="2900" spc="-25" b="1">
                <a:latin typeface="Arial"/>
                <a:cs typeface="Arial"/>
              </a:rPr>
              <a:t>	</a:t>
            </a:r>
            <a:r>
              <a:rPr dirty="0" sz="2900" b="1">
                <a:latin typeface="Arial"/>
                <a:cs typeface="Arial"/>
              </a:rPr>
              <a:t>child-friendly</a:t>
            </a:r>
            <a:r>
              <a:rPr dirty="0" sz="2900" spc="31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UI</a:t>
            </a:r>
            <a:r>
              <a:rPr dirty="0" sz="2900" spc="32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design.</a:t>
            </a:r>
            <a:endParaRPr sz="2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0749" y="9238830"/>
            <a:ext cx="719137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b="1">
                <a:latin typeface="Arial"/>
                <a:cs typeface="Arial"/>
              </a:rPr>
              <a:t>that</a:t>
            </a:r>
            <a:r>
              <a:rPr dirty="0" sz="2900" spc="31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provides</a:t>
            </a:r>
            <a:r>
              <a:rPr dirty="0" sz="2900" spc="31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personalized</a:t>
            </a:r>
            <a:r>
              <a:rPr dirty="0" sz="2900" spc="31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learning</a:t>
            </a:r>
            <a:r>
              <a:rPr dirty="0" sz="2900" spc="315" b="1">
                <a:latin typeface="Arial"/>
                <a:cs typeface="Arial"/>
              </a:rPr>
              <a:t> </a:t>
            </a:r>
            <a:r>
              <a:rPr dirty="0" sz="2900" spc="-25" b="1">
                <a:latin typeface="Arial"/>
                <a:cs typeface="Arial"/>
              </a:rPr>
              <a:t>and</a:t>
            </a:r>
            <a:endParaRPr sz="2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0749" y="9979748"/>
            <a:ext cx="170624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10" b="1">
                <a:latin typeface="Arial"/>
                <a:cs typeface="Arial"/>
              </a:rPr>
              <a:t>students.</a:t>
            </a:r>
            <a:endParaRPr sz="2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5349" y="9670021"/>
            <a:ext cx="1134300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5325" sz="4350" b="1">
                <a:latin typeface="Arial"/>
                <a:cs typeface="Arial"/>
              </a:rPr>
              <a:t>real-time</a:t>
            </a:r>
            <a:r>
              <a:rPr dirty="0" baseline="15325" sz="4350" spc="434" b="1">
                <a:latin typeface="Arial"/>
                <a:cs typeface="Arial"/>
              </a:rPr>
              <a:t> </a:t>
            </a:r>
            <a:r>
              <a:rPr dirty="0" baseline="15325" sz="4350" b="1">
                <a:latin typeface="Arial"/>
                <a:cs typeface="Arial"/>
              </a:rPr>
              <a:t>feedback</a:t>
            </a:r>
            <a:r>
              <a:rPr dirty="0" baseline="15325" sz="4350" spc="442" b="1">
                <a:latin typeface="Arial"/>
                <a:cs typeface="Arial"/>
              </a:rPr>
              <a:t> </a:t>
            </a:r>
            <a:r>
              <a:rPr dirty="0" baseline="15325" sz="4350" spc="44" b="1">
                <a:latin typeface="Arial"/>
                <a:cs typeface="Arial"/>
              </a:rPr>
              <a:t>f</a:t>
            </a:r>
            <a:r>
              <a:rPr dirty="0" baseline="15325" sz="4350" spc="-217" b="1">
                <a:latin typeface="Arial"/>
                <a:cs typeface="Arial"/>
              </a:rPr>
              <a:t>o</a:t>
            </a:r>
            <a:r>
              <a:rPr dirty="0" sz="3200" spc="-730" b="1">
                <a:solidFill>
                  <a:srgbClr val="0D1C38"/>
                </a:solidFill>
                <a:latin typeface="Arial"/>
                <a:cs typeface="Arial"/>
              </a:rPr>
              <a:t>I</a:t>
            </a:r>
            <a:r>
              <a:rPr dirty="0" baseline="15325" sz="4350" spc="-562" b="1">
                <a:latin typeface="Arial"/>
                <a:cs typeface="Arial"/>
              </a:rPr>
              <a:t>r</a:t>
            </a:r>
            <a:r>
              <a:rPr dirty="0" sz="3200" spc="-715" b="1">
                <a:solidFill>
                  <a:srgbClr val="0D1C38"/>
                </a:solidFill>
                <a:latin typeface="Arial"/>
                <a:cs typeface="Arial"/>
              </a:rPr>
              <a:t>T</a:t>
            </a:r>
            <a:r>
              <a:rPr dirty="0" baseline="15325" sz="4350" spc="-1575" b="1">
                <a:latin typeface="Arial"/>
                <a:cs typeface="Arial"/>
              </a:rPr>
              <a:t>d</a:t>
            </a:r>
            <a:r>
              <a:rPr dirty="0" sz="3200" spc="-725" b="1">
                <a:solidFill>
                  <a:srgbClr val="0D1C38"/>
                </a:solidFill>
                <a:latin typeface="Arial"/>
                <a:cs typeface="Arial"/>
              </a:rPr>
              <a:t>2</a:t>
            </a:r>
            <a:r>
              <a:rPr dirty="0" baseline="15325" sz="4350" spc="-1297" b="1">
                <a:latin typeface="Arial"/>
                <a:cs typeface="Arial"/>
              </a:rPr>
              <a:t>y</a:t>
            </a:r>
            <a:r>
              <a:rPr dirty="0" sz="3200" spc="-894" b="1">
                <a:solidFill>
                  <a:srgbClr val="0D1C38"/>
                </a:solidFill>
                <a:latin typeface="Arial"/>
                <a:cs typeface="Arial"/>
              </a:rPr>
              <a:t>2</a:t>
            </a:r>
            <a:r>
              <a:rPr dirty="0" baseline="15325" sz="4350" spc="-1042" b="1">
                <a:latin typeface="Arial"/>
                <a:cs typeface="Arial"/>
              </a:rPr>
              <a:t>s</a:t>
            </a:r>
            <a:r>
              <a:rPr dirty="0" sz="3200" spc="-1065" b="1">
                <a:solidFill>
                  <a:srgbClr val="0D1C38"/>
                </a:solidFill>
                <a:latin typeface="Arial"/>
                <a:cs typeface="Arial"/>
              </a:rPr>
              <a:t>2</a:t>
            </a:r>
            <a:r>
              <a:rPr dirty="0" baseline="15325" sz="4350" spc="-787" b="1">
                <a:latin typeface="Arial"/>
                <a:cs typeface="Arial"/>
              </a:rPr>
              <a:t>c</a:t>
            </a:r>
            <a:r>
              <a:rPr dirty="0" sz="3200" spc="-1240" b="1">
                <a:solidFill>
                  <a:srgbClr val="0D1C38"/>
                </a:solidFill>
                <a:latin typeface="Arial"/>
                <a:cs typeface="Arial"/>
              </a:rPr>
              <a:t>2</a:t>
            </a:r>
            <a:r>
              <a:rPr dirty="0" baseline="15325" sz="4350" spc="-532" b="1">
                <a:latin typeface="Arial"/>
                <a:cs typeface="Arial"/>
              </a:rPr>
              <a:t>a</a:t>
            </a:r>
            <a:r>
              <a:rPr dirty="0" sz="3200" spc="-1410" b="1">
                <a:solidFill>
                  <a:srgbClr val="0D1C38"/>
                </a:solidFill>
                <a:latin typeface="Arial"/>
                <a:cs typeface="Arial"/>
              </a:rPr>
              <a:t>4</a:t>
            </a:r>
            <a:r>
              <a:rPr dirty="0" baseline="15325" sz="4350" spc="44" b="1">
                <a:latin typeface="Arial"/>
                <a:cs typeface="Arial"/>
              </a:rPr>
              <a:t>l</a:t>
            </a:r>
            <a:r>
              <a:rPr dirty="0" baseline="15325" sz="4350" spc="-1545" b="1">
                <a:latin typeface="Arial"/>
                <a:cs typeface="Arial"/>
              </a:rPr>
              <a:t>c</a:t>
            </a:r>
            <a:r>
              <a:rPr dirty="0" sz="3200" spc="-730" b="1">
                <a:solidFill>
                  <a:srgbClr val="0D1C38"/>
                </a:solidFill>
                <a:latin typeface="Arial"/>
                <a:cs typeface="Arial"/>
              </a:rPr>
              <a:t>3</a:t>
            </a:r>
            <a:r>
              <a:rPr dirty="0" baseline="15325" sz="4350" spc="-1552" b="1">
                <a:latin typeface="Arial"/>
                <a:cs typeface="Arial"/>
              </a:rPr>
              <a:t>u</a:t>
            </a:r>
            <a:r>
              <a:rPr dirty="0" sz="3200" spc="-745" b="1">
                <a:solidFill>
                  <a:srgbClr val="0D1C38"/>
                </a:solidFill>
                <a:latin typeface="Arial"/>
                <a:cs typeface="Arial"/>
              </a:rPr>
              <a:t>1</a:t>
            </a:r>
            <a:r>
              <a:rPr dirty="0" baseline="15325" sz="4350" spc="-60" b="1">
                <a:latin typeface="Arial"/>
                <a:cs typeface="Arial"/>
              </a:rPr>
              <a:t>l</a:t>
            </a:r>
            <a:r>
              <a:rPr dirty="0" sz="3200" spc="-1720" b="1">
                <a:solidFill>
                  <a:srgbClr val="0D1C38"/>
                </a:solidFill>
                <a:latin typeface="Arial"/>
                <a:cs typeface="Arial"/>
              </a:rPr>
              <a:t>6</a:t>
            </a:r>
            <a:r>
              <a:rPr dirty="0" baseline="15325" sz="4350" spc="44" b="1">
                <a:latin typeface="Arial"/>
                <a:cs typeface="Arial"/>
              </a:rPr>
              <a:t>i</a:t>
            </a:r>
            <a:r>
              <a:rPr dirty="0" baseline="15325" sz="4350" spc="330" b="1">
                <a:latin typeface="Arial"/>
                <a:cs typeface="Arial"/>
              </a:rPr>
              <a:t>a</a:t>
            </a:r>
            <a:r>
              <a:rPr dirty="0" sz="3200" spc="-1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Dhananjani</a:t>
            </a:r>
            <a:r>
              <a:rPr dirty="0" sz="320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G.A.U.</a:t>
            </a:r>
            <a:r>
              <a:rPr dirty="0" sz="320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spc="-2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28191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E2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28700" y="684814"/>
            <a:ext cx="16230600" cy="9006840"/>
          </a:xfrm>
          <a:custGeom>
            <a:avLst/>
            <a:gdLst/>
            <a:ahLst/>
            <a:cxnLst/>
            <a:rect l="l" t="t" r="r" b="b"/>
            <a:pathLst>
              <a:path w="16230600" h="9006840">
                <a:moveTo>
                  <a:pt x="16230600" y="0"/>
                </a:moveTo>
                <a:lnTo>
                  <a:pt x="0" y="0"/>
                </a:lnTo>
                <a:lnTo>
                  <a:pt x="0" y="9006446"/>
                </a:lnTo>
                <a:lnTo>
                  <a:pt x="16230600" y="9006446"/>
                </a:lnTo>
                <a:lnTo>
                  <a:pt x="16230600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42058" y="648797"/>
            <a:ext cx="11738610" cy="6578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Interactive</a:t>
            </a:r>
            <a:r>
              <a:rPr dirty="0" spc="370"/>
              <a:t> </a:t>
            </a:r>
            <a:r>
              <a:rPr dirty="0"/>
              <a:t>Learning</a:t>
            </a:r>
            <a:r>
              <a:rPr dirty="0" spc="380"/>
              <a:t> </a:t>
            </a:r>
            <a:r>
              <a:rPr dirty="0"/>
              <a:t>Tool</a:t>
            </a:r>
            <a:r>
              <a:rPr dirty="0" spc="375"/>
              <a:t> </a:t>
            </a:r>
            <a:r>
              <a:rPr dirty="0"/>
              <a:t>for</a:t>
            </a:r>
            <a:r>
              <a:rPr dirty="0" spc="380"/>
              <a:t> </a:t>
            </a:r>
            <a:r>
              <a:rPr dirty="0"/>
              <a:t>Dyscalculia</a:t>
            </a:r>
            <a:r>
              <a:rPr dirty="0" spc="380"/>
              <a:t> </a:t>
            </a:r>
            <a:r>
              <a:rPr dirty="0" spc="-20"/>
              <a:t>kids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94908" y="3726002"/>
            <a:ext cx="12560300" cy="3448050"/>
          </a:xfrm>
          <a:prstGeom prst="rect">
            <a:avLst/>
          </a:prstGeom>
        </p:spPr>
        <p:txBody>
          <a:bodyPr wrap="square" lIns="0" tIns="3987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40"/>
              </a:spcBef>
            </a:pPr>
            <a:r>
              <a:rPr dirty="0" sz="4900" spc="60" b="1">
                <a:solidFill>
                  <a:srgbClr val="0D1C38"/>
                </a:solidFill>
                <a:latin typeface="Arial"/>
                <a:cs typeface="Arial"/>
              </a:rPr>
              <a:t>IT22117878</a:t>
            </a:r>
            <a:r>
              <a:rPr dirty="0" sz="4900" spc="145" b="1">
                <a:solidFill>
                  <a:srgbClr val="0D1C38"/>
                </a:solidFill>
                <a:latin typeface="Arial"/>
                <a:cs typeface="Arial"/>
              </a:rPr>
              <a:t>  </a:t>
            </a:r>
            <a:r>
              <a:rPr dirty="0" sz="49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4900" spc="150" b="1">
                <a:solidFill>
                  <a:srgbClr val="0D1C38"/>
                </a:solidFill>
                <a:latin typeface="Arial"/>
                <a:cs typeface="Arial"/>
              </a:rPr>
              <a:t>  </a:t>
            </a:r>
            <a:r>
              <a:rPr dirty="0" sz="4900" b="1">
                <a:solidFill>
                  <a:srgbClr val="0D1C38"/>
                </a:solidFill>
                <a:latin typeface="Arial"/>
                <a:cs typeface="Arial"/>
              </a:rPr>
              <a:t>Alwis</a:t>
            </a:r>
            <a:r>
              <a:rPr dirty="0" sz="4900" spc="1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4900" spc="-10" b="1">
                <a:solidFill>
                  <a:srgbClr val="0D1C38"/>
                </a:solidFill>
                <a:latin typeface="Arial"/>
                <a:cs typeface="Arial"/>
              </a:rPr>
              <a:t>L.P.M</a:t>
            </a:r>
            <a:endParaRPr sz="4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35"/>
              </a:spcBef>
            </a:pPr>
            <a:r>
              <a:rPr dirty="0" sz="4900" spc="55" b="1">
                <a:solidFill>
                  <a:srgbClr val="0D1C38"/>
                </a:solidFill>
                <a:latin typeface="Arial"/>
                <a:cs typeface="Arial"/>
              </a:rPr>
              <a:t>Adaptive</a:t>
            </a:r>
            <a:r>
              <a:rPr dirty="0" sz="4900" spc="15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4900" spc="50" b="1">
                <a:solidFill>
                  <a:srgbClr val="0D1C38"/>
                </a:solidFill>
                <a:latin typeface="Arial"/>
                <a:cs typeface="Arial"/>
              </a:rPr>
              <a:t>Game-</a:t>
            </a:r>
            <a:r>
              <a:rPr dirty="0" sz="4900" spc="55" b="1">
                <a:solidFill>
                  <a:srgbClr val="0D1C38"/>
                </a:solidFill>
                <a:latin typeface="Arial"/>
                <a:cs typeface="Arial"/>
              </a:rPr>
              <a:t>Based</a:t>
            </a:r>
            <a:r>
              <a:rPr dirty="0" sz="4900" spc="1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4900" spc="55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r>
              <a:rPr dirty="0" sz="4900" spc="1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4900" spc="45" b="1">
                <a:solidFill>
                  <a:srgbClr val="0D1C38"/>
                </a:solidFill>
                <a:latin typeface="Arial"/>
                <a:cs typeface="Arial"/>
              </a:rPr>
              <a:t>Engine</a:t>
            </a:r>
            <a:endParaRPr sz="4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550"/>
              </a:spcBef>
            </a:pPr>
            <a:r>
              <a:rPr dirty="0" sz="3800" spc="45" b="1">
                <a:solidFill>
                  <a:srgbClr val="0D1C38"/>
                </a:solidFill>
                <a:latin typeface="Arial"/>
                <a:cs typeface="Arial"/>
              </a:rPr>
              <a:t>Specialization:</a:t>
            </a:r>
            <a:r>
              <a:rPr dirty="0" sz="380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800" b="1">
                <a:solidFill>
                  <a:srgbClr val="0D1C38"/>
                </a:solidFill>
                <a:latin typeface="Arial"/>
                <a:cs typeface="Arial"/>
              </a:rPr>
              <a:t>BSc(Hons)</a:t>
            </a:r>
            <a:r>
              <a:rPr dirty="0" sz="380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800" b="1">
                <a:solidFill>
                  <a:srgbClr val="0D1C38"/>
                </a:solidFill>
                <a:latin typeface="Arial"/>
                <a:cs typeface="Arial"/>
              </a:rPr>
              <a:t>in</a:t>
            </a:r>
            <a:r>
              <a:rPr dirty="0" sz="380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800" b="1">
                <a:solidFill>
                  <a:srgbClr val="0D1C38"/>
                </a:solidFill>
                <a:latin typeface="Arial"/>
                <a:cs typeface="Arial"/>
              </a:rPr>
              <a:t>Information</a:t>
            </a:r>
            <a:r>
              <a:rPr dirty="0" sz="380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800" spc="-10" b="1">
                <a:solidFill>
                  <a:srgbClr val="0D1C38"/>
                </a:solidFill>
                <a:latin typeface="Arial"/>
                <a:cs typeface="Arial"/>
              </a:rPr>
              <a:t>Technology</a:t>
            </a:r>
            <a:endParaRPr sz="3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2366" y="9188754"/>
            <a:ext cx="6706234" cy="91948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3007995" marR="5080" indent="-2995930">
              <a:lnSpc>
                <a:spcPts val="3200"/>
              </a:lnSpc>
              <a:spcBef>
                <a:spcPts val="740"/>
              </a:spcBef>
            </a:pP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IT22117878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Alwis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L.P.M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r>
              <a:rPr dirty="0" sz="3200" spc="-25" b="1">
                <a:solidFill>
                  <a:srgbClr val="0D1C38"/>
                </a:solidFill>
                <a:latin typeface="Arial"/>
                <a:cs typeface="Arial"/>
              </a:rPr>
              <a:t>IT-138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E2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28700" y="684814"/>
            <a:ext cx="16230600" cy="9006840"/>
          </a:xfrm>
          <a:custGeom>
            <a:avLst/>
            <a:gdLst/>
            <a:ahLst/>
            <a:cxnLst/>
            <a:rect l="l" t="t" r="r" b="b"/>
            <a:pathLst>
              <a:path w="16230600" h="9006840">
                <a:moveTo>
                  <a:pt x="16230600" y="0"/>
                </a:moveTo>
                <a:lnTo>
                  <a:pt x="0" y="0"/>
                </a:lnTo>
                <a:lnTo>
                  <a:pt x="0" y="9006446"/>
                </a:lnTo>
                <a:lnTo>
                  <a:pt x="16230600" y="9006446"/>
                </a:lnTo>
                <a:lnTo>
                  <a:pt x="16230600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912438" y="678320"/>
            <a:ext cx="8201025" cy="1182370"/>
          </a:xfrm>
          <a:prstGeom prst="rect"/>
        </p:spPr>
        <p:txBody>
          <a:bodyPr wrap="square" lIns="0" tIns="120014" rIns="0" bIns="0" rtlCol="0" vert="horz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944"/>
              </a:spcBef>
            </a:pPr>
            <a:r>
              <a:rPr dirty="0"/>
              <a:t>Adaptive</a:t>
            </a:r>
            <a:r>
              <a:rPr dirty="0" spc="425"/>
              <a:t> </a:t>
            </a:r>
            <a:r>
              <a:rPr dirty="0"/>
              <a:t>Game-Based</a:t>
            </a:r>
            <a:r>
              <a:rPr dirty="0" spc="425"/>
              <a:t> </a:t>
            </a:r>
            <a:r>
              <a:rPr dirty="0" spc="-10"/>
              <a:t>Learning Engine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92347" y="1970316"/>
            <a:ext cx="12985750" cy="7646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How</a:t>
            </a:r>
            <a:r>
              <a:rPr dirty="0" sz="3300" spc="2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the</a:t>
            </a:r>
            <a:r>
              <a:rPr dirty="0" sz="3300" spc="2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Solution</a:t>
            </a:r>
            <a:r>
              <a:rPr dirty="0" sz="330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Addresses</a:t>
            </a:r>
            <a:r>
              <a:rPr dirty="0" sz="3300" spc="2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the</a:t>
            </a:r>
            <a:r>
              <a:rPr dirty="0" sz="330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Sub-Problem</a:t>
            </a:r>
            <a:r>
              <a:rPr dirty="0" sz="3300" spc="2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/</a:t>
            </a:r>
            <a:r>
              <a:rPr dirty="0" sz="330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Prototype</a:t>
            </a:r>
            <a:endParaRPr sz="3300">
              <a:latin typeface="Arial"/>
              <a:cs typeface="Arial"/>
            </a:endParaRPr>
          </a:p>
          <a:p>
            <a:pPr marL="722630" marR="1577975" indent="-354330">
              <a:lnSpc>
                <a:spcPts val="3300"/>
              </a:lnSpc>
              <a:spcBef>
                <a:spcPts val="3294"/>
              </a:spcBef>
              <a:buFont typeface="Arial"/>
              <a:buChar char="•"/>
              <a:tabLst>
                <a:tab pos="724535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Provides</a:t>
            </a:r>
            <a:r>
              <a:rPr dirty="0" sz="3300" spc="32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interactive</a:t>
            </a:r>
            <a:r>
              <a:rPr dirty="0" sz="3300" spc="32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math</a:t>
            </a:r>
            <a:r>
              <a:rPr dirty="0" sz="3300" spc="32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r>
              <a:rPr dirty="0" sz="3300" spc="33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through</a:t>
            </a:r>
            <a:r>
              <a:rPr dirty="0" sz="3300" spc="32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adaptive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	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educational</a:t>
            </a:r>
            <a:r>
              <a:rPr dirty="0" sz="3300" spc="45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games.</a:t>
            </a:r>
            <a:endParaRPr sz="3300">
              <a:latin typeface="Arial"/>
              <a:cs typeface="Arial"/>
            </a:endParaRPr>
          </a:p>
          <a:p>
            <a:pPr marL="722630" indent="-354330">
              <a:lnSpc>
                <a:spcPts val="2965"/>
              </a:lnSpc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Dynamically</a:t>
            </a:r>
            <a:r>
              <a:rPr dirty="0" sz="330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adjusts</a:t>
            </a:r>
            <a:r>
              <a:rPr dirty="0" sz="330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difficulty</a:t>
            </a:r>
            <a:r>
              <a:rPr dirty="0" sz="330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based</a:t>
            </a:r>
            <a:r>
              <a:rPr dirty="0" sz="330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on</a:t>
            </a:r>
            <a:r>
              <a:rPr dirty="0" sz="330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student</a:t>
            </a:r>
            <a:endParaRPr sz="3300">
              <a:latin typeface="Arial"/>
              <a:cs typeface="Arial"/>
            </a:endParaRPr>
          </a:p>
          <a:p>
            <a:pPr marL="724535">
              <a:lnSpc>
                <a:spcPts val="3295"/>
              </a:lnSpc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performance</a:t>
            </a:r>
            <a:r>
              <a:rPr dirty="0" sz="330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30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response</a:t>
            </a:r>
            <a:r>
              <a:rPr dirty="0" sz="330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time.</a:t>
            </a:r>
            <a:endParaRPr sz="3300">
              <a:latin typeface="Arial"/>
              <a:cs typeface="Arial"/>
            </a:endParaRPr>
          </a:p>
          <a:p>
            <a:pPr marL="722630" marR="1746885" indent="-354330">
              <a:lnSpc>
                <a:spcPts val="3300"/>
              </a:lnSpc>
              <a:spcBef>
                <a:spcPts val="325"/>
              </a:spcBef>
              <a:buFont typeface="Arial"/>
              <a:buChar char="•"/>
              <a:tabLst>
                <a:tab pos="724535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Uses</a:t>
            </a:r>
            <a:r>
              <a:rPr dirty="0" sz="33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gamification</a:t>
            </a:r>
            <a:r>
              <a:rPr dirty="0" sz="33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features</a:t>
            </a:r>
            <a:r>
              <a:rPr dirty="0" sz="33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such</a:t>
            </a:r>
            <a:r>
              <a:rPr dirty="0" sz="3300" spc="2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as</a:t>
            </a:r>
            <a:r>
              <a:rPr dirty="0" sz="33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points,</a:t>
            </a:r>
            <a:r>
              <a:rPr dirty="0" sz="33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badges,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	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rewards,</a:t>
            </a:r>
            <a:r>
              <a:rPr dirty="0" sz="3300" spc="22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300" spc="22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levels</a:t>
            </a:r>
            <a:r>
              <a:rPr dirty="0" sz="3300" spc="22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to</a:t>
            </a:r>
            <a:r>
              <a:rPr dirty="0" sz="3300" spc="23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improve</a:t>
            </a:r>
            <a:r>
              <a:rPr dirty="0" sz="3300" spc="229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motivation.</a:t>
            </a:r>
            <a:endParaRPr sz="3300">
              <a:latin typeface="Arial"/>
              <a:cs typeface="Arial"/>
            </a:endParaRPr>
          </a:p>
          <a:p>
            <a:pPr marL="722630" indent="-354330">
              <a:lnSpc>
                <a:spcPts val="2960"/>
              </a:lnSpc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Reduces</a:t>
            </a:r>
            <a:r>
              <a:rPr dirty="0" sz="330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boredom</a:t>
            </a:r>
            <a:r>
              <a:rPr dirty="0" sz="330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30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frustration</a:t>
            </a:r>
            <a:r>
              <a:rPr dirty="0" sz="330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by</a:t>
            </a:r>
            <a:r>
              <a:rPr dirty="0" sz="330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personalizing</a:t>
            </a:r>
            <a:r>
              <a:rPr dirty="0" sz="330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endParaRPr sz="3300">
              <a:latin typeface="Arial"/>
              <a:cs typeface="Arial"/>
            </a:endParaRPr>
          </a:p>
          <a:p>
            <a:pPr marL="724535">
              <a:lnSpc>
                <a:spcPts val="3629"/>
              </a:lnSpc>
            </a:pP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activities.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35"/>
              </a:spcBef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User</a:t>
            </a:r>
            <a:r>
              <a:rPr dirty="0" sz="330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Requirements</a:t>
            </a:r>
            <a:r>
              <a:rPr dirty="0" sz="330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Addressed</a:t>
            </a:r>
            <a:endParaRPr sz="3300">
              <a:latin typeface="Arial"/>
              <a:cs typeface="Arial"/>
            </a:endParaRPr>
          </a:p>
          <a:p>
            <a:pPr marL="722630" marR="1932939" indent="-354330">
              <a:lnSpc>
                <a:spcPts val="3300"/>
              </a:lnSpc>
              <a:spcBef>
                <a:spcPts val="3295"/>
              </a:spcBef>
              <a:buFont typeface="Arial"/>
              <a:buChar char="•"/>
              <a:tabLst>
                <a:tab pos="724535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Personalized</a:t>
            </a:r>
            <a:r>
              <a:rPr dirty="0" sz="3300" spc="3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r>
              <a:rPr dirty="0" sz="3300" spc="3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experience</a:t>
            </a:r>
            <a:r>
              <a:rPr dirty="0" sz="3300" spc="35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3300" spc="3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children</a:t>
            </a:r>
            <a:r>
              <a:rPr dirty="0" sz="3300" spc="35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20" b="1">
                <a:solidFill>
                  <a:srgbClr val="0D1C38"/>
                </a:solidFill>
                <a:latin typeface="Arial"/>
                <a:cs typeface="Arial"/>
              </a:rPr>
              <a:t>with </a:t>
            </a:r>
            <a:r>
              <a:rPr dirty="0" sz="3300" spc="-20" b="1">
                <a:solidFill>
                  <a:srgbClr val="0D1C38"/>
                </a:solidFill>
                <a:latin typeface="Arial"/>
                <a:cs typeface="Arial"/>
              </a:rPr>
              <a:t>	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dyscalculia.</a:t>
            </a:r>
            <a:endParaRPr sz="3300">
              <a:latin typeface="Arial"/>
              <a:cs typeface="Arial"/>
            </a:endParaRPr>
          </a:p>
          <a:p>
            <a:pPr marL="722630" indent="-354330">
              <a:lnSpc>
                <a:spcPts val="2960"/>
              </a:lnSpc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Real-time</a:t>
            </a:r>
            <a:r>
              <a:rPr dirty="0" sz="33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feedback</a:t>
            </a:r>
            <a:r>
              <a:rPr dirty="0" sz="33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3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hints</a:t>
            </a:r>
            <a:r>
              <a:rPr dirty="0" sz="3300" spc="2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33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incorrect</a:t>
            </a:r>
            <a:r>
              <a:rPr dirty="0" sz="33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answers.</a:t>
            </a:r>
            <a:endParaRPr sz="3300">
              <a:latin typeface="Arial"/>
              <a:cs typeface="Arial"/>
            </a:endParaRPr>
          </a:p>
          <a:p>
            <a:pPr marL="722630" indent="-354330">
              <a:lnSpc>
                <a:spcPts val="3295"/>
              </a:lnSpc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Adaptive</a:t>
            </a:r>
            <a:r>
              <a:rPr dirty="0" sz="3300" spc="2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game</a:t>
            </a:r>
            <a:r>
              <a:rPr dirty="0" sz="3300" spc="2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progression</a:t>
            </a:r>
            <a:r>
              <a:rPr dirty="0" sz="3300" spc="2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according</a:t>
            </a:r>
            <a:r>
              <a:rPr dirty="0" sz="3300" spc="2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to</a:t>
            </a:r>
            <a:r>
              <a:rPr dirty="0" sz="3300" spc="2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learner</a:t>
            </a:r>
            <a:r>
              <a:rPr dirty="0" sz="3300" spc="2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skill</a:t>
            </a:r>
            <a:r>
              <a:rPr dirty="0" sz="3300" spc="2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level.</a:t>
            </a:r>
            <a:endParaRPr sz="3300">
              <a:latin typeface="Arial"/>
              <a:cs typeface="Arial"/>
            </a:endParaRPr>
          </a:p>
          <a:p>
            <a:pPr marL="722630" indent="-354330">
              <a:lnSpc>
                <a:spcPts val="3629"/>
              </a:lnSpc>
              <a:buFont typeface="Arial"/>
              <a:buChar char="•"/>
              <a:tabLst>
                <a:tab pos="722630" algn="l"/>
              </a:tabLst>
            </a:pP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Engaging</a:t>
            </a:r>
            <a:r>
              <a:rPr dirty="0" sz="330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300" spc="32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stress-free</a:t>
            </a:r>
            <a:r>
              <a:rPr dirty="0" sz="3300" spc="32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r>
              <a:rPr dirty="0" sz="330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D1C38"/>
                </a:solidFill>
                <a:latin typeface="Arial"/>
                <a:cs typeface="Arial"/>
              </a:rPr>
              <a:t>environment.</a:t>
            </a:r>
            <a:endParaRPr sz="33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32366" y="9708518"/>
            <a:ext cx="6706234" cy="479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635"/>
              </a:lnSpc>
            </a:pP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IT22117878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Alwis</a:t>
            </a:r>
            <a:r>
              <a:rPr dirty="0" sz="3200" spc="2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L.P.M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r>
              <a:rPr dirty="0" sz="3200" spc="-25" b="1">
                <a:solidFill>
                  <a:srgbClr val="0D1C38"/>
                </a:solidFill>
                <a:latin typeface="Arial"/>
                <a:cs typeface="Arial"/>
              </a:rPr>
              <a:t>IT-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4513" y="813389"/>
            <a:ext cx="16779875" cy="8877935"/>
          </a:xfrm>
          <a:custGeom>
            <a:avLst/>
            <a:gdLst/>
            <a:ahLst/>
            <a:cxnLst/>
            <a:rect l="l" t="t" r="r" b="b"/>
            <a:pathLst>
              <a:path w="16779875" h="8877935">
                <a:moveTo>
                  <a:pt x="16779367" y="0"/>
                </a:moveTo>
                <a:lnTo>
                  <a:pt x="0" y="0"/>
                </a:lnTo>
                <a:lnTo>
                  <a:pt x="0" y="8877871"/>
                </a:lnTo>
                <a:lnTo>
                  <a:pt x="16779367" y="8877871"/>
                </a:lnTo>
                <a:lnTo>
                  <a:pt x="16779367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50744" y="1942795"/>
            <a:ext cx="7826375" cy="7891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Design</a:t>
            </a:r>
            <a:r>
              <a:rPr dirty="0" u="sng" sz="3000" spc="2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Excellence</a:t>
            </a:r>
            <a:r>
              <a:rPr dirty="0" u="sng" sz="3000" spc="2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/</a:t>
            </a:r>
            <a:r>
              <a:rPr dirty="0" u="sng" sz="3000" spc="2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Contribution</a:t>
            </a:r>
            <a:endParaRPr sz="3000">
              <a:latin typeface="Arial"/>
              <a:cs typeface="Arial"/>
            </a:endParaRPr>
          </a:p>
          <a:p>
            <a:pPr marL="640080" indent="-313055">
              <a:lnSpc>
                <a:spcPct val="100000"/>
              </a:lnSpc>
              <a:spcBef>
                <a:spcPts val="2350"/>
              </a:spcBef>
              <a:buFont typeface="Arial"/>
              <a:buChar char="•"/>
              <a:tabLst>
                <a:tab pos="640080" algn="l"/>
              </a:tabLst>
            </a:pPr>
            <a:r>
              <a:rPr dirty="0" sz="2900" b="1">
                <a:latin typeface="Arial"/>
                <a:cs typeface="Arial"/>
              </a:rPr>
              <a:t>Uses</a:t>
            </a:r>
            <a:r>
              <a:rPr dirty="0" sz="2900" spc="32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Reinforcement</a:t>
            </a:r>
            <a:r>
              <a:rPr dirty="0" sz="2900" spc="32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Learning</a:t>
            </a:r>
            <a:r>
              <a:rPr dirty="0" sz="2900" spc="320" b="1">
                <a:latin typeface="Arial"/>
                <a:cs typeface="Arial"/>
              </a:rPr>
              <a:t> </a:t>
            </a:r>
            <a:r>
              <a:rPr dirty="0" sz="2900" spc="-20" b="1">
                <a:latin typeface="Arial"/>
                <a:cs typeface="Arial"/>
              </a:rPr>
              <a:t>(RL)</a:t>
            </a:r>
            <a:endParaRPr sz="2900">
              <a:latin typeface="Arial"/>
              <a:cs typeface="Arial"/>
            </a:endParaRPr>
          </a:p>
          <a:p>
            <a:pPr marL="640080" indent="-313055">
              <a:lnSpc>
                <a:spcPct val="100000"/>
              </a:lnSpc>
              <a:spcBef>
                <a:spcPts val="2355"/>
              </a:spcBef>
              <a:buFont typeface="Arial"/>
              <a:buChar char="•"/>
              <a:tabLst>
                <a:tab pos="640080" algn="l"/>
              </a:tabLst>
            </a:pPr>
            <a:r>
              <a:rPr dirty="0" sz="2900" b="1">
                <a:latin typeface="Arial"/>
                <a:cs typeface="Arial"/>
              </a:rPr>
              <a:t>Real-time</a:t>
            </a:r>
            <a:r>
              <a:rPr dirty="0" sz="2900" spc="37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adaptive</a:t>
            </a:r>
            <a:r>
              <a:rPr dirty="0" sz="2900" spc="37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difficulty</a:t>
            </a:r>
            <a:r>
              <a:rPr dirty="0" sz="2900" spc="375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adjustment</a:t>
            </a:r>
            <a:endParaRPr sz="2900">
              <a:latin typeface="Arial"/>
              <a:cs typeface="Arial"/>
            </a:endParaRPr>
          </a:p>
          <a:p>
            <a:pPr marL="640080" marR="1261745" indent="-313055">
              <a:lnSpc>
                <a:spcPts val="2920"/>
              </a:lnSpc>
              <a:spcBef>
                <a:spcPts val="2920"/>
              </a:spcBef>
              <a:buFont typeface="Arial"/>
              <a:buChar char="•"/>
              <a:tabLst>
                <a:tab pos="641985" algn="l"/>
              </a:tabLst>
            </a:pPr>
            <a:r>
              <a:rPr dirty="0" sz="2900" b="1">
                <a:latin typeface="Arial"/>
                <a:cs typeface="Arial"/>
              </a:rPr>
              <a:t>Combines</a:t>
            </a:r>
            <a:r>
              <a:rPr dirty="0" sz="2900" spc="31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adaptive</a:t>
            </a:r>
            <a:r>
              <a:rPr dirty="0" sz="2900" spc="31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learning</a:t>
            </a:r>
            <a:r>
              <a:rPr dirty="0" sz="2900" spc="310" b="1">
                <a:latin typeface="Arial"/>
                <a:cs typeface="Arial"/>
              </a:rPr>
              <a:t> </a:t>
            </a:r>
            <a:r>
              <a:rPr dirty="0" sz="2900" spc="-20" b="1">
                <a:latin typeface="Arial"/>
                <a:cs typeface="Arial"/>
              </a:rPr>
              <a:t>with </a:t>
            </a:r>
            <a:r>
              <a:rPr dirty="0" sz="2900" spc="-20" b="1">
                <a:latin typeface="Arial"/>
                <a:cs typeface="Arial"/>
              </a:rPr>
              <a:t>	</a:t>
            </a:r>
            <a:r>
              <a:rPr dirty="0" sz="2900" spc="-10" b="1">
                <a:latin typeface="Arial"/>
                <a:cs typeface="Arial"/>
              </a:rPr>
              <a:t>gamification</a:t>
            </a:r>
            <a:endParaRPr sz="2900">
              <a:latin typeface="Arial"/>
              <a:cs typeface="Arial"/>
            </a:endParaRPr>
          </a:p>
          <a:p>
            <a:pPr marL="640080" marR="1475740" indent="-313055">
              <a:lnSpc>
                <a:spcPts val="2920"/>
              </a:lnSpc>
              <a:spcBef>
                <a:spcPts val="2910"/>
              </a:spcBef>
              <a:buFont typeface="Arial"/>
              <a:buChar char="•"/>
              <a:tabLst>
                <a:tab pos="641985" algn="l"/>
              </a:tabLst>
            </a:pPr>
            <a:r>
              <a:rPr dirty="0" sz="2900" b="1">
                <a:latin typeface="Arial"/>
                <a:cs typeface="Arial"/>
              </a:rPr>
              <a:t>Tracks</a:t>
            </a:r>
            <a:r>
              <a:rPr dirty="0" sz="2900" spc="31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learner</a:t>
            </a:r>
            <a:r>
              <a:rPr dirty="0" sz="2900" spc="31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engagement</a:t>
            </a:r>
            <a:r>
              <a:rPr dirty="0" sz="2900" spc="315" b="1">
                <a:latin typeface="Arial"/>
                <a:cs typeface="Arial"/>
              </a:rPr>
              <a:t> </a:t>
            </a:r>
            <a:r>
              <a:rPr dirty="0" sz="2900" spc="-25" b="1">
                <a:latin typeface="Arial"/>
                <a:cs typeface="Arial"/>
              </a:rPr>
              <a:t>and </a:t>
            </a:r>
            <a:r>
              <a:rPr dirty="0" sz="2900" spc="-25" b="1">
                <a:latin typeface="Arial"/>
                <a:cs typeface="Arial"/>
              </a:rPr>
              <a:t>	</a:t>
            </a:r>
            <a:r>
              <a:rPr dirty="0" sz="2900" spc="-10" b="1">
                <a:latin typeface="Arial"/>
                <a:cs typeface="Arial"/>
              </a:rPr>
              <a:t>behavior</a:t>
            </a:r>
            <a:endParaRPr sz="2900">
              <a:latin typeface="Arial"/>
              <a:cs typeface="Arial"/>
            </a:endParaRPr>
          </a:p>
          <a:p>
            <a:pPr marL="640080" marR="1551940" indent="-313055">
              <a:lnSpc>
                <a:spcPts val="2920"/>
              </a:lnSpc>
              <a:spcBef>
                <a:spcPts val="2910"/>
              </a:spcBef>
              <a:buFont typeface="Arial"/>
              <a:buChar char="•"/>
              <a:tabLst>
                <a:tab pos="641985" algn="l"/>
              </a:tabLst>
            </a:pPr>
            <a:r>
              <a:rPr dirty="0" sz="2900" b="1">
                <a:latin typeface="Arial"/>
                <a:cs typeface="Arial"/>
              </a:rPr>
              <a:t>Personalized</a:t>
            </a:r>
            <a:r>
              <a:rPr dirty="0" sz="2900" spc="29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rewards</a:t>
            </a:r>
            <a:r>
              <a:rPr dirty="0" sz="2900" spc="29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and</a:t>
            </a:r>
            <a:r>
              <a:rPr dirty="0" sz="2900" spc="295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level 	progression</a:t>
            </a:r>
            <a:endParaRPr sz="2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30"/>
              </a:spcBef>
            </a:pPr>
            <a:endParaRPr sz="2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900" b="1">
                <a:latin typeface="Arial"/>
                <a:cs typeface="Arial"/>
              </a:rPr>
              <a:t>Key</a:t>
            </a:r>
            <a:r>
              <a:rPr dirty="0" sz="2900" spc="14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Contribution</a:t>
            </a:r>
            <a:endParaRPr sz="2900">
              <a:latin typeface="Arial"/>
              <a:cs typeface="Arial"/>
            </a:endParaRPr>
          </a:p>
          <a:p>
            <a:pPr marL="12700" marR="9525">
              <a:lnSpc>
                <a:spcPts val="2920"/>
              </a:lnSpc>
              <a:spcBef>
                <a:spcPts val="2915"/>
              </a:spcBef>
            </a:pPr>
            <a:r>
              <a:rPr dirty="0" sz="2900" b="1">
                <a:latin typeface="Arial"/>
                <a:cs typeface="Arial"/>
              </a:rPr>
              <a:t>Bridges</a:t>
            </a:r>
            <a:r>
              <a:rPr dirty="0" sz="2900" spc="22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the</a:t>
            </a:r>
            <a:r>
              <a:rPr dirty="0" sz="2900" spc="22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gap</a:t>
            </a:r>
            <a:r>
              <a:rPr dirty="0" sz="2900" spc="22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between</a:t>
            </a:r>
            <a:r>
              <a:rPr dirty="0" sz="2900" spc="22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static</a:t>
            </a:r>
            <a:r>
              <a:rPr dirty="0" sz="2900" spc="22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educational </a:t>
            </a:r>
            <a:r>
              <a:rPr dirty="0" sz="2900" b="1">
                <a:latin typeface="Arial"/>
                <a:cs typeface="Arial"/>
              </a:rPr>
              <a:t>games</a:t>
            </a:r>
            <a:r>
              <a:rPr dirty="0" sz="2900" spc="27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and</a:t>
            </a:r>
            <a:r>
              <a:rPr dirty="0" sz="2900" spc="28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intelligent</a:t>
            </a:r>
            <a:r>
              <a:rPr dirty="0" sz="2900" spc="28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adaptive</a:t>
            </a:r>
            <a:r>
              <a:rPr dirty="0" sz="2900" spc="28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learning </a:t>
            </a:r>
            <a:r>
              <a:rPr dirty="0" sz="2900" b="1">
                <a:latin typeface="Arial"/>
                <a:cs typeface="Arial"/>
              </a:rPr>
              <a:t>systems</a:t>
            </a:r>
            <a:r>
              <a:rPr dirty="0" sz="2900" spc="24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for</a:t>
            </a:r>
            <a:r>
              <a:rPr dirty="0" sz="2900" spc="24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children</a:t>
            </a:r>
            <a:r>
              <a:rPr dirty="0" sz="2900" spc="24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with</a:t>
            </a:r>
            <a:r>
              <a:rPr dirty="0" sz="2900" spc="245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dyscalculia.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354057" y="2006206"/>
            <a:ext cx="0" cy="6492240"/>
          </a:xfrm>
          <a:custGeom>
            <a:avLst/>
            <a:gdLst/>
            <a:ahLst/>
            <a:cxnLst/>
            <a:rect l="l" t="t" r="r" b="b"/>
            <a:pathLst>
              <a:path w="0" h="6492240">
                <a:moveTo>
                  <a:pt x="0" y="0"/>
                </a:moveTo>
                <a:lnTo>
                  <a:pt x="0" y="649224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926777" y="1942998"/>
            <a:ext cx="7294880" cy="5672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User</a:t>
            </a:r>
            <a:r>
              <a:rPr dirty="0" u="sng" sz="3000" spc="2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Feedback</a:t>
            </a:r>
            <a:r>
              <a:rPr dirty="0" u="sng" sz="3000" spc="2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</a:t>
            </a:r>
            <a:r>
              <a:rPr dirty="0" u="sng" sz="3000" spc="2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Prototype</a:t>
            </a:r>
            <a:endParaRPr sz="3000">
              <a:latin typeface="Arial"/>
              <a:cs typeface="Arial"/>
            </a:endParaRPr>
          </a:p>
          <a:p>
            <a:pPr marL="641350" indent="-313690">
              <a:lnSpc>
                <a:spcPct val="100000"/>
              </a:lnSpc>
              <a:spcBef>
                <a:spcPts val="2355"/>
              </a:spcBef>
              <a:buFont typeface="Arial"/>
              <a:buChar char="•"/>
              <a:tabLst>
                <a:tab pos="641350" algn="l"/>
              </a:tabLst>
            </a:pPr>
            <a:r>
              <a:rPr dirty="0" sz="2900" b="1">
                <a:latin typeface="Arial"/>
                <a:cs typeface="Arial"/>
              </a:rPr>
              <a:t>Students</a:t>
            </a:r>
            <a:r>
              <a:rPr dirty="0" sz="2900" spc="21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found</a:t>
            </a:r>
            <a:r>
              <a:rPr dirty="0" sz="2900" spc="21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the</a:t>
            </a:r>
            <a:r>
              <a:rPr dirty="0" sz="2900" spc="21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games</a:t>
            </a:r>
            <a:r>
              <a:rPr dirty="0" sz="2900" spc="21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engaging</a:t>
            </a:r>
            <a:endParaRPr sz="2900">
              <a:latin typeface="Arial"/>
              <a:cs typeface="Arial"/>
            </a:endParaRPr>
          </a:p>
          <a:p>
            <a:pPr marL="640715" marR="1543685" indent="-313690">
              <a:lnSpc>
                <a:spcPts val="2920"/>
              </a:lnSpc>
              <a:spcBef>
                <a:spcPts val="2920"/>
              </a:spcBef>
              <a:buFont typeface="Arial"/>
              <a:buChar char="•"/>
              <a:tabLst>
                <a:tab pos="642620" algn="l"/>
              </a:tabLst>
            </a:pPr>
            <a:r>
              <a:rPr dirty="0" sz="2900" b="1">
                <a:latin typeface="Arial"/>
                <a:cs typeface="Arial"/>
              </a:rPr>
              <a:t>Adaptive</a:t>
            </a:r>
            <a:r>
              <a:rPr dirty="0" sz="2900" spc="35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difficulty</a:t>
            </a:r>
            <a:r>
              <a:rPr dirty="0" sz="2900" spc="36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improved 	motivation</a:t>
            </a:r>
            <a:endParaRPr sz="2900">
              <a:latin typeface="Arial"/>
              <a:cs typeface="Arial"/>
            </a:endParaRPr>
          </a:p>
          <a:p>
            <a:pPr algn="ctr" marL="598170">
              <a:lnSpc>
                <a:spcPts val="2425"/>
              </a:lnSpc>
              <a:spcBef>
                <a:spcPts val="320"/>
              </a:spcBef>
            </a:pPr>
            <a:r>
              <a:rPr dirty="0" sz="2350" spc="-50" b="1"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  <a:p>
            <a:pPr marL="640715" marR="5080" indent="-313690">
              <a:lnSpc>
                <a:spcPts val="2920"/>
              </a:lnSpc>
              <a:spcBef>
                <a:spcPts val="170"/>
              </a:spcBef>
              <a:buFont typeface="Arial"/>
              <a:buChar char="•"/>
              <a:tabLst>
                <a:tab pos="642620" algn="l"/>
              </a:tabLst>
            </a:pPr>
            <a:r>
              <a:rPr dirty="0" sz="2900" b="1">
                <a:latin typeface="Arial"/>
                <a:cs typeface="Arial"/>
              </a:rPr>
              <a:t>Teachers</a:t>
            </a:r>
            <a:r>
              <a:rPr dirty="0" sz="2900" spc="33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liked</a:t>
            </a:r>
            <a:r>
              <a:rPr dirty="0" sz="2900" spc="33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personalized</a:t>
            </a:r>
            <a:r>
              <a:rPr dirty="0" sz="2900" spc="34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learning 	features</a:t>
            </a:r>
            <a:endParaRPr sz="2900">
              <a:latin typeface="Arial"/>
              <a:cs typeface="Arial"/>
            </a:endParaRPr>
          </a:p>
          <a:p>
            <a:pPr marL="640715" marR="302895" indent="-313690">
              <a:lnSpc>
                <a:spcPts val="2920"/>
              </a:lnSpc>
              <a:spcBef>
                <a:spcPts val="2920"/>
              </a:spcBef>
              <a:buFont typeface="Arial"/>
              <a:buChar char="•"/>
              <a:tabLst>
                <a:tab pos="642620" algn="l"/>
              </a:tabLst>
            </a:pPr>
            <a:r>
              <a:rPr dirty="0" sz="2900" b="1">
                <a:latin typeface="Arial"/>
                <a:cs typeface="Arial"/>
              </a:rPr>
              <a:t>Parents</a:t>
            </a:r>
            <a:r>
              <a:rPr dirty="0" sz="2900" spc="28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appreciated</a:t>
            </a:r>
            <a:r>
              <a:rPr dirty="0" sz="2900" spc="29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the</a:t>
            </a:r>
            <a:r>
              <a:rPr dirty="0" sz="2900" spc="29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supportive 	environment</a:t>
            </a:r>
            <a:endParaRPr sz="2900">
              <a:latin typeface="Arial"/>
              <a:cs typeface="Arial"/>
            </a:endParaRPr>
          </a:p>
          <a:p>
            <a:pPr marL="640715" marR="750570" indent="-313690">
              <a:lnSpc>
                <a:spcPts val="2920"/>
              </a:lnSpc>
              <a:spcBef>
                <a:spcPts val="2915"/>
              </a:spcBef>
              <a:buFont typeface="Arial"/>
              <a:buChar char="•"/>
              <a:tabLst>
                <a:tab pos="642620" algn="l"/>
              </a:tabLst>
            </a:pPr>
            <a:r>
              <a:rPr dirty="0" sz="2900" b="1">
                <a:latin typeface="Arial"/>
                <a:cs typeface="Arial"/>
              </a:rPr>
              <a:t>Reduced</a:t>
            </a:r>
            <a:r>
              <a:rPr dirty="0" sz="2900" spc="29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frustration</a:t>
            </a:r>
            <a:r>
              <a:rPr dirty="0" sz="2900" spc="30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during</a:t>
            </a:r>
            <a:r>
              <a:rPr dirty="0" sz="2900" spc="300" b="1">
                <a:latin typeface="Arial"/>
                <a:cs typeface="Arial"/>
              </a:rPr>
              <a:t> </a:t>
            </a:r>
            <a:r>
              <a:rPr dirty="0" sz="2900" spc="-20" b="1">
                <a:latin typeface="Arial"/>
                <a:cs typeface="Arial"/>
              </a:rPr>
              <a:t>math </a:t>
            </a:r>
            <a:r>
              <a:rPr dirty="0" sz="2900" spc="-20" b="1">
                <a:latin typeface="Arial"/>
                <a:cs typeface="Arial"/>
              </a:rPr>
              <a:t>	</a:t>
            </a:r>
            <a:r>
              <a:rPr dirty="0" sz="2900" spc="-10" b="1">
                <a:latin typeface="Arial"/>
                <a:cs typeface="Arial"/>
              </a:rPr>
              <a:t>learning</a:t>
            </a:r>
            <a:endParaRPr sz="29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59236" y="777371"/>
            <a:ext cx="8201025" cy="1182370"/>
          </a:xfrm>
          <a:prstGeom prst="rect"/>
        </p:spPr>
        <p:txBody>
          <a:bodyPr wrap="square" lIns="0" tIns="120014" rIns="0" bIns="0" rtlCol="0" vert="horz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944"/>
              </a:spcBef>
            </a:pPr>
            <a:r>
              <a:rPr dirty="0"/>
              <a:t>Adaptive</a:t>
            </a:r>
            <a:r>
              <a:rPr dirty="0" spc="425"/>
              <a:t> </a:t>
            </a:r>
            <a:r>
              <a:rPr dirty="0"/>
              <a:t>Game-Based</a:t>
            </a:r>
            <a:r>
              <a:rPr dirty="0" spc="425"/>
              <a:t> </a:t>
            </a:r>
            <a:r>
              <a:rPr dirty="0" spc="-10"/>
              <a:t>Learning Engine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432366" y="9708518"/>
            <a:ext cx="6706234" cy="479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635"/>
              </a:lnSpc>
            </a:pP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IT22117878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Alwis</a:t>
            </a:r>
            <a:r>
              <a:rPr dirty="0" sz="3200" spc="2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L.P.M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r>
              <a:rPr dirty="0" sz="3200" spc="-25" b="1">
                <a:solidFill>
                  <a:srgbClr val="0D1C38"/>
                </a:solidFill>
                <a:latin typeface="Arial"/>
                <a:cs typeface="Arial"/>
              </a:rPr>
              <a:t>IT-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E2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28700" y="684814"/>
            <a:ext cx="16230600" cy="9006840"/>
          </a:xfrm>
          <a:custGeom>
            <a:avLst/>
            <a:gdLst/>
            <a:ahLst/>
            <a:cxnLst/>
            <a:rect l="l" t="t" r="r" b="b"/>
            <a:pathLst>
              <a:path w="16230600" h="9006840">
                <a:moveTo>
                  <a:pt x="16230600" y="0"/>
                </a:moveTo>
                <a:lnTo>
                  <a:pt x="0" y="0"/>
                </a:lnTo>
                <a:lnTo>
                  <a:pt x="0" y="9006446"/>
                </a:lnTo>
                <a:lnTo>
                  <a:pt x="16230600" y="9006446"/>
                </a:lnTo>
                <a:lnTo>
                  <a:pt x="16230600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259300" cy="9998232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723157" y="678320"/>
            <a:ext cx="10498455" cy="1182370"/>
          </a:xfrm>
          <a:prstGeom prst="rect"/>
        </p:spPr>
        <p:txBody>
          <a:bodyPr wrap="square" lIns="0" tIns="120014" rIns="0" bIns="0" rtlCol="0" vert="horz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944"/>
              </a:spcBef>
            </a:pPr>
            <a:r>
              <a:rPr dirty="0"/>
              <a:t>Interactive</a:t>
            </a:r>
            <a:r>
              <a:rPr dirty="0" spc="330"/>
              <a:t> </a:t>
            </a:r>
            <a:r>
              <a:rPr dirty="0"/>
              <a:t>Learning</a:t>
            </a:r>
            <a:r>
              <a:rPr dirty="0" spc="345"/>
              <a:t> </a:t>
            </a:r>
            <a:r>
              <a:rPr dirty="0"/>
              <a:t>Tool</a:t>
            </a:r>
            <a:r>
              <a:rPr dirty="0" spc="340"/>
              <a:t> </a:t>
            </a:r>
            <a:r>
              <a:rPr dirty="0"/>
              <a:t>for</a:t>
            </a:r>
            <a:r>
              <a:rPr dirty="0" spc="345"/>
              <a:t> </a:t>
            </a:r>
            <a:r>
              <a:rPr dirty="0" spc="-10"/>
              <a:t>Dyscalculia </a:t>
            </a:r>
            <a:r>
              <a:rPr dirty="0" spc="-20"/>
              <a:t>kids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65098" rIns="0" bIns="0" rtlCol="0" vert="horz">
            <a:spAutoFit/>
          </a:bodyPr>
          <a:lstStyle/>
          <a:p>
            <a:pPr marL="118110" marR="1137285" indent="3027680">
              <a:lnSpc>
                <a:spcPct val="113900"/>
              </a:lnSpc>
              <a:spcBef>
                <a:spcPts val="100"/>
              </a:spcBef>
            </a:pPr>
            <a:r>
              <a:rPr dirty="0" spc="60"/>
              <a:t>IT21275524</a:t>
            </a:r>
            <a:r>
              <a:rPr dirty="0" spc="105"/>
              <a:t>  </a:t>
            </a:r>
            <a:r>
              <a:rPr dirty="0"/>
              <a:t>|</a:t>
            </a:r>
            <a:r>
              <a:rPr dirty="0" spc="105"/>
              <a:t>  </a:t>
            </a:r>
            <a:r>
              <a:rPr dirty="0" spc="50"/>
              <a:t>Rakeesha </a:t>
            </a:r>
            <a:r>
              <a:rPr dirty="0" spc="55"/>
              <a:t>Learning</a:t>
            </a:r>
            <a:r>
              <a:rPr dirty="0" spc="180"/>
              <a:t> </a:t>
            </a:r>
            <a:r>
              <a:rPr dirty="0" spc="50"/>
              <a:t>Insight</a:t>
            </a:r>
            <a:r>
              <a:rPr dirty="0" spc="180"/>
              <a:t> </a:t>
            </a:r>
            <a:r>
              <a:rPr dirty="0"/>
              <a:t>&amp;</a:t>
            </a:r>
            <a:r>
              <a:rPr dirty="0" spc="-235"/>
              <a:t> </a:t>
            </a:r>
            <a:r>
              <a:rPr dirty="0" baseline="20408" sz="7350" spc="-5595"/>
              <a:t>M</a:t>
            </a:r>
            <a:r>
              <a:rPr dirty="0" sz="4900" spc="55"/>
              <a:t>E</a:t>
            </a:r>
            <a:r>
              <a:rPr dirty="0" sz="4900" spc="-2335"/>
              <a:t>a</a:t>
            </a:r>
            <a:r>
              <a:rPr dirty="0" baseline="20408" sz="7350" spc="82"/>
              <a:t>.</a:t>
            </a:r>
            <a:r>
              <a:rPr dirty="0" baseline="20408" sz="7350" spc="-4350"/>
              <a:t>G</a:t>
            </a:r>
            <a:r>
              <a:rPr dirty="0" sz="4900" spc="55"/>
              <a:t>r</a:t>
            </a:r>
            <a:r>
              <a:rPr dirty="0" sz="4900" spc="-440"/>
              <a:t>l</a:t>
            </a:r>
            <a:r>
              <a:rPr dirty="0" baseline="20408" sz="7350" spc="-1350"/>
              <a:t>.</a:t>
            </a:r>
            <a:r>
              <a:rPr dirty="0" sz="4900" spc="-1795"/>
              <a:t>y</a:t>
            </a:r>
            <a:r>
              <a:rPr dirty="0" baseline="20408" sz="7350" spc="-405"/>
              <a:t>N</a:t>
            </a:r>
            <a:r>
              <a:rPr dirty="0" sz="4900" spc="55"/>
              <a:t>Warnin</a:t>
            </a:r>
            <a:r>
              <a:rPr dirty="0" sz="4900" spc="-15"/>
              <a:t>g</a:t>
            </a:r>
            <a:r>
              <a:rPr dirty="0" sz="4900" spc="180"/>
              <a:t> </a:t>
            </a:r>
            <a:r>
              <a:rPr dirty="0" sz="4900" spc="-10"/>
              <a:t>System</a:t>
            </a:r>
            <a:endParaRPr sz="4900"/>
          </a:p>
          <a:p>
            <a:pPr marL="1248410">
              <a:lnSpc>
                <a:spcPct val="100000"/>
              </a:lnSpc>
              <a:spcBef>
                <a:spcPts val="3695"/>
              </a:spcBef>
            </a:pPr>
            <a:r>
              <a:rPr dirty="0" sz="3800" spc="45"/>
              <a:t>Specialization:</a:t>
            </a:r>
            <a:r>
              <a:rPr dirty="0" sz="3800" spc="310"/>
              <a:t> </a:t>
            </a:r>
            <a:r>
              <a:rPr dirty="0" sz="3800"/>
              <a:t>BSc(Hons)</a:t>
            </a:r>
            <a:r>
              <a:rPr dirty="0" sz="3800" spc="310"/>
              <a:t> </a:t>
            </a:r>
            <a:r>
              <a:rPr dirty="0" sz="3800"/>
              <a:t>in</a:t>
            </a:r>
            <a:r>
              <a:rPr dirty="0" sz="3800" spc="310"/>
              <a:t> </a:t>
            </a:r>
            <a:r>
              <a:rPr dirty="0" sz="3800"/>
              <a:t>Information</a:t>
            </a:r>
            <a:r>
              <a:rPr dirty="0" sz="3800" spc="310"/>
              <a:t> </a:t>
            </a:r>
            <a:r>
              <a:rPr dirty="0" sz="3800" spc="-10"/>
              <a:t>Technology</a:t>
            </a:r>
            <a:endParaRPr sz="3800"/>
          </a:p>
        </p:txBody>
      </p:sp>
      <p:sp>
        <p:nvSpPr>
          <p:cNvPr id="7" name="object 7"/>
          <p:cNvSpPr txBox="1"/>
          <p:nvPr/>
        </p:nvSpPr>
        <p:spPr>
          <a:xfrm>
            <a:off x="5457060" y="8996426"/>
            <a:ext cx="7368540" cy="91948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3081655" marR="5080" indent="-3069590">
              <a:lnSpc>
                <a:spcPts val="3200"/>
              </a:lnSpc>
              <a:spcBef>
                <a:spcPts val="740"/>
              </a:spcBef>
            </a:pP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IT212755224</a:t>
            </a:r>
            <a:r>
              <a:rPr dirty="0" sz="3200" spc="2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Rakeesha</a:t>
            </a:r>
            <a:r>
              <a:rPr dirty="0" sz="3200" spc="2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M.G.N</a:t>
            </a:r>
            <a:r>
              <a:rPr dirty="0" sz="3200" spc="2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spc="-2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IT-</a:t>
            </a:r>
            <a:r>
              <a:rPr dirty="0" sz="320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4536"/>
            <a:ext cx="18288000" cy="10242550"/>
            <a:chOff x="0" y="44536"/>
            <a:chExt cx="18288000" cy="10242550"/>
          </a:xfrm>
        </p:grpSpPr>
        <p:sp>
          <p:nvSpPr>
            <p:cNvPr id="3" name="object 3"/>
            <p:cNvSpPr/>
            <p:nvPr/>
          </p:nvSpPr>
          <p:spPr>
            <a:xfrm>
              <a:off x="1028700" y="684814"/>
              <a:ext cx="16230600" cy="9006840"/>
            </a:xfrm>
            <a:custGeom>
              <a:avLst/>
              <a:gdLst/>
              <a:ahLst/>
              <a:cxnLst/>
              <a:rect l="l" t="t" r="r" b="b"/>
              <a:pathLst>
                <a:path w="16230600" h="9006840">
                  <a:moveTo>
                    <a:pt x="16230600" y="0"/>
                  </a:moveTo>
                  <a:lnTo>
                    <a:pt x="0" y="0"/>
                  </a:lnTo>
                  <a:lnTo>
                    <a:pt x="0" y="9006446"/>
                  </a:lnTo>
                  <a:lnTo>
                    <a:pt x="16230600" y="9006446"/>
                  </a:lnTo>
                  <a:lnTo>
                    <a:pt x="16230600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4536"/>
              <a:ext cx="18288000" cy="1024246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16000" y="821163"/>
            <a:ext cx="7363459" cy="906144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730"/>
              </a:spcBef>
            </a:pPr>
            <a:r>
              <a:rPr dirty="0" sz="3150"/>
              <a:t>How</a:t>
            </a:r>
            <a:r>
              <a:rPr dirty="0" sz="3150" spc="235"/>
              <a:t> </a:t>
            </a:r>
            <a:r>
              <a:rPr dirty="0" sz="3150"/>
              <a:t>the</a:t>
            </a:r>
            <a:r>
              <a:rPr dirty="0" sz="3150" spc="229"/>
              <a:t> </a:t>
            </a:r>
            <a:r>
              <a:rPr dirty="0" sz="3150"/>
              <a:t>Solution</a:t>
            </a:r>
            <a:r>
              <a:rPr dirty="0" sz="3150" spc="235"/>
              <a:t> </a:t>
            </a:r>
            <a:r>
              <a:rPr dirty="0" sz="3150"/>
              <a:t>Addresses</a:t>
            </a:r>
            <a:r>
              <a:rPr dirty="0" sz="3150" spc="229"/>
              <a:t> </a:t>
            </a:r>
            <a:r>
              <a:rPr dirty="0" sz="3150"/>
              <a:t>the</a:t>
            </a:r>
            <a:r>
              <a:rPr dirty="0" sz="3150" spc="235"/>
              <a:t> </a:t>
            </a:r>
            <a:r>
              <a:rPr dirty="0" sz="3150" spc="-20"/>
              <a:t>Sub-</a:t>
            </a:r>
            <a:r>
              <a:rPr dirty="0" sz="3150"/>
              <a:t>Problem</a:t>
            </a:r>
            <a:r>
              <a:rPr dirty="0" sz="3150" spc="204"/>
              <a:t> </a:t>
            </a:r>
            <a:r>
              <a:rPr dirty="0" sz="3150"/>
              <a:t>/</a:t>
            </a:r>
            <a:r>
              <a:rPr dirty="0" sz="3150" spc="204"/>
              <a:t> </a:t>
            </a:r>
            <a:r>
              <a:rPr dirty="0" sz="3150" spc="-10"/>
              <a:t>Prototype</a:t>
            </a:r>
            <a:endParaRPr sz="3150"/>
          </a:p>
        </p:txBody>
      </p:sp>
      <p:sp>
        <p:nvSpPr>
          <p:cNvPr id="6" name="object 6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78740" rIns="0" bIns="0" rtlCol="0" vert="horz">
            <a:spAutoFit/>
          </a:bodyPr>
          <a:lstStyle/>
          <a:p>
            <a:pPr algn="just" marL="293370" marR="163195" indent="-280670">
              <a:lnSpc>
                <a:spcPts val="2600"/>
              </a:lnSpc>
              <a:spcBef>
                <a:spcPts val="620"/>
              </a:spcBef>
              <a:buFont typeface="Arial"/>
              <a:buChar char="•"/>
              <a:tabLst>
                <a:tab pos="293370" algn="l"/>
              </a:tabLst>
            </a:pPr>
            <a:r>
              <a:rPr dirty="0"/>
              <a:t>Provides</a:t>
            </a:r>
            <a:r>
              <a:rPr dirty="0" spc="220"/>
              <a:t> </a:t>
            </a:r>
            <a:r>
              <a:rPr dirty="0"/>
              <a:t>a</a:t>
            </a:r>
            <a:r>
              <a:rPr dirty="0" spc="225"/>
              <a:t> </a:t>
            </a:r>
            <a:r>
              <a:rPr dirty="0"/>
              <a:t>centralised</a:t>
            </a:r>
            <a:r>
              <a:rPr dirty="0" spc="225"/>
              <a:t> </a:t>
            </a:r>
            <a:r>
              <a:rPr dirty="0"/>
              <a:t>analytics</a:t>
            </a:r>
            <a:r>
              <a:rPr dirty="0" spc="225"/>
              <a:t> </a:t>
            </a:r>
            <a:r>
              <a:rPr dirty="0" spc="-10"/>
              <a:t>dashboard </a:t>
            </a:r>
            <a:r>
              <a:rPr dirty="0"/>
              <a:t>that</a:t>
            </a:r>
            <a:r>
              <a:rPr dirty="0" spc="235"/>
              <a:t> </a:t>
            </a:r>
            <a:r>
              <a:rPr dirty="0"/>
              <a:t>monitors</a:t>
            </a:r>
            <a:r>
              <a:rPr dirty="0" spc="240"/>
              <a:t> </a:t>
            </a:r>
            <a:r>
              <a:rPr dirty="0"/>
              <a:t>student</a:t>
            </a:r>
            <a:r>
              <a:rPr dirty="0" spc="235"/>
              <a:t> </a:t>
            </a:r>
            <a:r>
              <a:rPr dirty="0"/>
              <a:t>learning</a:t>
            </a:r>
            <a:r>
              <a:rPr dirty="0" spc="240"/>
              <a:t> </a:t>
            </a:r>
            <a:r>
              <a:rPr dirty="0" spc="-10"/>
              <a:t>performance </a:t>
            </a:r>
            <a:r>
              <a:rPr dirty="0"/>
              <a:t>over</a:t>
            </a:r>
            <a:r>
              <a:rPr dirty="0" spc="140"/>
              <a:t> </a:t>
            </a:r>
            <a:r>
              <a:rPr dirty="0" spc="-20"/>
              <a:t>time.</a:t>
            </a:r>
          </a:p>
          <a:p>
            <a:pPr marL="293370" marR="5080" indent="-280670">
              <a:lnSpc>
                <a:spcPts val="2600"/>
              </a:lnSpc>
              <a:spcBef>
                <a:spcPts val="2600"/>
              </a:spcBef>
              <a:buFont typeface="Arial"/>
              <a:buChar char="•"/>
              <a:tabLst>
                <a:tab pos="293370" algn="l"/>
              </a:tabLst>
            </a:pPr>
            <a:r>
              <a:rPr dirty="0"/>
              <a:t>Uses</a:t>
            </a:r>
            <a:r>
              <a:rPr dirty="0" spc="175"/>
              <a:t> </a:t>
            </a:r>
            <a:r>
              <a:rPr dirty="0"/>
              <a:t>a</a:t>
            </a:r>
            <a:r>
              <a:rPr dirty="0" spc="180"/>
              <a:t> </a:t>
            </a:r>
            <a:r>
              <a:rPr dirty="0"/>
              <a:t>Logistic</a:t>
            </a:r>
            <a:r>
              <a:rPr dirty="0" spc="175"/>
              <a:t> </a:t>
            </a:r>
            <a:r>
              <a:rPr dirty="0"/>
              <a:t>Regression</a:t>
            </a:r>
            <a:r>
              <a:rPr dirty="0" spc="180"/>
              <a:t> </a:t>
            </a:r>
            <a:r>
              <a:rPr dirty="0"/>
              <a:t>model</a:t>
            </a:r>
            <a:r>
              <a:rPr dirty="0" spc="180"/>
              <a:t> </a:t>
            </a:r>
            <a:r>
              <a:rPr dirty="0"/>
              <a:t>to</a:t>
            </a:r>
            <a:r>
              <a:rPr dirty="0" spc="175"/>
              <a:t> </a:t>
            </a:r>
            <a:r>
              <a:rPr dirty="0" spc="-10"/>
              <a:t>predict </a:t>
            </a:r>
            <a:r>
              <a:rPr dirty="0"/>
              <a:t>student</a:t>
            </a:r>
            <a:r>
              <a:rPr dirty="0" spc="160"/>
              <a:t> </a:t>
            </a:r>
            <a:r>
              <a:rPr dirty="0"/>
              <a:t>risk</a:t>
            </a:r>
            <a:r>
              <a:rPr dirty="0" spc="160"/>
              <a:t> </a:t>
            </a:r>
            <a:r>
              <a:rPr dirty="0"/>
              <a:t>levels</a:t>
            </a:r>
            <a:r>
              <a:rPr dirty="0" spc="160"/>
              <a:t> </a:t>
            </a:r>
            <a:r>
              <a:rPr dirty="0"/>
              <a:t>(Low</a:t>
            </a:r>
            <a:r>
              <a:rPr dirty="0" spc="165"/>
              <a:t> </a:t>
            </a:r>
            <a:r>
              <a:rPr dirty="0"/>
              <a:t>/</a:t>
            </a:r>
            <a:r>
              <a:rPr dirty="0" spc="160"/>
              <a:t> </a:t>
            </a:r>
            <a:r>
              <a:rPr dirty="0"/>
              <a:t>Moderate</a:t>
            </a:r>
            <a:r>
              <a:rPr dirty="0" spc="160"/>
              <a:t> </a:t>
            </a:r>
            <a:r>
              <a:rPr dirty="0"/>
              <a:t>/</a:t>
            </a:r>
            <a:r>
              <a:rPr dirty="0" spc="160"/>
              <a:t> </a:t>
            </a:r>
            <a:r>
              <a:rPr dirty="0" spc="-10"/>
              <a:t>High) </a:t>
            </a:r>
            <a:r>
              <a:rPr dirty="0"/>
              <a:t>based</a:t>
            </a:r>
            <a:r>
              <a:rPr dirty="0" spc="215"/>
              <a:t> </a:t>
            </a:r>
            <a:r>
              <a:rPr dirty="0"/>
              <a:t>on</a:t>
            </a:r>
            <a:r>
              <a:rPr dirty="0" spc="220"/>
              <a:t> </a:t>
            </a:r>
            <a:r>
              <a:rPr dirty="0"/>
              <a:t>behavioural</a:t>
            </a:r>
            <a:r>
              <a:rPr dirty="0" spc="220"/>
              <a:t> </a:t>
            </a:r>
            <a:r>
              <a:rPr dirty="0"/>
              <a:t>indicators</a:t>
            </a:r>
            <a:r>
              <a:rPr dirty="0" spc="220"/>
              <a:t> </a:t>
            </a:r>
            <a:r>
              <a:rPr dirty="0"/>
              <a:t>such</a:t>
            </a:r>
            <a:r>
              <a:rPr dirty="0" spc="220"/>
              <a:t> </a:t>
            </a:r>
            <a:r>
              <a:rPr dirty="0" spc="-25"/>
              <a:t>as </a:t>
            </a:r>
            <a:r>
              <a:rPr dirty="0"/>
              <a:t>accuracy</a:t>
            </a:r>
            <a:r>
              <a:rPr dirty="0" spc="204"/>
              <a:t> </a:t>
            </a:r>
            <a:r>
              <a:rPr dirty="0"/>
              <a:t>rate,</a:t>
            </a:r>
            <a:r>
              <a:rPr dirty="0" spc="210"/>
              <a:t> </a:t>
            </a:r>
            <a:r>
              <a:rPr dirty="0"/>
              <a:t>response</a:t>
            </a:r>
            <a:r>
              <a:rPr dirty="0" spc="204"/>
              <a:t> </a:t>
            </a:r>
            <a:r>
              <a:rPr dirty="0"/>
              <a:t>time,</a:t>
            </a:r>
            <a:r>
              <a:rPr dirty="0" spc="210"/>
              <a:t> </a:t>
            </a:r>
            <a:r>
              <a:rPr dirty="0"/>
              <a:t>attempt</a:t>
            </a:r>
            <a:r>
              <a:rPr dirty="0" spc="204"/>
              <a:t> </a:t>
            </a:r>
            <a:r>
              <a:rPr dirty="0" spc="-10"/>
              <a:t>count, </a:t>
            </a:r>
            <a:r>
              <a:rPr dirty="0"/>
              <a:t>and</a:t>
            </a:r>
            <a:r>
              <a:rPr dirty="0" spc="150"/>
              <a:t> </a:t>
            </a:r>
            <a:r>
              <a:rPr dirty="0"/>
              <a:t>error</a:t>
            </a:r>
            <a:r>
              <a:rPr dirty="0" spc="150"/>
              <a:t> </a:t>
            </a:r>
            <a:r>
              <a:rPr dirty="0" spc="-10"/>
              <a:t>patterns.</a:t>
            </a:r>
          </a:p>
          <a:p>
            <a:pPr marL="293370" marR="351155" indent="-280670">
              <a:lnSpc>
                <a:spcPts val="2600"/>
              </a:lnSpc>
              <a:spcBef>
                <a:spcPts val="2600"/>
              </a:spcBef>
              <a:buFont typeface="Arial"/>
              <a:buChar char="•"/>
              <a:tabLst>
                <a:tab pos="293370" algn="l"/>
              </a:tabLst>
            </a:pPr>
            <a:r>
              <a:rPr dirty="0"/>
              <a:t>Aggregates</a:t>
            </a:r>
            <a:r>
              <a:rPr dirty="0" spc="245"/>
              <a:t> </a:t>
            </a:r>
            <a:r>
              <a:rPr dirty="0"/>
              <a:t>session-level</a:t>
            </a:r>
            <a:r>
              <a:rPr dirty="0" spc="250"/>
              <a:t> </a:t>
            </a:r>
            <a:r>
              <a:rPr dirty="0"/>
              <a:t>data</a:t>
            </a:r>
            <a:r>
              <a:rPr dirty="0" spc="245"/>
              <a:t> </a:t>
            </a:r>
            <a:r>
              <a:rPr dirty="0"/>
              <a:t>from</a:t>
            </a:r>
            <a:r>
              <a:rPr dirty="0" spc="250"/>
              <a:t> </a:t>
            </a:r>
            <a:r>
              <a:rPr dirty="0" spc="-20"/>
              <a:t>peer </a:t>
            </a:r>
            <a:r>
              <a:rPr dirty="0"/>
              <a:t>components</a:t>
            </a:r>
            <a:r>
              <a:rPr dirty="0" spc="235"/>
              <a:t> </a:t>
            </a:r>
            <a:r>
              <a:rPr dirty="0"/>
              <a:t>(Adaptive</a:t>
            </a:r>
            <a:r>
              <a:rPr dirty="0" spc="235"/>
              <a:t> </a:t>
            </a:r>
            <a:r>
              <a:rPr dirty="0"/>
              <a:t>Game</a:t>
            </a:r>
            <a:r>
              <a:rPr dirty="0" spc="235"/>
              <a:t> </a:t>
            </a:r>
            <a:r>
              <a:rPr dirty="0"/>
              <a:t>Engine</a:t>
            </a:r>
            <a:r>
              <a:rPr dirty="0" spc="240"/>
              <a:t> </a:t>
            </a:r>
            <a:r>
              <a:rPr dirty="0" spc="-25"/>
              <a:t>and </a:t>
            </a:r>
            <a:r>
              <a:rPr dirty="0"/>
              <a:t>Personalised</a:t>
            </a:r>
            <a:r>
              <a:rPr dirty="0" spc="240"/>
              <a:t> </a:t>
            </a:r>
            <a:r>
              <a:rPr dirty="0"/>
              <a:t>Math</a:t>
            </a:r>
            <a:r>
              <a:rPr dirty="0" spc="240"/>
              <a:t> </a:t>
            </a:r>
            <a:r>
              <a:rPr dirty="0"/>
              <a:t>Learning</a:t>
            </a:r>
            <a:r>
              <a:rPr dirty="0" spc="240"/>
              <a:t> </a:t>
            </a:r>
            <a:r>
              <a:rPr dirty="0"/>
              <a:t>Engine)</a:t>
            </a:r>
            <a:r>
              <a:rPr dirty="0" spc="240"/>
              <a:t> </a:t>
            </a:r>
            <a:r>
              <a:rPr dirty="0"/>
              <a:t>into</a:t>
            </a:r>
            <a:r>
              <a:rPr dirty="0" spc="240"/>
              <a:t> </a:t>
            </a:r>
            <a:r>
              <a:rPr dirty="0" spc="-50"/>
              <a:t>a </a:t>
            </a:r>
            <a:r>
              <a:rPr dirty="0"/>
              <a:t>unified</a:t>
            </a:r>
            <a:r>
              <a:rPr dirty="0" spc="295"/>
              <a:t> </a:t>
            </a:r>
            <a:r>
              <a:rPr dirty="0"/>
              <a:t>longitudinal</a:t>
            </a:r>
            <a:r>
              <a:rPr dirty="0" spc="295"/>
              <a:t> </a:t>
            </a:r>
            <a:r>
              <a:rPr dirty="0"/>
              <a:t>learner</a:t>
            </a:r>
            <a:r>
              <a:rPr dirty="0" spc="295"/>
              <a:t> </a:t>
            </a:r>
            <a:r>
              <a:rPr dirty="0" spc="-10"/>
              <a:t>profile.</a:t>
            </a:r>
          </a:p>
          <a:p>
            <a:pPr algn="just" marL="293370" marR="186055" indent="-280670">
              <a:lnSpc>
                <a:spcPts val="2600"/>
              </a:lnSpc>
              <a:spcBef>
                <a:spcPts val="2600"/>
              </a:spcBef>
              <a:buFont typeface="Arial"/>
              <a:buChar char="•"/>
              <a:tabLst>
                <a:tab pos="293370" algn="l"/>
              </a:tabLst>
            </a:pPr>
            <a:r>
              <a:rPr dirty="0"/>
              <a:t>Generates</a:t>
            </a:r>
            <a:r>
              <a:rPr dirty="0" spc="190"/>
              <a:t> </a:t>
            </a:r>
            <a:r>
              <a:rPr dirty="0"/>
              <a:t>early</a:t>
            </a:r>
            <a:r>
              <a:rPr dirty="0" spc="195"/>
              <a:t> </a:t>
            </a:r>
            <a:r>
              <a:rPr dirty="0"/>
              <a:t>warning</a:t>
            </a:r>
            <a:r>
              <a:rPr dirty="0" spc="190"/>
              <a:t> </a:t>
            </a:r>
            <a:r>
              <a:rPr dirty="0"/>
              <a:t>alerts</a:t>
            </a:r>
            <a:r>
              <a:rPr dirty="0" spc="195"/>
              <a:t> </a:t>
            </a:r>
            <a:r>
              <a:rPr dirty="0"/>
              <a:t>for</a:t>
            </a:r>
            <a:r>
              <a:rPr dirty="0" spc="190"/>
              <a:t> </a:t>
            </a:r>
            <a:r>
              <a:rPr dirty="0" spc="-10"/>
              <a:t>teachers </a:t>
            </a:r>
            <a:r>
              <a:rPr dirty="0"/>
              <a:t>and</a:t>
            </a:r>
            <a:r>
              <a:rPr dirty="0" spc="165"/>
              <a:t> </a:t>
            </a:r>
            <a:r>
              <a:rPr dirty="0"/>
              <a:t>parents</a:t>
            </a:r>
            <a:r>
              <a:rPr dirty="0" spc="165"/>
              <a:t> </a:t>
            </a:r>
            <a:r>
              <a:rPr dirty="0"/>
              <a:t>when</a:t>
            </a:r>
            <a:r>
              <a:rPr dirty="0" spc="170"/>
              <a:t> </a:t>
            </a:r>
            <a:r>
              <a:rPr dirty="0"/>
              <a:t>a</a:t>
            </a:r>
            <a:r>
              <a:rPr dirty="0" spc="165"/>
              <a:t> </a:t>
            </a:r>
            <a:r>
              <a:rPr dirty="0"/>
              <a:t>student</a:t>
            </a:r>
            <a:r>
              <a:rPr dirty="0" spc="165"/>
              <a:t> </a:t>
            </a:r>
            <a:r>
              <a:rPr dirty="0"/>
              <a:t>shows</a:t>
            </a:r>
            <a:r>
              <a:rPr dirty="0" spc="170"/>
              <a:t> </a:t>
            </a:r>
            <a:r>
              <a:rPr dirty="0"/>
              <a:t>signs</a:t>
            </a:r>
            <a:r>
              <a:rPr dirty="0" spc="165"/>
              <a:t> </a:t>
            </a:r>
            <a:r>
              <a:rPr dirty="0" spc="-25"/>
              <a:t>of </a:t>
            </a:r>
            <a:r>
              <a:rPr dirty="0"/>
              <a:t>persistent</a:t>
            </a:r>
            <a:r>
              <a:rPr dirty="0" spc="310"/>
              <a:t> </a:t>
            </a:r>
            <a:r>
              <a:rPr dirty="0" spc="-10"/>
              <a:t>difficulty.</a:t>
            </a:r>
          </a:p>
        </p:txBody>
      </p:sp>
      <p:sp>
        <p:nvSpPr>
          <p:cNvPr id="8" name="object 8"/>
          <p:cNvSpPr/>
          <p:nvPr/>
        </p:nvSpPr>
        <p:spPr>
          <a:xfrm>
            <a:off x="9315450" y="1373746"/>
            <a:ext cx="0" cy="7884795"/>
          </a:xfrm>
          <a:custGeom>
            <a:avLst/>
            <a:gdLst/>
            <a:ahLst/>
            <a:cxnLst/>
            <a:rect l="l" t="t" r="r" b="b"/>
            <a:pathLst>
              <a:path w="0" h="7884795">
                <a:moveTo>
                  <a:pt x="0" y="0"/>
                </a:moveTo>
                <a:lnTo>
                  <a:pt x="0" y="788455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608489" y="2038908"/>
            <a:ext cx="7628255" cy="5460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User</a:t>
            </a:r>
            <a:r>
              <a:rPr dirty="0" sz="3200" spc="3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Requirements</a:t>
            </a:r>
            <a:r>
              <a:rPr dirty="0" sz="3200" spc="3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spc="-10" b="1">
                <a:solidFill>
                  <a:srgbClr val="0D1C38"/>
                </a:solidFill>
                <a:latin typeface="Arial"/>
                <a:cs typeface="Arial"/>
              </a:rPr>
              <a:t>Addressed</a:t>
            </a:r>
            <a:endParaRPr sz="3200">
              <a:latin typeface="Arial"/>
              <a:cs typeface="Arial"/>
            </a:endParaRPr>
          </a:p>
          <a:p>
            <a:pPr marL="574040" marR="437515" indent="-280670">
              <a:lnSpc>
                <a:spcPts val="2600"/>
              </a:lnSpc>
              <a:spcBef>
                <a:spcPts val="2550"/>
              </a:spcBef>
              <a:buFont typeface="Arial"/>
              <a:buChar char="•"/>
              <a:tabLst>
                <a:tab pos="574040" algn="l"/>
              </a:tabLst>
            </a:pP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Longitudinal</a:t>
            </a:r>
            <a:r>
              <a:rPr dirty="0" sz="2600" spc="3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performance</a:t>
            </a:r>
            <a:r>
              <a:rPr dirty="0" sz="2600" spc="3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monitoring</a:t>
            </a:r>
            <a:r>
              <a:rPr dirty="0" sz="2600" spc="3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spc="-25" b="1">
                <a:solidFill>
                  <a:srgbClr val="0D1C38"/>
                </a:solidFill>
                <a:latin typeface="Arial"/>
                <a:cs typeface="Arial"/>
              </a:rPr>
              <a:t>for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children</a:t>
            </a:r>
            <a:r>
              <a:rPr dirty="0" sz="2600" spc="23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with</a:t>
            </a:r>
            <a:r>
              <a:rPr dirty="0" sz="2600" spc="24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dyscalculia</a:t>
            </a:r>
            <a:r>
              <a:rPr dirty="0" sz="2600" spc="24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beyond</a:t>
            </a:r>
            <a:r>
              <a:rPr dirty="0" sz="2600" spc="24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0D1C38"/>
                </a:solidFill>
                <a:latin typeface="Arial"/>
                <a:cs typeface="Arial"/>
              </a:rPr>
              <a:t>simple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correct/incorrect</a:t>
            </a:r>
            <a:r>
              <a:rPr dirty="0" sz="2600" spc="4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0D1C38"/>
                </a:solidFill>
                <a:latin typeface="Arial"/>
                <a:cs typeface="Arial"/>
              </a:rPr>
              <a:t>tracking.</a:t>
            </a:r>
            <a:endParaRPr sz="2600">
              <a:latin typeface="Arial"/>
              <a:cs typeface="Arial"/>
            </a:endParaRPr>
          </a:p>
          <a:p>
            <a:pPr marL="574040" marR="43815" indent="-280670">
              <a:lnSpc>
                <a:spcPts val="2600"/>
              </a:lnSpc>
              <a:spcBef>
                <a:spcPts val="2600"/>
              </a:spcBef>
              <a:buFont typeface="Arial"/>
              <a:buChar char="•"/>
              <a:tabLst>
                <a:tab pos="574040" algn="l"/>
              </a:tabLst>
            </a:pP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Risk</a:t>
            </a:r>
            <a:r>
              <a:rPr dirty="0" sz="2600" spc="1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prediction</a:t>
            </a:r>
            <a:r>
              <a:rPr dirty="0" sz="2600" spc="2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2600" spc="1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early</a:t>
            </a:r>
            <a:r>
              <a:rPr dirty="0" sz="2600" spc="2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warning</a:t>
            </a:r>
            <a:r>
              <a:rPr dirty="0" sz="2600" spc="1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alerts</a:t>
            </a:r>
            <a:r>
              <a:rPr dirty="0" sz="2600" spc="2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spc="-25" b="1">
                <a:solidFill>
                  <a:srgbClr val="0D1C38"/>
                </a:solidFill>
                <a:latin typeface="Arial"/>
                <a:cs typeface="Arial"/>
              </a:rPr>
              <a:t>for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educators</a:t>
            </a:r>
            <a:r>
              <a:rPr dirty="0" sz="2600" spc="20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2600" spc="2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0D1C38"/>
                </a:solidFill>
                <a:latin typeface="Arial"/>
                <a:cs typeface="Arial"/>
              </a:rPr>
              <a:t>caregivers.</a:t>
            </a:r>
            <a:endParaRPr sz="2600">
              <a:latin typeface="Arial"/>
              <a:cs typeface="Arial"/>
            </a:endParaRPr>
          </a:p>
          <a:p>
            <a:pPr marL="574040" marR="885825" indent="-280670">
              <a:lnSpc>
                <a:spcPts val="2600"/>
              </a:lnSpc>
              <a:spcBef>
                <a:spcPts val="2600"/>
              </a:spcBef>
              <a:buFont typeface="Arial"/>
              <a:buChar char="•"/>
              <a:tabLst>
                <a:tab pos="574040" algn="l"/>
              </a:tabLst>
            </a:pP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Separate</a:t>
            </a:r>
            <a:r>
              <a:rPr dirty="0" sz="2600" spc="23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dashboard</a:t>
            </a:r>
            <a:r>
              <a:rPr dirty="0" sz="2600" spc="23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views</a:t>
            </a:r>
            <a:r>
              <a:rPr dirty="0" sz="2600" spc="23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tailored</a:t>
            </a:r>
            <a:r>
              <a:rPr dirty="0" sz="2600" spc="24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spc="-25" b="1">
                <a:solidFill>
                  <a:srgbClr val="0D1C38"/>
                </a:solidFill>
                <a:latin typeface="Arial"/>
                <a:cs typeface="Arial"/>
              </a:rPr>
              <a:t>for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teachers</a:t>
            </a:r>
            <a:r>
              <a:rPr dirty="0" sz="2600" spc="1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2600" spc="1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parents</a:t>
            </a:r>
            <a:r>
              <a:rPr dirty="0" sz="2600" spc="1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with</a:t>
            </a:r>
            <a:r>
              <a:rPr dirty="0" sz="2600" spc="1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0D1C38"/>
                </a:solidFill>
                <a:latin typeface="Arial"/>
                <a:cs typeface="Arial"/>
              </a:rPr>
              <a:t>actionable insights.</a:t>
            </a:r>
            <a:endParaRPr sz="2600">
              <a:latin typeface="Arial"/>
              <a:cs typeface="Arial"/>
            </a:endParaRPr>
          </a:p>
          <a:p>
            <a:pPr algn="just" marL="574040" marR="5080" indent="-280670">
              <a:lnSpc>
                <a:spcPts val="2600"/>
              </a:lnSpc>
              <a:spcBef>
                <a:spcPts val="2600"/>
              </a:spcBef>
              <a:buFont typeface="Arial"/>
              <a:buChar char="•"/>
              <a:tabLst>
                <a:tab pos="574040" algn="l"/>
              </a:tabLst>
            </a:pP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Generates</a:t>
            </a:r>
            <a:r>
              <a:rPr dirty="0" sz="2600" spc="1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early</a:t>
            </a:r>
            <a:r>
              <a:rPr dirty="0" sz="2600" spc="1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warning</a:t>
            </a:r>
            <a:r>
              <a:rPr dirty="0" sz="2600" spc="1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alerts</a:t>
            </a:r>
            <a:r>
              <a:rPr dirty="0" sz="2600" spc="1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2600" spc="1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0D1C38"/>
                </a:solidFill>
                <a:latin typeface="Arial"/>
                <a:cs typeface="Arial"/>
              </a:rPr>
              <a:t>teachers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2600" spc="1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parents</a:t>
            </a:r>
            <a:r>
              <a:rPr dirty="0" sz="2600" spc="1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when</a:t>
            </a:r>
            <a:r>
              <a:rPr dirty="0" sz="2600" spc="17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a</a:t>
            </a:r>
            <a:r>
              <a:rPr dirty="0" sz="2600" spc="1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student</a:t>
            </a:r>
            <a:r>
              <a:rPr dirty="0" sz="2600" spc="1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shows</a:t>
            </a:r>
            <a:r>
              <a:rPr dirty="0" sz="2600" spc="17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signs</a:t>
            </a:r>
            <a:r>
              <a:rPr dirty="0" sz="2600" spc="1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spc="-25" b="1">
                <a:solidFill>
                  <a:srgbClr val="0D1C38"/>
                </a:solidFill>
                <a:latin typeface="Arial"/>
                <a:cs typeface="Arial"/>
              </a:rPr>
              <a:t>of </a:t>
            </a:r>
            <a:r>
              <a:rPr dirty="0" sz="2600" b="1">
                <a:solidFill>
                  <a:srgbClr val="0D1C38"/>
                </a:solidFill>
                <a:latin typeface="Arial"/>
                <a:cs typeface="Arial"/>
              </a:rPr>
              <a:t>persistent</a:t>
            </a:r>
            <a:r>
              <a:rPr dirty="0" sz="260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0D1C38"/>
                </a:solidFill>
                <a:latin typeface="Arial"/>
                <a:cs typeface="Arial"/>
              </a:rPr>
              <a:t>difficulty.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4828" y="9708518"/>
            <a:ext cx="7136765" cy="479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635"/>
              </a:lnSpc>
            </a:pP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IT21275524</a:t>
            </a:r>
            <a:r>
              <a:rPr dirty="0" sz="320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Rakeesha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M.G.N</a:t>
            </a:r>
            <a:r>
              <a:rPr dirty="0" sz="320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spc="-2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694513" y="813389"/>
              <a:ext cx="16779875" cy="8877935"/>
            </a:xfrm>
            <a:custGeom>
              <a:avLst/>
              <a:gdLst/>
              <a:ahLst/>
              <a:cxnLst/>
              <a:rect l="l" t="t" r="r" b="b"/>
              <a:pathLst>
                <a:path w="16779875" h="8877935">
                  <a:moveTo>
                    <a:pt x="16779367" y="0"/>
                  </a:moveTo>
                  <a:lnTo>
                    <a:pt x="0" y="0"/>
                  </a:lnTo>
                  <a:lnTo>
                    <a:pt x="0" y="8877871"/>
                  </a:lnTo>
                  <a:lnTo>
                    <a:pt x="16779367" y="8877871"/>
                  </a:lnTo>
                  <a:lnTo>
                    <a:pt x="16779367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457109" y="1411668"/>
            <a:ext cx="65601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Design</a:t>
            </a:r>
            <a:r>
              <a:rPr dirty="0" u="sng" sz="3200" spc="29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3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Excellence</a:t>
            </a:r>
            <a:r>
              <a:rPr dirty="0" u="sng" sz="3200" spc="29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3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/</a:t>
            </a:r>
            <a:r>
              <a:rPr dirty="0" u="sng" sz="3200" spc="29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3200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Contribution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1457109" y="2173363"/>
            <a:ext cx="7256780" cy="741616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596265" marR="65405" indent="-292100">
              <a:lnSpc>
                <a:spcPts val="2700"/>
              </a:lnSpc>
              <a:spcBef>
                <a:spcPts val="640"/>
              </a:spcBef>
              <a:buFont typeface="Arial"/>
              <a:buChar char="•"/>
              <a:tabLst>
                <a:tab pos="596265" algn="l"/>
              </a:tabLst>
            </a:pPr>
            <a:r>
              <a:rPr dirty="0" sz="2700" b="1">
                <a:latin typeface="Arial"/>
                <a:cs typeface="Arial"/>
              </a:rPr>
              <a:t>Uses</a:t>
            </a:r>
            <a:r>
              <a:rPr dirty="0" sz="2700" spc="29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Logistic</a:t>
            </a:r>
            <a:r>
              <a:rPr dirty="0" sz="2700" spc="29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Regression</a:t>
            </a:r>
            <a:r>
              <a:rPr dirty="0" sz="2700" spc="300" b="1">
                <a:latin typeface="Arial"/>
                <a:cs typeface="Arial"/>
              </a:rPr>
              <a:t> </a:t>
            </a:r>
            <a:r>
              <a:rPr dirty="0" sz="2700" spc="-25" b="1">
                <a:latin typeface="Arial"/>
                <a:cs typeface="Arial"/>
              </a:rPr>
              <a:t>for </a:t>
            </a:r>
            <a:r>
              <a:rPr dirty="0" sz="2700" b="1">
                <a:latin typeface="Arial"/>
                <a:cs typeface="Arial"/>
              </a:rPr>
              <a:t>interpretable</a:t>
            </a:r>
            <a:r>
              <a:rPr dirty="0" sz="2700" spc="30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student</a:t>
            </a:r>
            <a:r>
              <a:rPr dirty="0" sz="2700" spc="31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risk</a:t>
            </a:r>
            <a:r>
              <a:rPr dirty="0" sz="2700" spc="315" b="1">
                <a:latin typeface="Arial"/>
                <a:cs typeface="Arial"/>
              </a:rPr>
              <a:t> </a:t>
            </a:r>
            <a:r>
              <a:rPr dirty="0" sz="2700" spc="-10" b="1">
                <a:latin typeface="Arial"/>
                <a:cs typeface="Arial"/>
              </a:rPr>
              <a:t>classification</a:t>
            </a:r>
            <a:endParaRPr sz="2700">
              <a:latin typeface="Arial"/>
              <a:cs typeface="Arial"/>
            </a:endParaRPr>
          </a:p>
          <a:p>
            <a:pPr marL="596265" marR="34925" indent="-292100">
              <a:lnSpc>
                <a:spcPts val="2700"/>
              </a:lnSpc>
              <a:spcBef>
                <a:spcPts val="2710"/>
              </a:spcBef>
              <a:buFont typeface="Arial"/>
              <a:buChar char="•"/>
              <a:tabLst>
                <a:tab pos="596265" algn="l"/>
              </a:tabLst>
            </a:pPr>
            <a:r>
              <a:rPr dirty="0" sz="2700" b="1">
                <a:latin typeface="Arial"/>
                <a:cs typeface="Arial"/>
              </a:rPr>
              <a:t>Applies</a:t>
            </a:r>
            <a:r>
              <a:rPr dirty="0" sz="2700" spc="26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Gaussian</a:t>
            </a:r>
            <a:r>
              <a:rPr dirty="0" sz="2700" spc="270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Mixture</a:t>
            </a:r>
            <a:r>
              <a:rPr dirty="0" sz="2700" spc="26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Model</a:t>
            </a:r>
            <a:r>
              <a:rPr dirty="0" sz="2700" spc="270" b="1">
                <a:latin typeface="Arial"/>
                <a:cs typeface="Arial"/>
              </a:rPr>
              <a:t> </a:t>
            </a:r>
            <a:r>
              <a:rPr dirty="0" sz="2700" spc="-10" b="1">
                <a:latin typeface="Arial"/>
                <a:cs typeface="Arial"/>
              </a:rPr>
              <a:t>(GMM) </a:t>
            </a:r>
            <a:r>
              <a:rPr dirty="0" sz="2700" b="1">
                <a:latin typeface="Arial"/>
                <a:cs typeface="Arial"/>
              </a:rPr>
              <a:t>for</a:t>
            </a:r>
            <a:r>
              <a:rPr dirty="0" sz="2700" spc="270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learner</a:t>
            </a:r>
            <a:r>
              <a:rPr dirty="0" sz="2700" spc="27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difficulty</a:t>
            </a:r>
            <a:r>
              <a:rPr dirty="0" sz="2700" spc="270" b="1">
                <a:latin typeface="Arial"/>
                <a:cs typeface="Arial"/>
              </a:rPr>
              <a:t> </a:t>
            </a:r>
            <a:r>
              <a:rPr dirty="0" sz="2700" spc="-10" b="1">
                <a:latin typeface="Arial"/>
                <a:cs typeface="Arial"/>
              </a:rPr>
              <a:t>profiling</a:t>
            </a:r>
            <a:endParaRPr sz="2700">
              <a:latin typeface="Arial"/>
              <a:cs typeface="Arial"/>
            </a:endParaRPr>
          </a:p>
          <a:p>
            <a:pPr marL="596265" marR="439420" indent="-292100">
              <a:lnSpc>
                <a:spcPts val="2700"/>
              </a:lnSpc>
              <a:spcBef>
                <a:spcPts val="2705"/>
              </a:spcBef>
              <a:buFont typeface="Arial"/>
              <a:buChar char="•"/>
              <a:tabLst>
                <a:tab pos="596265" algn="l"/>
              </a:tabLst>
            </a:pPr>
            <a:r>
              <a:rPr dirty="0" sz="2700" b="1">
                <a:latin typeface="Arial"/>
                <a:cs typeface="Arial"/>
              </a:rPr>
              <a:t>Aggregates</a:t>
            </a:r>
            <a:r>
              <a:rPr dirty="0" sz="2700" spc="40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multi-engine</a:t>
            </a:r>
            <a:r>
              <a:rPr dirty="0" sz="2700" spc="409" b="1">
                <a:latin typeface="Arial"/>
                <a:cs typeface="Arial"/>
              </a:rPr>
              <a:t> </a:t>
            </a:r>
            <a:r>
              <a:rPr dirty="0" sz="2700" spc="-10" b="1">
                <a:latin typeface="Arial"/>
                <a:cs typeface="Arial"/>
              </a:rPr>
              <a:t>behavioural </a:t>
            </a:r>
            <a:r>
              <a:rPr dirty="0" sz="2700" b="1">
                <a:latin typeface="Arial"/>
                <a:cs typeface="Arial"/>
              </a:rPr>
              <a:t>data</a:t>
            </a:r>
            <a:r>
              <a:rPr dirty="0" sz="2700" spc="204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into</a:t>
            </a:r>
            <a:r>
              <a:rPr dirty="0" sz="2700" spc="210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a</a:t>
            </a:r>
            <a:r>
              <a:rPr dirty="0" sz="2700" spc="210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unified</a:t>
            </a:r>
            <a:r>
              <a:rPr dirty="0" sz="2700" spc="210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analytics</a:t>
            </a:r>
            <a:r>
              <a:rPr dirty="0" sz="2700" spc="210" b="1">
                <a:latin typeface="Arial"/>
                <a:cs typeface="Arial"/>
              </a:rPr>
              <a:t> </a:t>
            </a:r>
            <a:r>
              <a:rPr dirty="0" sz="2700" spc="-10" b="1">
                <a:latin typeface="Arial"/>
                <a:cs typeface="Arial"/>
              </a:rPr>
              <a:t>pipeline</a:t>
            </a:r>
            <a:endParaRPr sz="2700">
              <a:latin typeface="Arial"/>
              <a:cs typeface="Arial"/>
            </a:endParaRPr>
          </a:p>
          <a:p>
            <a:pPr marL="596265" marR="5080" indent="-292100">
              <a:lnSpc>
                <a:spcPts val="2700"/>
              </a:lnSpc>
              <a:spcBef>
                <a:spcPts val="2710"/>
              </a:spcBef>
              <a:buFont typeface="Arial"/>
              <a:buChar char="•"/>
              <a:tabLst>
                <a:tab pos="596265" algn="l"/>
              </a:tabLst>
            </a:pPr>
            <a:r>
              <a:rPr dirty="0" sz="2700" b="1">
                <a:latin typeface="Arial"/>
                <a:cs typeface="Arial"/>
              </a:rPr>
              <a:t>Tracks</a:t>
            </a:r>
            <a:r>
              <a:rPr dirty="0" sz="2700" spc="36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longitudinal</a:t>
            </a:r>
            <a:r>
              <a:rPr dirty="0" sz="2700" spc="36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performance</a:t>
            </a:r>
            <a:r>
              <a:rPr dirty="0" sz="2700" spc="365" b="1">
                <a:latin typeface="Arial"/>
                <a:cs typeface="Arial"/>
              </a:rPr>
              <a:t> </a:t>
            </a:r>
            <a:r>
              <a:rPr dirty="0" sz="2700" spc="-10" b="1">
                <a:latin typeface="Arial"/>
                <a:cs typeface="Arial"/>
              </a:rPr>
              <a:t>trends </a:t>
            </a:r>
            <a:r>
              <a:rPr dirty="0" sz="2700" b="1">
                <a:latin typeface="Arial"/>
                <a:cs typeface="Arial"/>
              </a:rPr>
              <a:t>across</a:t>
            </a:r>
            <a:r>
              <a:rPr dirty="0" sz="2700" spc="260" b="1">
                <a:latin typeface="Arial"/>
                <a:cs typeface="Arial"/>
              </a:rPr>
              <a:t> </a:t>
            </a:r>
            <a:r>
              <a:rPr dirty="0" sz="2700" spc="-10" b="1">
                <a:latin typeface="Arial"/>
                <a:cs typeface="Arial"/>
              </a:rPr>
              <a:t>sessions</a:t>
            </a:r>
            <a:endParaRPr sz="2700">
              <a:latin typeface="Arial"/>
              <a:cs typeface="Arial"/>
            </a:endParaRPr>
          </a:p>
          <a:p>
            <a:pPr marL="596265" marR="438784" indent="-292100">
              <a:lnSpc>
                <a:spcPts val="2700"/>
              </a:lnSpc>
              <a:spcBef>
                <a:spcPts val="2710"/>
              </a:spcBef>
              <a:buFont typeface="Arial"/>
              <a:buChar char="•"/>
              <a:tabLst>
                <a:tab pos="596265" algn="l"/>
              </a:tabLst>
            </a:pPr>
            <a:r>
              <a:rPr dirty="0" sz="2700" b="1">
                <a:latin typeface="Arial"/>
                <a:cs typeface="Arial"/>
              </a:rPr>
              <a:t>Delivers</a:t>
            </a:r>
            <a:r>
              <a:rPr dirty="0" sz="2700" spc="10" b="1">
                <a:latin typeface="Arial"/>
                <a:cs typeface="Arial"/>
              </a:rPr>
              <a:t>  </a:t>
            </a:r>
            <a:r>
              <a:rPr dirty="0" sz="2700" b="1">
                <a:latin typeface="Arial"/>
                <a:cs typeface="Arial"/>
              </a:rPr>
              <a:t>stakeholder-</a:t>
            </a:r>
            <a:r>
              <a:rPr dirty="0" sz="2700" spc="-10" b="1">
                <a:latin typeface="Arial"/>
                <a:cs typeface="Arial"/>
              </a:rPr>
              <a:t>specific </a:t>
            </a:r>
            <a:r>
              <a:rPr dirty="0" sz="2700" b="1">
                <a:latin typeface="Arial"/>
                <a:cs typeface="Arial"/>
              </a:rPr>
              <a:t>dashboards</a:t>
            </a:r>
            <a:r>
              <a:rPr dirty="0" sz="2700" spc="23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for</a:t>
            </a:r>
            <a:r>
              <a:rPr dirty="0" sz="2700" spc="240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teachers</a:t>
            </a:r>
            <a:r>
              <a:rPr dirty="0" sz="2700" spc="240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and</a:t>
            </a:r>
            <a:r>
              <a:rPr dirty="0" sz="2700" spc="235" b="1">
                <a:latin typeface="Arial"/>
                <a:cs typeface="Arial"/>
              </a:rPr>
              <a:t> </a:t>
            </a:r>
            <a:r>
              <a:rPr dirty="0" sz="2700" spc="-10" b="1">
                <a:latin typeface="Arial"/>
                <a:cs typeface="Arial"/>
              </a:rPr>
              <a:t>parents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64"/>
              </a:spcBef>
            </a:pP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700" b="1">
                <a:latin typeface="Arial"/>
                <a:cs typeface="Arial"/>
              </a:rPr>
              <a:t>Key</a:t>
            </a:r>
            <a:r>
              <a:rPr dirty="0" sz="2700" spc="140" b="1">
                <a:latin typeface="Arial"/>
                <a:cs typeface="Arial"/>
              </a:rPr>
              <a:t> </a:t>
            </a:r>
            <a:r>
              <a:rPr dirty="0" sz="2700" spc="-10" b="1">
                <a:latin typeface="Arial"/>
                <a:cs typeface="Arial"/>
              </a:rPr>
              <a:t>Contribution</a:t>
            </a:r>
            <a:endParaRPr sz="2700">
              <a:latin typeface="Arial"/>
              <a:cs typeface="Arial"/>
            </a:endParaRPr>
          </a:p>
          <a:p>
            <a:pPr marL="12700" marR="31115">
              <a:lnSpc>
                <a:spcPts val="1800"/>
              </a:lnSpc>
              <a:spcBef>
                <a:spcPts val="2695"/>
              </a:spcBef>
            </a:pPr>
            <a:r>
              <a:rPr dirty="0" sz="1800" b="1">
                <a:latin typeface="Arial"/>
                <a:cs typeface="Arial"/>
              </a:rPr>
              <a:t>Bridges</a:t>
            </a:r>
            <a:r>
              <a:rPr dirty="0" sz="1800" spc="1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the</a:t>
            </a:r>
            <a:r>
              <a:rPr dirty="0" sz="1800" spc="1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gap</a:t>
            </a:r>
            <a:r>
              <a:rPr dirty="0" sz="1800" spc="1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between</a:t>
            </a:r>
            <a:r>
              <a:rPr dirty="0" sz="1800" spc="1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isolated</a:t>
            </a:r>
            <a:r>
              <a:rPr dirty="0" sz="1800" spc="1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adaptive</a:t>
            </a:r>
            <a:r>
              <a:rPr dirty="0" sz="1800" spc="1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learning</a:t>
            </a:r>
            <a:r>
              <a:rPr dirty="0" sz="1800" spc="15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components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1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</a:t>
            </a:r>
            <a:r>
              <a:rPr dirty="0" sz="1800" spc="1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unified</a:t>
            </a:r>
            <a:r>
              <a:rPr dirty="0" sz="1800" spc="1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intelligent</a:t>
            </a:r>
            <a:r>
              <a:rPr dirty="0" sz="1800" spc="1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analytics</a:t>
            </a:r>
            <a:r>
              <a:rPr dirty="0" sz="1800" spc="1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layer</a:t>
            </a:r>
            <a:r>
              <a:rPr dirty="0" sz="1800" spc="1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—</a:t>
            </a:r>
            <a:r>
              <a:rPr dirty="0" sz="1800" spc="1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enabling</a:t>
            </a:r>
            <a:r>
              <a:rPr dirty="0" sz="1800" spc="14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early </a:t>
            </a:r>
            <a:r>
              <a:rPr dirty="0" sz="1800" b="1">
                <a:latin typeface="Arial"/>
                <a:cs typeface="Arial"/>
              </a:rPr>
              <a:t>identification</a:t>
            </a:r>
            <a:r>
              <a:rPr dirty="0" sz="1800" spc="2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of</a:t>
            </a:r>
            <a:r>
              <a:rPr dirty="0" sz="1800" spc="2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at-risk</a:t>
            </a:r>
            <a:r>
              <a:rPr dirty="0" sz="1800" spc="2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dyscalculia</a:t>
            </a:r>
            <a:r>
              <a:rPr dirty="0" sz="1800" spc="2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learners</a:t>
            </a:r>
            <a:r>
              <a:rPr dirty="0" sz="1800" spc="21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through</a:t>
            </a:r>
            <a:r>
              <a:rPr dirty="0" sz="1800" spc="50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interpretable</a:t>
            </a:r>
            <a:r>
              <a:rPr dirty="0" sz="1800" spc="2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machine</a:t>
            </a:r>
            <a:r>
              <a:rPr dirty="0" sz="1800" spc="2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learning,</a:t>
            </a:r>
            <a:r>
              <a:rPr dirty="0" sz="1800" spc="2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longitudinal</a:t>
            </a:r>
            <a:r>
              <a:rPr dirty="0" sz="1800" spc="2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profiling,</a:t>
            </a:r>
            <a:r>
              <a:rPr dirty="0" sz="1800" spc="235" b="1">
                <a:latin typeface="Arial"/>
                <a:cs typeface="Arial"/>
              </a:rPr>
              <a:t> </a:t>
            </a:r>
            <a:r>
              <a:rPr dirty="0" sz="1800" spc="-25" b="1">
                <a:latin typeface="Arial"/>
                <a:cs typeface="Arial"/>
              </a:rPr>
              <a:t>and </a:t>
            </a:r>
            <a:r>
              <a:rPr dirty="0" sz="1800" b="1">
                <a:latin typeface="Arial"/>
                <a:cs typeface="Arial"/>
              </a:rPr>
              <a:t>actionable</a:t>
            </a:r>
            <a:r>
              <a:rPr dirty="0" sz="1800" spc="2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stakeholder</a:t>
            </a:r>
            <a:r>
              <a:rPr dirty="0" sz="1800" spc="25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dashboards.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354057" y="2006206"/>
            <a:ext cx="0" cy="6492240"/>
          </a:xfrm>
          <a:custGeom>
            <a:avLst/>
            <a:gdLst/>
            <a:ahLst/>
            <a:cxnLst/>
            <a:rect l="l" t="t" r="r" b="b"/>
            <a:pathLst>
              <a:path w="0" h="6492240">
                <a:moveTo>
                  <a:pt x="0" y="0"/>
                </a:moveTo>
                <a:lnTo>
                  <a:pt x="0" y="649224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dirty="0" spc="245"/>
              <a:t> </a:t>
            </a:r>
            <a:r>
              <a:rPr dirty="0"/>
              <a:t>Feedback</a:t>
            </a:r>
            <a:r>
              <a:rPr dirty="0" spc="250"/>
              <a:t> </a:t>
            </a:r>
            <a:r>
              <a:rPr dirty="0"/>
              <a:t>on</a:t>
            </a:r>
            <a:r>
              <a:rPr dirty="0" spc="245"/>
              <a:t> </a:t>
            </a:r>
            <a:r>
              <a:rPr dirty="0" spc="-10"/>
              <a:t>Prototype</a:t>
            </a:r>
          </a:p>
          <a:p>
            <a:pPr algn="just" marL="586740" marR="459105" indent="-280670">
              <a:lnSpc>
                <a:spcPts val="2600"/>
              </a:lnSpc>
              <a:spcBef>
                <a:spcPts val="2910"/>
              </a:spcBef>
              <a:buFont typeface="Arial"/>
              <a:buChar char="•"/>
              <a:tabLst>
                <a:tab pos="586740" algn="l"/>
              </a:tabLst>
            </a:pPr>
            <a:r>
              <a:rPr dirty="0" u="none" sz="2600"/>
              <a:t>Teachers</a:t>
            </a:r>
            <a:r>
              <a:rPr dirty="0" u="none" sz="2600" spc="170"/>
              <a:t> </a:t>
            </a:r>
            <a:r>
              <a:rPr dirty="0" u="none" sz="2600"/>
              <a:t>found</a:t>
            </a:r>
            <a:r>
              <a:rPr dirty="0" u="none" sz="2600" spc="170"/>
              <a:t> </a:t>
            </a:r>
            <a:r>
              <a:rPr dirty="0" u="none" sz="2600"/>
              <a:t>the</a:t>
            </a:r>
            <a:r>
              <a:rPr dirty="0" u="none" sz="2600" spc="170"/>
              <a:t> </a:t>
            </a:r>
            <a:r>
              <a:rPr dirty="0" u="none" sz="2600"/>
              <a:t>risk</a:t>
            </a:r>
            <a:r>
              <a:rPr dirty="0" u="none" sz="2600" spc="175"/>
              <a:t> </a:t>
            </a:r>
            <a:r>
              <a:rPr dirty="0" u="none" sz="2600"/>
              <a:t>alerts</a:t>
            </a:r>
            <a:r>
              <a:rPr dirty="0" u="none" sz="2600" spc="170"/>
              <a:t> </a:t>
            </a:r>
            <a:r>
              <a:rPr dirty="0" u="none" sz="2600"/>
              <a:t>easy</a:t>
            </a:r>
            <a:r>
              <a:rPr dirty="0" u="none" sz="2600" spc="170"/>
              <a:t> </a:t>
            </a:r>
            <a:r>
              <a:rPr dirty="0" u="none" sz="2600" spc="-25"/>
              <a:t>to </a:t>
            </a:r>
            <a:r>
              <a:rPr dirty="0" u="none" sz="2600"/>
              <a:t>understand</a:t>
            </a:r>
            <a:r>
              <a:rPr dirty="0" u="none" sz="2600" spc="190"/>
              <a:t> </a:t>
            </a:r>
            <a:r>
              <a:rPr dirty="0" u="none" sz="2600"/>
              <a:t>and</a:t>
            </a:r>
            <a:r>
              <a:rPr dirty="0" u="none" sz="2600" spc="195"/>
              <a:t> </a:t>
            </a:r>
            <a:r>
              <a:rPr dirty="0" u="none" sz="2600"/>
              <a:t>act</a:t>
            </a:r>
            <a:r>
              <a:rPr dirty="0" u="none" sz="2600" spc="195"/>
              <a:t> </a:t>
            </a:r>
            <a:r>
              <a:rPr dirty="0" u="none" sz="2600" spc="-25"/>
              <a:t>on</a:t>
            </a:r>
            <a:endParaRPr sz="2600"/>
          </a:p>
          <a:p>
            <a:pPr algn="just" marL="586740" marR="1029969" indent="-280670">
              <a:lnSpc>
                <a:spcPts val="2600"/>
              </a:lnSpc>
              <a:spcBef>
                <a:spcPts val="2600"/>
              </a:spcBef>
              <a:buFont typeface="Arial"/>
              <a:buChar char="•"/>
              <a:tabLst>
                <a:tab pos="586740" algn="l"/>
              </a:tabLst>
            </a:pPr>
            <a:r>
              <a:rPr dirty="0" u="none" sz="2600"/>
              <a:t>Parents</a:t>
            </a:r>
            <a:r>
              <a:rPr dirty="0" u="none" sz="2600" spc="225"/>
              <a:t> </a:t>
            </a:r>
            <a:r>
              <a:rPr dirty="0" u="none" sz="2600"/>
              <a:t>appreciated</a:t>
            </a:r>
            <a:r>
              <a:rPr dirty="0" u="none" sz="2600" spc="225"/>
              <a:t> </a:t>
            </a:r>
            <a:r>
              <a:rPr dirty="0" u="none" sz="2600"/>
              <a:t>the</a:t>
            </a:r>
            <a:r>
              <a:rPr dirty="0" u="none" sz="2600" spc="225"/>
              <a:t> </a:t>
            </a:r>
            <a:r>
              <a:rPr dirty="0" u="none" sz="2600" spc="-10"/>
              <a:t>simplified </a:t>
            </a:r>
            <a:r>
              <a:rPr dirty="0" u="none" sz="2600"/>
              <a:t>progress</a:t>
            </a:r>
            <a:r>
              <a:rPr dirty="0" u="none" sz="2600" spc="185"/>
              <a:t> </a:t>
            </a:r>
            <a:r>
              <a:rPr dirty="0" u="none" sz="2600"/>
              <a:t>view</a:t>
            </a:r>
            <a:r>
              <a:rPr dirty="0" u="none" sz="2600" spc="185"/>
              <a:t> </a:t>
            </a:r>
            <a:r>
              <a:rPr dirty="0" u="none" sz="2600"/>
              <a:t>and</a:t>
            </a:r>
            <a:r>
              <a:rPr dirty="0" u="none" sz="2600" spc="190"/>
              <a:t> </a:t>
            </a:r>
            <a:r>
              <a:rPr dirty="0" u="none" sz="2600" spc="25"/>
              <a:t>pl</a:t>
            </a:r>
            <a:r>
              <a:rPr dirty="0" u="none" sz="2600" spc="-770"/>
              <a:t>a</a:t>
            </a:r>
            <a:r>
              <a:rPr dirty="0" u="none" baseline="23640" sz="3525" spc="187"/>
              <a:t>.</a:t>
            </a:r>
            <a:r>
              <a:rPr dirty="0" u="none" sz="2600" spc="25"/>
              <a:t>in-</a:t>
            </a:r>
            <a:r>
              <a:rPr dirty="0" u="none" sz="2600" spc="-10"/>
              <a:t>language warnings</a:t>
            </a:r>
            <a:endParaRPr sz="2600"/>
          </a:p>
          <a:p>
            <a:pPr algn="just" marL="586740" marR="589915" indent="-280670">
              <a:lnSpc>
                <a:spcPts val="2600"/>
              </a:lnSpc>
              <a:spcBef>
                <a:spcPts val="2600"/>
              </a:spcBef>
              <a:buFont typeface="Arial"/>
              <a:buChar char="•"/>
              <a:tabLst>
                <a:tab pos="586740" algn="l"/>
              </a:tabLst>
            </a:pPr>
            <a:r>
              <a:rPr dirty="0" u="none" sz="2600"/>
              <a:t>Students</a:t>
            </a:r>
            <a:r>
              <a:rPr dirty="0" u="none" sz="2600" spc="190"/>
              <a:t> </a:t>
            </a:r>
            <a:r>
              <a:rPr dirty="0" u="none" sz="2600"/>
              <a:t>showed</a:t>
            </a:r>
            <a:r>
              <a:rPr dirty="0" u="none" sz="2600" spc="190"/>
              <a:t> </a:t>
            </a:r>
            <a:r>
              <a:rPr dirty="0" u="none" sz="2600"/>
              <a:t>no</a:t>
            </a:r>
            <a:r>
              <a:rPr dirty="0" u="none" sz="2600" spc="190"/>
              <a:t> </a:t>
            </a:r>
            <a:r>
              <a:rPr dirty="0" u="none" sz="2600"/>
              <a:t>added</a:t>
            </a:r>
            <a:r>
              <a:rPr dirty="0" u="none" sz="2600" spc="190"/>
              <a:t> </a:t>
            </a:r>
            <a:r>
              <a:rPr dirty="0" u="none" sz="2600"/>
              <a:t>stress</a:t>
            </a:r>
            <a:r>
              <a:rPr dirty="0" u="none" sz="2600" spc="190"/>
              <a:t> </a:t>
            </a:r>
            <a:r>
              <a:rPr dirty="0" u="none" sz="2600" spc="-25"/>
              <a:t>as </a:t>
            </a:r>
            <a:r>
              <a:rPr dirty="0" u="none" sz="2600"/>
              <a:t>monitoring</a:t>
            </a:r>
            <a:r>
              <a:rPr dirty="0" u="none" sz="2600" spc="225"/>
              <a:t> </a:t>
            </a:r>
            <a:r>
              <a:rPr dirty="0" u="none" sz="2600"/>
              <a:t>happens</a:t>
            </a:r>
            <a:r>
              <a:rPr dirty="0" u="none" sz="2600" spc="235"/>
              <a:t> </a:t>
            </a:r>
            <a:r>
              <a:rPr dirty="0" u="none" sz="2600"/>
              <a:t>passively</a:t>
            </a:r>
            <a:r>
              <a:rPr dirty="0" u="none" sz="2600" spc="235"/>
              <a:t> </a:t>
            </a:r>
            <a:r>
              <a:rPr dirty="0" u="none" sz="2600"/>
              <a:t>in</a:t>
            </a:r>
            <a:r>
              <a:rPr dirty="0" u="none" sz="2600" spc="235"/>
              <a:t> </a:t>
            </a:r>
            <a:r>
              <a:rPr dirty="0" u="none" sz="2600" spc="-25"/>
              <a:t>the </a:t>
            </a:r>
            <a:r>
              <a:rPr dirty="0" u="none" sz="2600" spc="-10"/>
              <a:t>background</a:t>
            </a:r>
            <a:endParaRPr sz="2600"/>
          </a:p>
          <a:p>
            <a:pPr algn="just" marL="586740" marR="1583055" indent="-280670">
              <a:lnSpc>
                <a:spcPts val="2600"/>
              </a:lnSpc>
              <a:spcBef>
                <a:spcPts val="2600"/>
              </a:spcBef>
              <a:buFont typeface="Arial"/>
              <a:buChar char="•"/>
              <a:tabLst>
                <a:tab pos="586740" algn="l"/>
              </a:tabLst>
            </a:pPr>
            <a:r>
              <a:rPr dirty="0" u="none" sz="2600"/>
              <a:t>Supervisors</a:t>
            </a:r>
            <a:r>
              <a:rPr dirty="0" u="none" sz="2600" spc="200"/>
              <a:t> </a:t>
            </a:r>
            <a:r>
              <a:rPr dirty="0" u="none" sz="2600"/>
              <a:t>noted</a:t>
            </a:r>
            <a:r>
              <a:rPr dirty="0" u="none" sz="2600" spc="204"/>
              <a:t> </a:t>
            </a:r>
            <a:r>
              <a:rPr dirty="0" u="none" sz="2600"/>
              <a:t>the</a:t>
            </a:r>
            <a:r>
              <a:rPr dirty="0" u="none" sz="2600" spc="204"/>
              <a:t> </a:t>
            </a:r>
            <a:r>
              <a:rPr dirty="0" u="none" sz="2600"/>
              <a:t>value</a:t>
            </a:r>
            <a:r>
              <a:rPr dirty="0" u="none" sz="2600" spc="204"/>
              <a:t> </a:t>
            </a:r>
            <a:r>
              <a:rPr dirty="0" u="none" sz="2600" spc="-25"/>
              <a:t>of </a:t>
            </a:r>
            <a:r>
              <a:rPr dirty="0" u="none" sz="2600"/>
              <a:t>aggregating</a:t>
            </a:r>
            <a:r>
              <a:rPr dirty="0" u="none" sz="2600" spc="220"/>
              <a:t> </a:t>
            </a:r>
            <a:r>
              <a:rPr dirty="0" u="none" sz="2600"/>
              <a:t>data</a:t>
            </a:r>
            <a:r>
              <a:rPr dirty="0" u="none" sz="2600" spc="220"/>
              <a:t> </a:t>
            </a:r>
            <a:r>
              <a:rPr dirty="0" u="none" sz="2600"/>
              <a:t>from</a:t>
            </a:r>
            <a:r>
              <a:rPr dirty="0" u="none" sz="2600" spc="220"/>
              <a:t> </a:t>
            </a:r>
            <a:r>
              <a:rPr dirty="0" u="none" sz="2600" spc="-10"/>
              <a:t>multiple components</a:t>
            </a:r>
            <a:endParaRPr sz="2600"/>
          </a:p>
          <a:p>
            <a:pPr marL="586740" marR="43180" indent="-280670">
              <a:lnSpc>
                <a:spcPts val="2600"/>
              </a:lnSpc>
              <a:spcBef>
                <a:spcPts val="2600"/>
              </a:spcBef>
              <a:buFont typeface="Arial"/>
              <a:buChar char="•"/>
              <a:tabLst>
                <a:tab pos="586740" algn="l"/>
              </a:tabLst>
            </a:pPr>
            <a:r>
              <a:rPr dirty="0" u="none" sz="2600"/>
              <a:t>Dashboard</a:t>
            </a:r>
            <a:r>
              <a:rPr dirty="0" u="none" sz="2600" spc="290"/>
              <a:t> </a:t>
            </a:r>
            <a:r>
              <a:rPr dirty="0" u="none" sz="2600"/>
              <a:t>performance</a:t>
            </a:r>
            <a:r>
              <a:rPr dirty="0" u="none" sz="2600" spc="295"/>
              <a:t> </a:t>
            </a:r>
            <a:r>
              <a:rPr dirty="0" u="none" sz="2600"/>
              <a:t>tracking</a:t>
            </a:r>
            <a:r>
              <a:rPr dirty="0" u="none" sz="2600" spc="295"/>
              <a:t> </a:t>
            </a:r>
            <a:r>
              <a:rPr dirty="0" u="none" sz="2600" spc="-10"/>
              <a:t>helped </a:t>
            </a:r>
            <a:r>
              <a:rPr dirty="0" u="none" sz="2600"/>
              <a:t>identify</a:t>
            </a:r>
            <a:r>
              <a:rPr dirty="0" u="none" sz="2600" spc="275"/>
              <a:t> </a:t>
            </a:r>
            <a:r>
              <a:rPr dirty="0" u="none" sz="2600"/>
              <a:t>struggling</a:t>
            </a:r>
            <a:r>
              <a:rPr dirty="0" u="none" sz="2600" spc="280"/>
              <a:t> </a:t>
            </a:r>
            <a:r>
              <a:rPr dirty="0" u="none" sz="2600"/>
              <a:t>students</a:t>
            </a:r>
            <a:r>
              <a:rPr dirty="0" u="none" sz="2600" spc="275"/>
              <a:t> </a:t>
            </a:r>
            <a:r>
              <a:rPr dirty="0" u="none" sz="2600"/>
              <a:t>earlier</a:t>
            </a:r>
            <a:r>
              <a:rPr dirty="0" u="none" sz="2600" spc="280"/>
              <a:t> </a:t>
            </a:r>
            <a:r>
              <a:rPr dirty="0" u="none" sz="2600" spc="-20"/>
              <a:t>than </a:t>
            </a:r>
            <a:r>
              <a:rPr dirty="0" u="none" sz="2600" spc="-10"/>
              <a:t>expected</a:t>
            </a:r>
            <a:endParaRPr sz="2600"/>
          </a:p>
        </p:txBody>
      </p:sp>
      <p:sp>
        <p:nvSpPr>
          <p:cNvPr id="9" name="object 9"/>
          <p:cNvSpPr txBox="1"/>
          <p:nvPr/>
        </p:nvSpPr>
        <p:spPr>
          <a:xfrm>
            <a:off x="5217256" y="9708518"/>
            <a:ext cx="7136765" cy="479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635"/>
              </a:lnSpc>
            </a:pP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IT21275524</a:t>
            </a:r>
            <a:r>
              <a:rPr dirty="0" sz="320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Rakeesha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M.G.N</a:t>
            </a:r>
            <a:r>
              <a:rPr dirty="0" sz="320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D1C38"/>
                </a:solidFill>
                <a:latin typeface="Arial"/>
                <a:cs typeface="Arial"/>
              </a:rPr>
              <a:t>|</a:t>
            </a:r>
            <a:r>
              <a:rPr dirty="0" sz="320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200" spc="-2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258" y="372078"/>
            <a:ext cx="17608550" cy="9636125"/>
          </a:xfrm>
          <a:custGeom>
            <a:avLst/>
            <a:gdLst/>
            <a:ahLst/>
            <a:cxnLst/>
            <a:rect l="l" t="t" r="r" b="b"/>
            <a:pathLst>
              <a:path w="17608550" h="9636125">
                <a:moveTo>
                  <a:pt x="17608042" y="0"/>
                </a:moveTo>
                <a:lnTo>
                  <a:pt x="0" y="0"/>
                </a:lnTo>
                <a:lnTo>
                  <a:pt x="0" y="9636084"/>
                </a:lnTo>
                <a:lnTo>
                  <a:pt x="17608042" y="9636084"/>
                </a:lnTo>
                <a:lnTo>
                  <a:pt x="17608042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199315" y="344151"/>
            <a:ext cx="12166600" cy="680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/>
              <a:t>Interactive</a:t>
            </a:r>
            <a:r>
              <a:rPr dirty="0" sz="4300" spc="290"/>
              <a:t> </a:t>
            </a:r>
            <a:r>
              <a:rPr dirty="0" sz="4300" spc="45"/>
              <a:t>Learning</a:t>
            </a:r>
            <a:r>
              <a:rPr dirty="0" sz="4300" spc="290"/>
              <a:t> </a:t>
            </a:r>
            <a:r>
              <a:rPr dirty="0" sz="4300"/>
              <a:t>Tool</a:t>
            </a:r>
            <a:r>
              <a:rPr dirty="0" sz="4300" spc="290"/>
              <a:t> </a:t>
            </a:r>
            <a:r>
              <a:rPr dirty="0" sz="4300"/>
              <a:t>for</a:t>
            </a:r>
            <a:r>
              <a:rPr dirty="0" sz="4300" spc="295"/>
              <a:t> </a:t>
            </a:r>
            <a:r>
              <a:rPr dirty="0" sz="4300" spc="50"/>
              <a:t>Dyscalculia</a:t>
            </a:r>
            <a:r>
              <a:rPr dirty="0" sz="4300" spc="290"/>
              <a:t> </a:t>
            </a:r>
            <a:r>
              <a:rPr dirty="0" sz="4300" spc="-20"/>
              <a:t>kids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652152" y="1348244"/>
            <a:ext cx="16624300" cy="8662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u="sng" sz="43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Commercialization</a:t>
            </a:r>
            <a:r>
              <a:rPr dirty="0" u="sng" sz="4350" spc="-165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3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/</a:t>
            </a:r>
            <a:r>
              <a:rPr dirty="0" u="sng" sz="4350" spc="-155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3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Sustainability</a:t>
            </a:r>
            <a:r>
              <a:rPr dirty="0" u="sng" sz="4350" spc="-155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3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4350" spc="-15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350" spc="-10" b="1">
                <a:solidFill>
                  <a:srgbClr val="0D1C38"/>
                </a:solidFill>
                <a:uFill>
                  <a:solidFill>
                    <a:srgbClr val="0D1C38"/>
                  </a:solidFill>
                </a:uFill>
                <a:latin typeface="Arial"/>
                <a:cs typeface="Arial"/>
              </a:rPr>
              <a:t>Solution</a:t>
            </a:r>
            <a:endParaRPr sz="4350">
              <a:latin typeface="Arial"/>
              <a:cs typeface="Arial"/>
            </a:endParaRPr>
          </a:p>
          <a:p>
            <a:pPr marL="1757045">
              <a:lnSpc>
                <a:spcPct val="100000"/>
              </a:lnSpc>
              <a:spcBef>
                <a:spcPts val="2920"/>
              </a:spcBef>
            </a:pPr>
            <a:r>
              <a:rPr dirty="0" sz="3650" b="1">
                <a:solidFill>
                  <a:srgbClr val="0D1C38"/>
                </a:solidFill>
                <a:latin typeface="Arial"/>
                <a:cs typeface="Arial"/>
              </a:rPr>
              <a:t>1.Customer</a:t>
            </a:r>
            <a:r>
              <a:rPr dirty="0" sz="3650" spc="-3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650" spc="-10" b="1">
                <a:solidFill>
                  <a:srgbClr val="0D1C38"/>
                </a:solidFill>
                <a:latin typeface="Arial"/>
                <a:cs typeface="Arial"/>
              </a:rPr>
              <a:t>Persona</a:t>
            </a:r>
            <a:endParaRPr sz="3650">
              <a:latin typeface="Arial"/>
              <a:cs typeface="Arial"/>
            </a:endParaRPr>
          </a:p>
          <a:p>
            <a:pPr marL="1541145" indent="-374650">
              <a:lnSpc>
                <a:spcPts val="3804"/>
              </a:lnSpc>
              <a:spcBef>
                <a:spcPts val="1300"/>
              </a:spcBef>
              <a:buFont typeface="Arial"/>
              <a:buChar char="•"/>
              <a:tabLst>
                <a:tab pos="1541145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Grade</a:t>
            </a:r>
            <a:r>
              <a:rPr dirty="0" sz="3450" spc="22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50" b="1">
                <a:solidFill>
                  <a:srgbClr val="0D1C38"/>
                </a:solidFill>
                <a:latin typeface="Arial"/>
                <a:cs typeface="Arial"/>
              </a:rPr>
              <a:t>2–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3</a:t>
            </a:r>
            <a:r>
              <a:rPr dirty="0" sz="3450" spc="22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students</a:t>
            </a:r>
            <a:r>
              <a:rPr dirty="0" sz="3450" spc="2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with</a:t>
            </a:r>
            <a:r>
              <a:rPr dirty="0" sz="3450" spc="22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Dyscalculia</a:t>
            </a:r>
            <a:endParaRPr sz="3450">
              <a:latin typeface="Arial"/>
              <a:cs typeface="Arial"/>
            </a:endParaRPr>
          </a:p>
          <a:p>
            <a:pPr marL="1540510" marR="8263890" indent="-374650">
              <a:lnSpc>
                <a:spcPts val="3470"/>
              </a:lnSpc>
              <a:spcBef>
                <a:spcPts val="335"/>
              </a:spcBef>
              <a:buFont typeface="Arial"/>
              <a:buChar char="•"/>
              <a:tabLst>
                <a:tab pos="154051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Teachers</a:t>
            </a:r>
            <a:r>
              <a:rPr dirty="0" sz="34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4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special</a:t>
            </a:r>
            <a:r>
              <a:rPr dirty="0" sz="3450" spc="31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education educators</a:t>
            </a:r>
            <a:endParaRPr sz="3450">
              <a:latin typeface="Arial"/>
              <a:cs typeface="Arial"/>
            </a:endParaRPr>
          </a:p>
          <a:p>
            <a:pPr marL="1541145" indent="-374650">
              <a:lnSpc>
                <a:spcPts val="3120"/>
              </a:lnSpc>
              <a:buFont typeface="Arial"/>
              <a:buChar char="•"/>
              <a:tabLst>
                <a:tab pos="1541145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Parents</a:t>
            </a:r>
            <a:r>
              <a:rPr dirty="0" sz="3450" spc="3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seeking</a:t>
            </a:r>
            <a:r>
              <a:rPr dirty="0" sz="3450" spc="3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r>
              <a:rPr dirty="0" sz="3450" spc="3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support</a:t>
            </a:r>
            <a:r>
              <a:rPr dirty="0" sz="3450" spc="3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tools</a:t>
            </a:r>
            <a:endParaRPr sz="3450">
              <a:latin typeface="Arial"/>
              <a:cs typeface="Arial"/>
            </a:endParaRPr>
          </a:p>
          <a:p>
            <a:pPr marL="1540510" marR="8014334" indent="-374650">
              <a:lnSpc>
                <a:spcPts val="3470"/>
              </a:lnSpc>
              <a:spcBef>
                <a:spcPts val="335"/>
              </a:spcBef>
              <a:buFont typeface="Arial"/>
              <a:buChar char="•"/>
              <a:tabLst>
                <a:tab pos="154051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Primary</a:t>
            </a:r>
            <a:r>
              <a:rPr dirty="0" sz="3450" spc="2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schools</a:t>
            </a:r>
            <a:r>
              <a:rPr dirty="0" sz="34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450" spc="2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educational institutions</a:t>
            </a:r>
            <a:endParaRPr sz="3450">
              <a:latin typeface="Arial"/>
              <a:cs typeface="Arial"/>
            </a:endParaRPr>
          </a:p>
          <a:p>
            <a:pPr marL="1541145" indent="-374650">
              <a:lnSpc>
                <a:spcPts val="3140"/>
              </a:lnSpc>
              <a:buFont typeface="Arial"/>
              <a:buChar char="•"/>
              <a:tabLst>
                <a:tab pos="1541145" algn="l"/>
              </a:tabLst>
            </a:pPr>
            <a:r>
              <a:rPr dirty="0" sz="3450" spc="40" b="1">
                <a:solidFill>
                  <a:srgbClr val="0D1C38"/>
                </a:solidFill>
                <a:latin typeface="Arial"/>
                <a:cs typeface="Arial"/>
              </a:rPr>
              <a:t>E</a:t>
            </a:r>
            <a:r>
              <a:rPr dirty="0" sz="3450" spc="-1510" b="1">
                <a:solidFill>
                  <a:srgbClr val="0D1C38"/>
                </a:solidFill>
                <a:latin typeface="Arial"/>
                <a:cs typeface="Arial"/>
              </a:rPr>
              <a:t>d</a:t>
            </a:r>
            <a:r>
              <a:rPr dirty="0" baseline="-11415" sz="5475" spc="-765" b="1">
                <a:solidFill>
                  <a:srgbClr val="0D1C38"/>
                </a:solidFill>
                <a:latin typeface="Arial"/>
                <a:cs typeface="Arial"/>
              </a:rPr>
              <a:t>1</a:t>
            </a:r>
            <a:r>
              <a:rPr dirty="0" sz="3450" spc="-1645" b="1">
                <a:solidFill>
                  <a:srgbClr val="0D1C38"/>
                </a:solidFill>
                <a:latin typeface="Arial"/>
                <a:cs typeface="Arial"/>
              </a:rPr>
              <a:t>u</a:t>
            </a:r>
            <a:r>
              <a:rPr dirty="0" baseline="-11415" sz="5475" spc="89" b="1">
                <a:solidFill>
                  <a:srgbClr val="0D1C38"/>
                </a:solidFill>
                <a:latin typeface="Arial"/>
                <a:cs typeface="Arial"/>
              </a:rPr>
              <a:t>.</a:t>
            </a:r>
            <a:r>
              <a:rPr dirty="0" baseline="-11415" sz="5475" spc="-3712" b="1">
                <a:solidFill>
                  <a:srgbClr val="0D1C38"/>
                </a:solidFill>
                <a:latin typeface="Arial"/>
                <a:cs typeface="Arial"/>
              </a:rPr>
              <a:t>M</a:t>
            </a:r>
            <a:r>
              <a:rPr dirty="0" sz="3450" spc="40" b="1">
                <a:solidFill>
                  <a:srgbClr val="0D1C38"/>
                </a:solidFill>
                <a:latin typeface="Arial"/>
                <a:cs typeface="Arial"/>
              </a:rPr>
              <a:t>c</a:t>
            </a:r>
            <a:r>
              <a:rPr dirty="0" sz="3450" spc="-1435" b="1">
                <a:solidFill>
                  <a:srgbClr val="0D1C38"/>
                </a:solidFill>
                <a:latin typeface="Arial"/>
                <a:cs typeface="Arial"/>
              </a:rPr>
              <a:t>a</a:t>
            </a:r>
            <a:r>
              <a:rPr dirty="0" baseline="-11415" sz="5475" spc="-855" b="1">
                <a:solidFill>
                  <a:srgbClr val="0D1C38"/>
                </a:solidFill>
                <a:latin typeface="Arial"/>
                <a:cs typeface="Arial"/>
              </a:rPr>
              <a:t>a</a:t>
            </a:r>
            <a:r>
              <a:rPr dirty="0" sz="3450" spc="-615" b="1">
                <a:solidFill>
                  <a:srgbClr val="0D1C38"/>
                </a:solidFill>
                <a:latin typeface="Arial"/>
                <a:cs typeface="Arial"/>
              </a:rPr>
              <a:t>t</a:t>
            </a:r>
            <a:r>
              <a:rPr dirty="0" baseline="-11415" sz="5475" spc="-1200" b="1">
                <a:solidFill>
                  <a:srgbClr val="0D1C38"/>
                </a:solidFill>
                <a:latin typeface="Arial"/>
                <a:cs typeface="Arial"/>
              </a:rPr>
              <a:t>r</a:t>
            </a:r>
            <a:r>
              <a:rPr dirty="0" sz="3450" spc="-200" b="1">
                <a:solidFill>
                  <a:srgbClr val="0D1C38"/>
                </a:solidFill>
                <a:latin typeface="Arial"/>
                <a:cs typeface="Arial"/>
              </a:rPr>
              <a:t>i</a:t>
            </a:r>
            <a:r>
              <a:rPr dirty="0" baseline="-11415" sz="5475" spc="-2715" b="1">
                <a:solidFill>
                  <a:srgbClr val="0D1C38"/>
                </a:solidFill>
                <a:latin typeface="Arial"/>
                <a:cs typeface="Arial"/>
              </a:rPr>
              <a:t>k</a:t>
            </a:r>
            <a:r>
              <a:rPr dirty="0" sz="3450" spc="-330" b="1">
                <a:solidFill>
                  <a:srgbClr val="0D1C38"/>
                </a:solidFill>
                <a:latin typeface="Arial"/>
                <a:cs typeface="Arial"/>
              </a:rPr>
              <a:t>o</a:t>
            </a:r>
            <a:r>
              <a:rPr dirty="0" baseline="-11415" sz="5475" spc="-2520" b="1">
                <a:solidFill>
                  <a:srgbClr val="0D1C38"/>
                </a:solidFill>
                <a:latin typeface="Arial"/>
                <a:cs typeface="Arial"/>
              </a:rPr>
              <a:t>e</a:t>
            </a:r>
            <a:r>
              <a:rPr dirty="0" sz="3450" spc="-455" b="1">
                <a:solidFill>
                  <a:srgbClr val="0D1C38"/>
                </a:solidFill>
                <a:latin typeface="Arial"/>
                <a:cs typeface="Arial"/>
              </a:rPr>
              <a:t>n</a:t>
            </a:r>
            <a:r>
              <a:rPr dirty="0" baseline="-11415" sz="5475" spc="-1102" b="1">
                <a:solidFill>
                  <a:srgbClr val="0D1C38"/>
                </a:solidFill>
                <a:latin typeface="Arial"/>
                <a:cs typeface="Arial"/>
              </a:rPr>
              <a:t>t</a:t>
            </a:r>
            <a:r>
              <a:rPr dirty="0" sz="3450" spc="-190" b="1">
                <a:solidFill>
                  <a:srgbClr val="0D1C38"/>
                </a:solidFill>
                <a:latin typeface="Arial"/>
                <a:cs typeface="Arial"/>
              </a:rPr>
              <a:t>a</a:t>
            </a:r>
            <a:r>
              <a:rPr dirty="0" baseline="-11415" sz="5475" spc="-3359" b="1">
                <a:solidFill>
                  <a:srgbClr val="0D1C38"/>
                </a:solidFill>
                <a:latin typeface="Arial"/>
                <a:cs typeface="Arial"/>
              </a:rPr>
              <a:t>S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l</a:t>
            </a:r>
            <a:r>
              <a:rPr dirty="0" sz="3450" spc="15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980" b="1">
                <a:solidFill>
                  <a:srgbClr val="0D1C38"/>
                </a:solidFill>
                <a:latin typeface="Arial"/>
                <a:cs typeface="Arial"/>
              </a:rPr>
              <a:t>t</a:t>
            </a:r>
            <a:r>
              <a:rPr dirty="0" baseline="-11415" sz="5475" spc="-7" b="1">
                <a:solidFill>
                  <a:srgbClr val="0D1C38"/>
                </a:solidFill>
                <a:latin typeface="Arial"/>
                <a:cs typeface="Arial"/>
              </a:rPr>
              <a:t>i</a:t>
            </a:r>
            <a:r>
              <a:rPr dirty="0" baseline="-11415" sz="5475" spc="-2745" b="1">
                <a:solidFill>
                  <a:srgbClr val="0D1C38"/>
                </a:solidFill>
                <a:latin typeface="Arial"/>
                <a:cs typeface="Arial"/>
              </a:rPr>
              <a:t>z</a:t>
            </a:r>
            <a:r>
              <a:rPr dirty="0" sz="3450" spc="-295" b="1">
                <a:solidFill>
                  <a:srgbClr val="0D1C38"/>
                </a:solidFill>
                <a:latin typeface="Arial"/>
                <a:cs typeface="Arial"/>
              </a:rPr>
              <a:t>h</a:t>
            </a:r>
            <a:r>
              <a:rPr dirty="0" baseline="-11415" sz="5475" spc="-2550" b="1">
                <a:solidFill>
                  <a:srgbClr val="0D1C38"/>
                </a:solidFill>
                <a:latin typeface="Arial"/>
                <a:cs typeface="Arial"/>
              </a:rPr>
              <a:t>e</a:t>
            </a:r>
            <a:r>
              <a:rPr dirty="0" sz="3450" spc="45" b="1">
                <a:solidFill>
                  <a:srgbClr val="0D1C38"/>
                </a:solidFill>
                <a:latin typeface="Arial"/>
                <a:cs typeface="Arial"/>
              </a:rPr>
              <a:t>erapist</a:t>
            </a:r>
            <a:r>
              <a:rPr dirty="0" sz="3450" spc="-5" b="1">
                <a:solidFill>
                  <a:srgbClr val="0D1C38"/>
                </a:solidFill>
                <a:latin typeface="Arial"/>
                <a:cs typeface="Arial"/>
              </a:rPr>
              <a:t>s</a:t>
            </a:r>
            <a:r>
              <a:rPr dirty="0" sz="3450" spc="17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450" spc="1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EdTech</a:t>
            </a:r>
            <a:endParaRPr sz="3450">
              <a:latin typeface="Arial"/>
              <a:cs typeface="Arial"/>
            </a:endParaRPr>
          </a:p>
          <a:p>
            <a:pPr marL="1540510">
              <a:lnSpc>
                <a:spcPts val="3785"/>
              </a:lnSpc>
            </a:pP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platforms</a:t>
            </a:r>
            <a:endParaRPr sz="3450">
              <a:latin typeface="Arial"/>
              <a:cs typeface="Arial"/>
            </a:endParaRPr>
          </a:p>
          <a:p>
            <a:pPr marL="1343025" indent="-374650">
              <a:lnSpc>
                <a:spcPts val="3804"/>
              </a:lnSpc>
              <a:spcBef>
                <a:spcPts val="235"/>
              </a:spcBef>
              <a:buFont typeface="Arial"/>
              <a:buChar char="•"/>
              <a:tabLst>
                <a:tab pos="1343025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Dyscalculia</a:t>
            </a:r>
            <a:r>
              <a:rPr dirty="0" sz="3450" spc="3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affects</a:t>
            </a:r>
            <a:r>
              <a:rPr dirty="0" sz="3450" spc="3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approximately</a:t>
            </a:r>
            <a:r>
              <a:rPr dirty="0" sz="3450" spc="3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50" b="1">
                <a:solidFill>
                  <a:srgbClr val="0D1C38"/>
                </a:solidFill>
                <a:latin typeface="Arial"/>
                <a:cs typeface="Arial"/>
              </a:rPr>
              <a:t>3%–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7%</a:t>
            </a:r>
            <a:r>
              <a:rPr dirty="0" sz="3450" spc="35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of</a:t>
            </a:r>
            <a:r>
              <a:rPr dirty="0" sz="3450" spc="3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children</a:t>
            </a:r>
            <a:r>
              <a:rPr dirty="0" sz="3450" spc="3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globally</a:t>
            </a:r>
            <a:endParaRPr sz="3450">
              <a:latin typeface="Arial"/>
              <a:cs typeface="Arial"/>
            </a:endParaRPr>
          </a:p>
          <a:p>
            <a:pPr marL="1343025" indent="-374650">
              <a:lnSpc>
                <a:spcPts val="3465"/>
              </a:lnSpc>
              <a:buFont typeface="Arial"/>
              <a:buChar char="•"/>
              <a:tabLst>
                <a:tab pos="1343025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Increasing</a:t>
            </a:r>
            <a:r>
              <a:rPr dirty="0" sz="3450" spc="3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demand</a:t>
            </a:r>
            <a:r>
              <a:rPr dirty="0" sz="3450" spc="3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3450" spc="3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AI-powered</a:t>
            </a:r>
            <a:r>
              <a:rPr dirty="0" sz="3450" spc="3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personalized</a:t>
            </a:r>
            <a:r>
              <a:rPr dirty="0" sz="3450" spc="3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education</a:t>
            </a:r>
            <a:r>
              <a:rPr dirty="0" sz="3450" spc="3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systems</a:t>
            </a:r>
            <a:endParaRPr sz="3450">
              <a:latin typeface="Arial"/>
              <a:cs typeface="Arial"/>
            </a:endParaRPr>
          </a:p>
          <a:p>
            <a:pPr marL="1343025" indent="-374650">
              <a:lnSpc>
                <a:spcPts val="3465"/>
              </a:lnSpc>
              <a:buFont typeface="Arial"/>
              <a:buChar char="•"/>
              <a:tabLst>
                <a:tab pos="1343025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Growing</a:t>
            </a:r>
            <a:r>
              <a:rPr dirty="0" sz="3450" spc="2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EdTech</a:t>
            </a:r>
            <a:r>
              <a:rPr dirty="0" sz="345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market</a:t>
            </a:r>
            <a:r>
              <a:rPr dirty="0" sz="345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in</a:t>
            </a:r>
            <a:r>
              <a:rPr dirty="0" sz="345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Sri</a:t>
            </a:r>
            <a:r>
              <a:rPr dirty="0" sz="345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Lanka</a:t>
            </a:r>
            <a:r>
              <a:rPr dirty="0" sz="3450" spc="25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450" spc="2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internationally</a:t>
            </a:r>
            <a:endParaRPr sz="3450">
              <a:latin typeface="Arial"/>
              <a:cs typeface="Arial"/>
            </a:endParaRPr>
          </a:p>
          <a:p>
            <a:pPr marL="1343025" marR="30480" indent="-374650">
              <a:lnSpc>
                <a:spcPts val="3470"/>
              </a:lnSpc>
              <a:spcBef>
                <a:spcPts val="335"/>
              </a:spcBef>
              <a:buFont typeface="Arial"/>
              <a:buChar char="•"/>
              <a:tabLst>
                <a:tab pos="1343025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High</a:t>
            </a:r>
            <a:r>
              <a:rPr dirty="0" sz="34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potential</a:t>
            </a:r>
            <a:r>
              <a:rPr dirty="0" sz="34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34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integration</a:t>
            </a:r>
            <a:r>
              <a:rPr dirty="0" sz="34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into</a:t>
            </a:r>
            <a:r>
              <a:rPr dirty="0" sz="34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schools,</a:t>
            </a:r>
            <a:r>
              <a:rPr dirty="0" sz="34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r>
              <a:rPr dirty="0" sz="34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centers,</a:t>
            </a:r>
            <a:r>
              <a:rPr dirty="0" sz="3450" spc="3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450" spc="3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online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r>
              <a:rPr dirty="0" sz="3450" spc="3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platforms</a:t>
            </a:r>
            <a:endParaRPr sz="3450">
              <a:latin typeface="Arial"/>
              <a:cs typeface="Arial"/>
            </a:endParaRPr>
          </a:p>
          <a:p>
            <a:pPr algn="ctr" marL="986790">
              <a:lnSpc>
                <a:spcPct val="100000"/>
              </a:lnSpc>
              <a:spcBef>
                <a:spcPts val="3040"/>
              </a:spcBef>
            </a:pPr>
            <a:r>
              <a:rPr dirty="0" sz="3750" b="1">
                <a:solidFill>
                  <a:srgbClr val="0D1C38"/>
                </a:solidFill>
                <a:latin typeface="Arial"/>
                <a:cs typeface="Arial"/>
              </a:rPr>
              <a:t>R26-IT-</a:t>
            </a:r>
            <a:endParaRPr sz="37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970883" y="9937321"/>
            <a:ext cx="834390" cy="557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245"/>
              </a:lnSpc>
            </a:pPr>
            <a:r>
              <a:rPr dirty="0" sz="375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3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258" y="372078"/>
            <a:ext cx="17542510" cy="9636125"/>
          </a:xfrm>
          <a:custGeom>
            <a:avLst/>
            <a:gdLst/>
            <a:ahLst/>
            <a:cxnLst/>
            <a:rect l="l" t="t" r="r" b="b"/>
            <a:pathLst>
              <a:path w="17542510" h="9636125">
                <a:moveTo>
                  <a:pt x="17542383" y="0"/>
                </a:moveTo>
                <a:lnTo>
                  <a:pt x="0" y="0"/>
                </a:lnTo>
                <a:lnTo>
                  <a:pt x="0" y="9636084"/>
                </a:lnTo>
                <a:lnTo>
                  <a:pt x="17542383" y="9636084"/>
                </a:lnTo>
                <a:lnTo>
                  <a:pt x="17542383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199315" y="344151"/>
            <a:ext cx="12166600" cy="680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/>
              <a:t>Interactive</a:t>
            </a:r>
            <a:r>
              <a:rPr dirty="0" sz="4300" spc="290"/>
              <a:t> </a:t>
            </a:r>
            <a:r>
              <a:rPr dirty="0" sz="4300" spc="45"/>
              <a:t>Learning</a:t>
            </a:r>
            <a:r>
              <a:rPr dirty="0" sz="4300" spc="290"/>
              <a:t> </a:t>
            </a:r>
            <a:r>
              <a:rPr dirty="0" sz="4300"/>
              <a:t>Tool</a:t>
            </a:r>
            <a:r>
              <a:rPr dirty="0" sz="4300" spc="290"/>
              <a:t> </a:t>
            </a:r>
            <a:r>
              <a:rPr dirty="0" sz="4300"/>
              <a:t>for</a:t>
            </a:r>
            <a:r>
              <a:rPr dirty="0" sz="4300" spc="295"/>
              <a:t> </a:t>
            </a:r>
            <a:r>
              <a:rPr dirty="0" sz="4300" spc="50"/>
              <a:t>Dyscalculia</a:t>
            </a:r>
            <a:r>
              <a:rPr dirty="0" sz="4300" spc="290"/>
              <a:t> </a:t>
            </a:r>
            <a:r>
              <a:rPr dirty="0" sz="4300" spc="-20"/>
              <a:t>kids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364794" y="1421610"/>
            <a:ext cx="14862175" cy="878205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044575">
              <a:lnSpc>
                <a:spcPct val="100000"/>
              </a:lnSpc>
              <a:spcBef>
                <a:spcPts val="855"/>
              </a:spcBef>
            </a:pPr>
            <a:r>
              <a:rPr dirty="0" sz="3650" b="1">
                <a:solidFill>
                  <a:srgbClr val="0D1C38"/>
                </a:solidFill>
                <a:latin typeface="Arial"/>
                <a:cs typeface="Arial"/>
              </a:rPr>
              <a:t>1.What is</a:t>
            </a:r>
            <a:r>
              <a:rPr dirty="0" sz="3650" spc="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650" b="1">
                <a:solidFill>
                  <a:srgbClr val="0D1C38"/>
                </a:solidFill>
                <a:latin typeface="Arial"/>
                <a:cs typeface="Arial"/>
              </a:rPr>
              <a:t>Unique in</a:t>
            </a:r>
            <a:r>
              <a:rPr dirty="0" sz="3650" spc="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650" b="1">
                <a:solidFill>
                  <a:srgbClr val="0D1C38"/>
                </a:solidFill>
                <a:latin typeface="Arial"/>
                <a:cs typeface="Arial"/>
              </a:rPr>
              <a:t>Our </a:t>
            </a:r>
            <a:r>
              <a:rPr dirty="0" sz="3650" spc="-10" b="1">
                <a:solidFill>
                  <a:srgbClr val="0D1C38"/>
                </a:solidFill>
                <a:latin typeface="Arial"/>
                <a:cs typeface="Arial"/>
              </a:rPr>
              <a:t>Solution?</a:t>
            </a:r>
            <a:endParaRPr sz="3650">
              <a:latin typeface="Arial"/>
              <a:cs typeface="Arial"/>
            </a:endParaRPr>
          </a:p>
          <a:p>
            <a:pPr marL="412750" indent="-374650">
              <a:lnSpc>
                <a:spcPts val="3804"/>
              </a:lnSpc>
              <a:spcBef>
                <a:spcPts val="715"/>
              </a:spcBef>
              <a:buFont typeface="Arial"/>
              <a:buChar char="•"/>
              <a:tabLst>
                <a:tab pos="412750" algn="l"/>
              </a:tabLst>
            </a:pP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Combines:</a:t>
            </a:r>
            <a:endParaRPr sz="3450">
              <a:latin typeface="Arial"/>
              <a:cs typeface="Arial"/>
            </a:endParaRPr>
          </a:p>
          <a:p>
            <a:pPr lvl="1" marL="1160780" indent="-499109">
              <a:lnSpc>
                <a:spcPts val="3465"/>
              </a:lnSpc>
              <a:buFont typeface="Segoe UI Symbol"/>
              <a:buChar char="o"/>
              <a:tabLst>
                <a:tab pos="116078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Cognitive</a:t>
            </a:r>
            <a:r>
              <a:rPr dirty="0" sz="3450" spc="40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profiling</a:t>
            </a:r>
            <a:endParaRPr sz="3450">
              <a:latin typeface="Arial"/>
              <a:cs typeface="Arial"/>
            </a:endParaRPr>
          </a:p>
          <a:p>
            <a:pPr lvl="1" marL="1160780" indent="-499109">
              <a:lnSpc>
                <a:spcPts val="3465"/>
              </a:lnSpc>
              <a:buFont typeface="Segoe UI Symbol"/>
              <a:buChar char="o"/>
              <a:tabLst>
                <a:tab pos="116078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Personalized</a:t>
            </a:r>
            <a:r>
              <a:rPr dirty="0" sz="3450" spc="5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endParaRPr sz="3450">
              <a:latin typeface="Arial"/>
              <a:cs typeface="Arial"/>
            </a:endParaRPr>
          </a:p>
          <a:p>
            <a:pPr lvl="1" marL="1160780" indent="-499109">
              <a:lnSpc>
                <a:spcPts val="3465"/>
              </a:lnSpc>
              <a:buFont typeface="Segoe UI Symbol"/>
              <a:buChar char="o"/>
              <a:tabLst>
                <a:tab pos="116078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Adaptive</a:t>
            </a:r>
            <a:r>
              <a:rPr dirty="0" sz="3450" spc="3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gaming</a:t>
            </a:r>
            <a:endParaRPr sz="3450">
              <a:latin typeface="Arial"/>
              <a:cs typeface="Arial"/>
            </a:endParaRPr>
          </a:p>
          <a:p>
            <a:pPr lvl="1" marL="1160780" indent="-499109">
              <a:lnSpc>
                <a:spcPts val="3804"/>
              </a:lnSpc>
              <a:buFont typeface="Segoe UI Symbol"/>
              <a:buChar char="o"/>
              <a:tabLst>
                <a:tab pos="116078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Early</a:t>
            </a:r>
            <a:r>
              <a:rPr dirty="0" sz="34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warning</a:t>
            </a:r>
            <a:r>
              <a:rPr dirty="0" sz="3450" spc="2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prediction</a:t>
            </a:r>
            <a:endParaRPr sz="3450">
              <a:latin typeface="Arial"/>
              <a:cs typeface="Arial"/>
            </a:endParaRPr>
          </a:p>
          <a:p>
            <a:pPr marL="412115" marR="30480" indent="-374650">
              <a:lnSpc>
                <a:spcPts val="3470"/>
              </a:lnSpc>
              <a:spcBef>
                <a:spcPts val="3469"/>
              </a:spcBef>
              <a:buFont typeface="Arial"/>
              <a:buChar char="•"/>
              <a:tabLst>
                <a:tab pos="412115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Uses</a:t>
            </a:r>
            <a:r>
              <a:rPr dirty="0" sz="345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real-time</a:t>
            </a:r>
            <a:r>
              <a:rPr dirty="0" sz="345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behavioral</a:t>
            </a:r>
            <a:r>
              <a:rPr dirty="0" sz="345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analysis</a:t>
            </a:r>
            <a:r>
              <a:rPr dirty="0" sz="345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instead</a:t>
            </a:r>
            <a:r>
              <a:rPr dirty="0" sz="345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of</a:t>
            </a:r>
            <a:r>
              <a:rPr dirty="0" sz="3450" spc="31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only</a:t>
            </a:r>
            <a:r>
              <a:rPr dirty="0" sz="345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correct/incorrect answers</a:t>
            </a:r>
            <a:endParaRPr sz="3450">
              <a:latin typeface="Arial"/>
              <a:cs typeface="Arial"/>
            </a:endParaRPr>
          </a:p>
          <a:p>
            <a:pPr marL="412750" indent="-374650">
              <a:lnSpc>
                <a:spcPts val="3804"/>
              </a:lnSpc>
              <a:spcBef>
                <a:spcPts val="2780"/>
              </a:spcBef>
              <a:buFont typeface="Arial"/>
              <a:buChar char="•"/>
              <a:tabLst>
                <a:tab pos="41275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AI-driven</a:t>
            </a:r>
            <a:r>
              <a:rPr dirty="0" sz="3450" spc="3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adaptive</a:t>
            </a:r>
            <a:r>
              <a:rPr dirty="0" sz="3450" spc="3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r>
              <a:rPr dirty="0" sz="3450" spc="3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using:</a:t>
            </a:r>
            <a:endParaRPr sz="3450">
              <a:latin typeface="Arial"/>
              <a:cs typeface="Arial"/>
            </a:endParaRPr>
          </a:p>
          <a:p>
            <a:pPr lvl="1" marL="1160780" indent="-499109">
              <a:lnSpc>
                <a:spcPts val="3465"/>
              </a:lnSpc>
              <a:buFont typeface="Segoe UI Symbol"/>
              <a:buChar char="o"/>
              <a:tabLst>
                <a:tab pos="116078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Bayesian</a:t>
            </a:r>
            <a:r>
              <a:rPr dirty="0" sz="3450" spc="3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Knowledge</a:t>
            </a:r>
            <a:r>
              <a:rPr dirty="0" sz="3450" spc="4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Tracing</a:t>
            </a:r>
            <a:endParaRPr sz="3450">
              <a:latin typeface="Arial"/>
              <a:cs typeface="Arial"/>
            </a:endParaRPr>
          </a:p>
          <a:p>
            <a:pPr marL="661670">
              <a:lnSpc>
                <a:spcPts val="3465"/>
              </a:lnSpc>
            </a:pPr>
            <a:r>
              <a:rPr dirty="0" sz="3450" spc="1235">
                <a:solidFill>
                  <a:srgbClr val="0D1C38"/>
                </a:solidFill>
                <a:latin typeface="Segoe UI Symbol"/>
                <a:cs typeface="Segoe UI Symbol"/>
              </a:rPr>
              <a:t>⚬</a:t>
            </a:r>
            <a:r>
              <a:rPr dirty="0" sz="3450" spc="340">
                <a:solidFill>
                  <a:srgbClr val="0D1C38"/>
                </a:solidFill>
                <a:latin typeface="Segoe UI Symbol"/>
                <a:cs typeface="Segoe UI Symbo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Reinforcement</a:t>
            </a:r>
            <a:r>
              <a:rPr dirty="0" sz="3450" spc="35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endParaRPr sz="3450">
              <a:latin typeface="Arial"/>
              <a:cs typeface="Arial"/>
            </a:endParaRPr>
          </a:p>
          <a:p>
            <a:pPr marL="661670">
              <a:lnSpc>
                <a:spcPts val="3804"/>
              </a:lnSpc>
            </a:pPr>
            <a:r>
              <a:rPr dirty="0" sz="3450" spc="1235">
                <a:solidFill>
                  <a:srgbClr val="0D1C38"/>
                </a:solidFill>
                <a:latin typeface="Segoe UI Symbol"/>
                <a:cs typeface="Segoe UI Symbol"/>
              </a:rPr>
              <a:t>⚬</a:t>
            </a:r>
            <a:r>
              <a:rPr dirty="0" sz="3450" spc="170">
                <a:solidFill>
                  <a:srgbClr val="0D1C38"/>
                </a:solidFill>
                <a:latin typeface="Segoe UI Symbol"/>
                <a:cs typeface="Segoe UI Symbo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Random</a:t>
            </a:r>
            <a:r>
              <a:rPr dirty="0" sz="3450" spc="20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Forest</a:t>
            </a:r>
            <a:endParaRPr sz="3450">
              <a:latin typeface="Arial"/>
              <a:cs typeface="Arial"/>
            </a:endParaRPr>
          </a:p>
          <a:p>
            <a:pPr marL="412115" marR="746125" indent="-374650">
              <a:lnSpc>
                <a:spcPts val="3470"/>
              </a:lnSpc>
              <a:spcBef>
                <a:spcPts val="3469"/>
              </a:spcBef>
              <a:buFont typeface="Arial"/>
              <a:buChar char="•"/>
              <a:tabLst>
                <a:tab pos="412115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Provides</a:t>
            </a:r>
            <a:r>
              <a:rPr dirty="0" sz="3450" spc="3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explainable</a:t>
            </a:r>
            <a:r>
              <a:rPr dirty="0" sz="3450" spc="3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450" spc="3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interpretable</a:t>
            </a:r>
            <a:r>
              <a:rPr dirty="0" sz="3450" spc="3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outputs</a:t>
            </a:r>
            <a:r>
              <a:rPr dirty="0" sz="3450" spc="3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3450" spc="36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teachers</a:t>
            </a:r>
            <a:r>
              <a:rPr dirty="0" sz="3450" spc="36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25" b="1">
                <a:solidFill>
                  <a:srgbClr val="0D1C38"/>
                </a:solidFill>
                <a:latin typeface="Arial"/>
                <a:cs typeface="Arial"/>
              </a:rPr>
              <a:t>and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parents</a:t>
            </a:r>
            <a:endParaRPr sz="3450">
              <a:latin typeface="Arial"/>
              <a:cs typeface="Arial"/>
            </a:endParaRPr>
          </a:p>
          <a:p>
            <a:pPr marL="412750" indent="-374650">
              <a:lnSpc>
                <a:spcPct val="100000"/>
              </a:lnSpc>
              <a:spcBef>
                <a:spcPts val="2630"/>
              </a:spcBef>
              <a:buFont typeface="Arial"/>
              <a:buChar char="•"/>
              <a:tabLst>
                <a:tab pos="41275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Supports</a:t>
            </a:r>
            <a:r>
              <a:rPr dirty="0" sz="3450" spc="27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early</a:t>
            </a:r>
            <a:r>
              <a:rPr dirty="0" sz="3450" spc="2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detection</a:t>
            </a:r>
            <a:r>
              <a:rPr dirty="0" sz="3450" spc="2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450" spc="2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35" b="1">
                <a:solidFill>
                  <a:srgbClr val="0D1C38"/>
                </a:solidFill>
                <a:latin typeface="Arial"/>
                <a:cs typeface="Arial"/>
              </a:rPr>
              <a:t>inte</a:t>
            </a:r>
            <a:r>
              <a:rPr dirty="0" sz="3450" spc="-790" b="1">
                <a:solidFill>
                  <a:srgbClr val="0D1C38"/>
                </a:solidFill>
                <a:latin typeface="Arial"/>
                <a:cs typeface="Arial"/>
              </a:rPr>
              <a:t>r</a:t>
            </a:r>
            <a:r>
              <a:rPr dirty="0" baseline="21604" sz="5400" spc="-2715" b="1">
                <a:solidFill>
                  <a:srgbClr val="0D1C38"/>
                </a:solidFill>
                <a:latin typeface="Arial"/>
                <a:cs typeface="Arial"/>
              </a:rPr>
              <a:t>R</a:t>
            </a:r>
            <a:r>
              <a:rPr dirty="0" sz="3450" spc="-110" b="1">
                <a:solidFill>
                  <a:srgbClr val="0D1C38"/>
                </a:solidFill>
                <a:latin typeface="Arial"/>
                <a:cs typeface="Arial"/>
              </a:rPr>
              <a:t>v</a:t>
            </a:r>
            <a:r>
              <a:rPr dirty="0" baseline="21604" sz="5400" spc="-2812" b="1">
                <a:solidFill>
                  <a:srgbClr val="0D1C38"/>
                </a:solidFill>
                <a:latin typeface="Arial"/>
                <a:cs typeface="Arial"/>
              </a:rPr>
              <a:t>2</a:t>
            </a:r>
            <a:r>
              <a:rPr dirty="0" sz="3450" spc="-25" b="1">
                <a:solidFill>
                  <a:srgbClr val="0D1C38"/>
                </a:solidFill>
                <a:latin typeface="Arial"/>
                <a:cs typeface="Arial"/>
              </a:rPr>
              <a:t>e</a:t>
            </a:r>
            <a:r>
              <a:rPr dirty="0" baseline="21604" sz="5400" spc="-2940" b="1">
                <a:solidFill>
                  <a:srgbClr val="0D1C38"/>
                </a:solidFill>
                <a:latin typeface="Arial"/>
                <a:cs typeface="Arial"/>
              </a:rPr>
              <a:t>6</a:t>
            </a:r>
            <a:r>
              <a:rPr dirty="0" sz="3450" spc="-130" b="1">
                <a:solidFill>
                  <a:srgbClr val="0D1C38"/>
                </a:solidFill>
                <a:latin typeface="Arial"/>
                <a:cs typeface="Arial"/>
              </a:rPr>
              <a:t>n</a:t>
            </a:r>
            <a:r>
              <a:rPr dirty="0" baseline="21604" sz="5400" spc="-1604" b="1">
                <a:solidFill>
                  <a:srgbClr val="0D1C38"/>
                </a:solidFill>
                <a:latin typeface="Arial"/>
                <a:cs typeface="Arial"/>
              </a:rPr>
              <a:t>-</a:t>
            </a:r>
            <a:r>
              <a:rPr dirty="0" sz="3450" spc="-70" b="1">
                <a:solidFill>
                  <a:srgbClr val="0D1C38"/>
                </a:solidFill>
                <a:latin typeface="Arial"/>
                <a:cs typeface="Arial"/>
              </a:rPr>
              <a:t>t</a:t>
            </a:r>
            <a:r>
              <a:rPr dirty="0" baseline="21604" sz="5400" spc="-1350" b="1">
                <a:solidFill>
                  <a:srgbClr val="0D1C38"/>
                </a:solidFill>
                <a:latin typeface="Arial"/>
                <a:cs typeface="Arial"/>
              </a:rPr>
              <a:t>I</a:t>
            </a:r>
            <a:r>
              <a:rPr dirty="0" sz="3450" spc="-25" b="1">
                <a:solidFill>
                  <a:srgbClr val="0D1C38"/>
                </a:solidFill>
                <a:latin typeface="Arial"/>
                <a:cs typeface="Arial"/>
              </a:rPr>
              <a:t>i</a:t>
            </a:r>
            <a:r>
              <a:rPr dirty="0" baseline="21604" sz="5400" spc="-3247" b="1">
                <a:solidFill>
                  <a:srgbClr val="0D1C38"/>
                </a:solidFill>
                <a:latin typeface="Arial"/>
                <a:cs typeface="Arial"/>
              </a:rPr>
              <a:t>T</a:t>
            </a:r>
            <a:r>
              <a:rPr dirty="0" sz="3450" spc="45" b="1">
                <a:solidFill>
                  <a:srgbClr val="0D1C38"/>
                </a:solidFill>
                <a:latin typeface="Arial"/>
                <a:cs typeface="Arial"/>
              </a:rPr>
              <a:t>o</a:t>
            </a:r>
            <a:r>
              <a:rPr dirty="0" sz="3450" spc="-2110" b="1">
                <a:solidFill>
                  <a:srgbClr val="0D1C38"/>
                </a:solidFill>
                <a:latin typeface="Arial"/>
                <a:cs typeface="Arial"/>
              </a:rPr>
              <a:t>n</a:t>
            </a:r>
            <a:r>
              <a:rPr dirty="0" baseline="21604" sz="5400" spc="-7" b="1">
                <a:solidFill>
                  <a:srgbClr val="0D1C38"/>
                </a:solidFill>
                <a:latin typeface="Arial"/>
                <a:cs typeface="Arial"/>
              </a:rPr>
              <a:t>-</a:t>
            </a:r>
            <a:r>
              <a:rPr dirty="0" baseline="21604" sz="5400" spc="202" b="1">
                <a:solidFill>
                  <a:srgbClr val="0D1C38"/>
                </a:solidFill>
                <a:latin typeface="Arial"/>
                <a:cs typeface="Arial"/>
              </a:rPr>
              <a:t> 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3450" spc="2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dyscalculia</a:t>
            </a:r>
            <a:r>
              <a:rPr dirty="0" sz="3450" spc="28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learners</a:t>
            </a:r>
            <a:endParaRPr sz="34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28649" y="9950122"/>
            <a:ext cx="802005" cy="536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079"/>
              </a:lnSpc>
            </a:pPr>
            <a:r>
              <a:rPr dirty="0" sz="360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258" y="372078"/>
            <a:ext cx="17542510" cy="9636125"/>
          </a:xfrm>
          <a:custGeom>
            <a:avLst/>
            <a:gdLst/>
            <a:ahLst/>
            <a:cxnLst/>
            <a:rect l="l" t="t" r="r" b="b"/>
            <a:pathLst>
              <a:path w="17542510" h="9636125">
                <a:moveTo>
                  <a:pt x="17542383" y="0"/>
                </a:moveTo>
                <a:lnTo>
                  <a:pt x="0" y="0"/>
                </a:lnTo>
                <a:lnTo>
                  <a:pt x="0" y="9636084"/>
                </a:lnTo>
                <a:lnTo>
                  <a:pt x="17542383" y="9636084"/>
                </a:lnTo>
                <a:lnTo>
                  <a:pt x="17542383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199315" y="344151"/>
            <a:ext cx="12166600" cy="680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/>
              <a:t>Interactive</a:t>
            </a:r>
            <a:r>
              <a:rPr dirty="0" sz="4300" spc="290"/>
              <a:t> </a:t>
            </a:r>
            <a:r>
              <a:rPr dirty="0" sz="4300" spc="45"/>
              <a:t>Learning</a:t>
            </a:r>
            <a:r>
              <a:rPr dirty="0" sz="4300" spc="290"/>
              <a:t> </a:t>
            </a:r>
            <a:r>
              <a:rPr dirty="0" sz="4300"/>
              <a:t>Tool</a:t>
            </a:r>
            <a:r>
              <a:rPr dirty="0" sz="4300" spc="290"/>
              <a:t> </a:t>
            </a:r>
            <a:r>
              <a:rPr dirty="0" sz="4300"/>
              <a:t>for</a:t>
            </a:r>
            <a:r>
              <a:rPr dirty="0" sz="4300" spc="295"/>
              <a:t> </a:t>
            </a:r>
            <a:r>
              <a:rPr dirty="0" sz="4300" spc="50"/>
              <a:t>Dyscalculia</a:t>
            </a:r>
            <a:r>
              <a:rPr dirty="0" sz="4300" spc="290"/>
              <a:t> </a:t>
            </a:r>
            <a:r>
              <a:rPr dirty="0" sz="4300" spc="-20"/>
              <a:t>kids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63546" y="1517840"/>
            <a:ext cx="16436975" cy="8506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45819">
              <a:lnSpc>
                <a:spcPct val="100000"/>
              </a:lnSpc>
              <a:spcBef>
                <a:spcPts val="100"/>
              </a:spcBef>
            </a:pPr>
            <a:r>
              <a:rPr dirty="0" sz="3650" b="1">
                <a:solidFill>
                  <a:srgbClr val="0D1C38"/>
                </a:solidFill>
                <a:latin typeface="Arial"/>
                <a:cs typeface="Arial"/>
              </a:rPr>
              <a:t>1.How Will</a:t>
            </a:r>
            <a:r>
              <a:rPr dirty="0" sz="3650" spc="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650" b="1">
                <a:solidFill>
                  <a:srgbClr val="0D1C38"/>
                </a:solidFill>
                <a:latin typeface="Arial"/>
                <a:cs typeface="Arial"/>
              </a:rPr>
              <a:t>the Cost</a:t>
            </a:r>
            <a:r>
              <a:rPr dirty="0" sz="3650" spc="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650" b="1">
                <a:solidFill>
                  <a:srgbClr val="0D1C38"/>
                </a:solidFill>
                <a:latin typeface="Arial"/>
                <a:cs typeface="Arial"/>
              </a:rPr>
              <a:t>Be </a:t>
            </a:r>
            <a:r>
              <a:rPr dirty="0" sz="3650" spc="-10" b="1">
                <a:solidFill>
                  <a:srgbClr val="0D1C38"/>
                </a:solidFill>
                <a:latin typeface="Arial"/>
                <a:cs typeface="Arial"/>
              </a:rPr>
              <a:t>Recovered?</a:t>
            </a:r>
            <a:endParaRPr sz="3650">
              <a:latin typeface="Arial"/>
              <a:cs typeface="Arial"/>
            </a:endParaRPr>
          </a:p>
          <a:p>
            <a:pPr marL="387350" indent="-374650">
              <a:lnSpc>
                <a:spcPct val="100000"/>
              </a:lnSpc>
              <a:spcBef>
                <a:spcPts val="4170"/>
              </a:spcBef>
              <a:buFont typeface="Arial"/>
              <a:buChar char="•"/>
              <a:tabLst>
                <a:tab pos="38735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Subscription</a:t>
            </a:r>
            <a:r>
              <a:rPr dirty="0" sz="3450" spc="32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plans</a:t>
            </a:r>
            <a:r>
              <a:rPr dirty="0" sz="3450" spc="32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3450" spc="33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schools</a:t>
            </a:r>
            <a:r>
              <a:rPr dirty="0" sz="3450" spc="33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450" spc="32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educational</a:t>
            </a:r>
            <a:r>
              <a:rPr dirty="0" sz="3450" spc="33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institutions</a:t>
            </a:r>
            <a:endParaRPr sz="3450">
              <a:latin typeface="Arial"/>
              <a:cs typeface="Arial"/>
            </a:endParaRPr>
          </a:p>
          <a:p>
            <a:pPr marL="387350" indent="-374650">
              <a:lnSpc>
                <a:spcPct val="100000"/>
              </a:lnSpc>
              <a:spcBef>
                <a:spcPts val="2790"/>
              </a:spcBef>
              <a:buFont typeface="Arial"/>
              <a:buChar char="•"/>
              <a:tabLst>
                <a:tab pos="38735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Institutional</a:t>
            </a:r>
            <a:r>
              <a:rPr dirty="0" sz="3450" spc="33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licensing</a:t>
            </a:r>
            <a:r>
              <a:rPr dirty="0" sz="3450" spc="3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3450" spc="3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learning</a:t>
            </a:r>
            <a:r>
              <a:rPr dirty="0" sz="3450" spc="3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centers</a:t>
            </a:r>
            <a:r>
              <a:rPr dirty="0" sz="3450" spc="3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and</a:t>
            </a:r>
            <a:r>
              <a:rPr dirty="0" sz="3450" spc="3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special</a:t>
            </a:r>
            <a:r>
              <a:rPr dirty="0" sz="3450" spc="3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education</a:t>
            </a:r>
            <a:r>
              <a:rPr dirty="0" sz="3450" spc="3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programs</a:t>
            </a:r>
            <a:endParaRPr sz="3450">
              <a:latin typeface="Arial"/>
              <a:cs typeface="Arial"/>
            </a:endParaRPr>
          </a:p>
          <a:p>
            <a:pPr marL="387350" indent="-374650">
              <a:lnSpc>
                <a:spcPct val="100000"/>
              </a:lnSpc>
              <a:spcBef>
                <a:spcPts val="2795"/>
              </a:spcBef>
              <a:buFont typeface="Arial"/>
              <a:buChar char="•"/>
              <a:tabLst>
                <a:tab pos="38735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Integration</a:t>
            </a:r>
            <a:r>
              <a:rPr dirty="0" sz="3450" spc="34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services</a:t>
            </a:r>
            <a:r>
              <a:rPr dirty="0" sz="3450" spc="3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for</a:t>
            </a:r>
            <a:r>
              <a:rPr dirty="0" sz="3450" spc="34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existing</a:t>
            </a:r>
            <a:r>
              <a:rPr dirty="0" sz="3450" spc="3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EdTech</a:t>
            </a:r>
            <a:r>
              <a:rPr dirty="0" sz="3450" spc="35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platforms</a:t>
            </a:r>
            <a:endParaRPr sz="3450">
              <a:latin typeface="Arial"/>
              <a:cs typeface="Arial"/>
            </a:endParaRPr>
          </a:p>
          <a:p>
            <a:pPr marL="387350" indent="-374650">
              <a:lnSpc>
                <a:spcPts val="3804"/>
              </a:lnSpc>
              <a:spcBef>
                <a:spcPts val="2790"/>
              </a:spcBef>
              <a:buFont typeface="Arial"/>
              <a:buChar char="•"/>
              <a:tabLst>
                <a:tab pos="38735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Tier-based</a:t>
            </a:r>
            <a:r>
              <a:rPr dirty="0" sz="3450" spc="38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pricing</a:t>
            </a:r>
            <a:r>
              <a:rPr dirty="0" sz="3450" spc="39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model:</a:t>
            </a:r>
            <a:endParaRPr sz="3450">
              <a:latin typeface="Arial"/>
              <a:cs typeface="Arial"/>
            </a:endParaRPr>
          </a:p>
          <a:p>
            <a:pPr lvl="1" marL="1135380" indent="-499109">
              <a:lnSpc>
                <a:spcPts val="3465"/>
              </a:lnSpc>
              <a:buFont typeface="Segoe UI Symbol"/>
              <a:buChar char="o"/>
              <a:tabLst>
                <a:tab pos="113538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Basic</a:t>
            </a:r>
            <a:r>
              <a:rPr dirty="0" sz="3450" spc="29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20" b="1">
                <a:solidFill>
                  <a:srgbClr val="0D1C38"/>
                </a:solidFill>
                <a:latin typeface="Arial"/>
                <a:cs typeface="Arial"/>
              </a:rPr>
              <a:t>Plan</a:t>
            </a:r>
            <a:endParaRPr sz="3450">
              <a:latin typeface="Arial"/>
              <a:cs typeface="Arial"/>
            </a:endParaRPr>
          </a:p>
          <a:p>
            <a:pPr lvl="1" marL="1135380" indent="-499109">
              <a:lnSpc>
                <a:spcPts val="3465"/>
              </a:lnSpc>
              <a:buFont typeface="Segoe UI Symbol"/>
              <a:buChar char="o"/>
              <a:tabLst>
                <a:tab pos="113538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Standard</a:t>
            </a:r>
            <a:r>
              <a:rPr dirty="0" sz="3450" spc="37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20" b="1">
                <a:solidFill>
                  <a:srgbClr val="0D1C38"/>
                </a:solidFill>
                <a:latin typeface="Arial"/>
                <a:cs typeface="Arial"/>
              </a:rPr>
              <a:t>Plan</a:t>
            </a:r>
            <a:endParaRPr sz="3450">
              <a:latin typeface="Arial"/>
              <a:cs typeface="Arial"/>
            </a:endParaRPr>
          </a:p>
          <a:p>
            <a:pPr lvl="1" marL="1135380" indent="-499109">
              <a:lnSpc>
                <a:spcPts val="3804"/>
              </a:lnSpc>
              <a:buFont typeface="Segoe UI Symbol"/>
              <a:buChar char="o"/>
              <a:tabLst>
                <a:tab pos="1135380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Enterprise</a:t>
            </a:r>
            <a:r>
              <a:rPr dirty="0" sz="3450" spc="48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20" b="1">
                <a:solidFill>
                  <a:srgbClr val="0D1C38"/>
                </a:solidFill>
                <a:latin typeface="Arial"/>
                <a:cs typeface="Arial"/>
              </a:rPr>
              <a:t>Plan</a:t>
            </a:r>
            <a:endParaRPr sz="3450">
              <a:latin typeface="Arial"/>
              <a:cs typeface="Arial"/>
            </a:endParaRPr>
          </a:p>
          <a:p>
            <a:pPr marL="386715" marR="708660" indent="-374650">
              <a:lnSpc>
                <a:spcPts val="3470"/>
              </a:lnSpc>
              <a:spcBef>
                <a:spcPts val="3465"/>
              </a:spcBef>
              <a:buFont typeface="Arial"/>
              <a:buChar char="•"/>
              <a:tabLst>
                <a:tab pos="386715" algn="l"/>
              </a:tabLst>
            </a:pP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Long-term</a:t>
            </a:r>
            <a:r>
              <a:rPr dirty="0" sz="3450" spc="43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sustainability</a:t>
            </a:r>
            <a:r>
              <a:rPr dirty="0" sz="3450" spc="43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through</a:t>
            </a:r>
            <a:r>
              <a:rPr dirty="0" sz="3450" spc="44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scalable</a:t>
            </a:r>
            <a:r>
              <a:rPr dirty="0" sz="3450" spc="434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cloud-based</a:t>
            </a:r>
            <a:r>
              <a:rPr dirty="0" sz="3450" spc="44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deployment</a:t>
            </a:r>
            <a:r>
              <a:rPr dirty="0" sz="3450" spc="440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25" b="1">
                <a:solidFill>
                  <a:srgbClr val="0D1C38"/>
                </a:solidFill>
                <a:latin typeface="Arial"/>
                <a:cs typeface="Arial"/>
              </a:rPr>
              <a:t>and </a:t>
            </a:r>
            <a:r>
              <a:rPr dirty="0" sz="3450" b="1">
                <a:solidFill>
                  <a:srgbClr val="0D1C38"/>
                </a:solidFill>
                <a:latin typeface="Arial"/>
                <a:cs typeface="Arial"/>
              </a:rPr>
              <a:t>educational</a:t>
            </a:r>
            <a:r>
              <a:rPr dirty="0" sz="3450" spc="475" b="1">
                <a:solidFill>
                  <a:srgbClr val="0D1C38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D1C38"/>
                </a:solidFill>
                <a:latin typeface="Arial"/>
                <a:cs typeface="Arial"/>
              </a:rPr>
              <a:t>partnerships</a:t>
            </a:r>
            <a:endParaRPr sz="3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3450">
              <a:latin typeface="Arial"/>
              <a:cs typeface="Arial"/>
            </a:endParaRPr>
          </a:p>
          <a:p>
            <a:pPr algn="ctr" marL="29209">
              <a:lnSpc>
                <a:spcPct val="100000"/>
              </a:lnSpc>
            </a:pPr>
            <a:r>
              <a:rPr dirty="0" sz="3600" b="1">
                <a:solidFill>
                  <a:srgbClr val="0D1C38"/>
                </a:solidFill>
                <a:latin typeface="Arial"/>
                <a:cs typeface="Arial"/>
              </a:rPr>
              <a:t>R26-IT-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28649" y="9950122"/>
            <a:ext cx="802005" cy="536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079"/>
              </a:lnSpc>
            </a:pPr>
            <a:r>
              <a:rPr dirty="0" sz="360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794368"/>
            <a:ext cx="16229330" cy="8464550"/>
          </a:xfrm>
          <a:custGeom>
            <a:avLst/>
            <a:gdLst/>
            <a:ahLst/>
            <a:cxnLst/>
            <a:rect l="l" t="t" r="r" b="b"/>
            <a:pathLst>
              <a:path w="16229330" h="8464550">
                <a:moveTo>
                  <a:pt x="16229076" y="0"/>
                </a:moveTo>
                <a:lnTo>
                  <a:pt x="0" y="0"/>
                </a:lnTo>
                <a:lnTo>
                  <a:pt x="0" y="8463927"/>
                </a:lnTo>
                <a:lnTo>
                  <a:pt x="16229076" y="8463927"/>
                </a:lnTo>
                <a:lnTo>
                  <a:pt x="16229076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11133" y="1248054"/>
            <a:ext cx="4091940" cy="970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6200" b="0">
                <a:solidFill>
                  <a:srgbClr val="0E172E"/>
                </a:solidFill>
                <a:uFill>
                  <a:solidFill>
                    <a:srgbClr val="0E172E"/>
                  </a:solidFill>
                </a:uFill>
                <a:latin typeface="Arial"/>
                <a:cs typeface="Arial"/>
              </a:rPr>
              <a:t>Gantt</a:t>
            </a:r>
            <a:r>
              <a:rPr dirty="0" u="sng" sz="6200" spc="-175" b="0">
                <a:solidFill>
                  <a:srgbClr val="0E172E"/>
                </a:solidFill>
                <a:uFill>
                  <a:solidFill>
                    <a:srgbClr val="0E172E"/>
                  </a:solidFill>
                </a:uFill>
                <a:latin typeface="Arial"/>
                <a:cs typeface="Arial"/>
              </a:rPr>
              <a:t> </a:t>
            </a:r>
            <a:r>
              <a:rPr dirty="0" u="sng" sz="6200" spc="-10" b="0">
                <a:solidFill>
                  <a:srgbClr val="0E172E"/>
                </a:solidFill>
                <a:uFill>
                  <a:solidFill>
                    <a:srgbClr val="0E172E"/>
                  </a:solidFill>
                </a:uFill>
                <a:latin typeface="Arial"/>
                <a:cs typeface="Arial"/>
              </a:rPr>
              <a:t>Chart</a:t>
            </a:r>
            <a:endParaRPr sz="6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978997" y="9590480"/>
            <a:ext cx="2926080" cy="650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965"/>
              </a:lnSpc>
            </a:pPr>
            <a:r>
              <a:rPr dirty="0" sz="4400" spc="5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r>
              <a:rPr dirty="0" sz="4400" spc="60" b="1">
                <a:solidFill>
                  <a:srgbClr val="0D1C38"/>
                </a:solidFill>
                <a:latin typeface="Arial"/>
                <a:cs typeface="Arial"/>
              </a:rPr>
              <a:t>IT-</a:t>
            </a:r>
            <a:r>
              <a:rPr dirty="0" sz="440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794368"/>
            <a:ext cx="16229330" cy="8923655"/>
          </a:xfrm>
          <a:custGeom>
            <a:avLst/>
            <a:gdLst/>
            <a:ahLst/>
            <a:cxnLst/>
            <a:rect l="l" t="t" r="r" b="b"/>
            <a:pathLst>
              <a:path w="16229330" h="8923655">
                <a:moveTo>
                  <a:pt x="16229076" y="0"/>
                </a:moveTo>
                <a:lnTo>
                  <a:pt x="0" y="0"/>
                </a:lnTo>
                <a:lnTo>
                  <a:pt x="0" y="8923566"/>
                </a:lnTo>
                <a:lnTo>
                  <a:pt x="16229076" y="8923566"/>
                </a:lnTo>
                <a:lnTo>
                  <a:pt x="16229076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11133" y="1248054"/>
            <a:ext cx="9211310" cy="970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200" b="0">
                <a:solidFill>
                  <a:srgbClr val="0E172E"/>
                </a:solidFill>
                <a:latin typeface="Arial"/>
                <a:cs typeface="Arial"/>
              </a:rPr>
              <a:t>Work</a:t>
            </a:r>
            <a:r>
              <a:rPr dirty="0" sz="6200" spc="-170" b="0">
                <a:solidFill>
                  <a:srgbClr val="0E172E"/>
                </a:solidFill>
                <a:latin typeface="Arial"/>
                <a:cs typeface="Arial"/>
              </a:rPr>
              <a:t> </a:t>
            </a:r>
            <a:r>
              <a:rPr dirty="0" sz="6200" b="0">
                <a:solidFill>
                  <a:srgbClr val="0E172E"/>
                </a:solidFill>
                <a:latin typeface="Arial"/>
                <a:cs typeface="Arial"/>
              </a:rPr>
              <a:t>breakdown</a:t>
            </a:r>
            <a:r>
              <a:rPr dirty="0" sz="6200" spc="-170" b="0">
                <a:solidFill>
                  <a:srgbClr val="0E172E"/>
                </a:solidFill>
                <a:latin typeface="Arial"/>
                <a:cs typeface="Arial"/>
              </a:rPr>
              <a:t> </a:t>
            </a:r>
            <a:r>
              <a:rPr dirty="0" sz="6200" spc="-10" b="0">
                <a:solidFill>
                  <a:srgbClr val="0E172E"/>
                </a:solidFill>
                <a:latin typeface="Arial"/>
                <a:cs typeface="Arial"/>
              </a:rPr>
              <a:t>structure</a:t>
            </a:r>
            <a:endParaRPr sz="6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978997" y="9590480"/>
            <a:ext cx="2926080" cy="650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965"/>
              </a:lnSpc>
            </a:pPr>
            <a:r>
              <a:rPr dirty="0" sz="4400" spc="50" b="1">
                <a:solidFill>
                  <a:srgbClr val="0D1C38"/>
                </a:solidFill>
                <a:latin typeface="Arial"/>
                <a:cs typeface="Arial"/>
              </a:rPr>
              <a:t>R26-</a:t>
            </a:r>
            <a:r>
              <a:rPr dirty="0" sz="4400" spc="60" b="1">
                <a:solidFill>
                  <a:srgbClr val="0D1C38"/>
                </a:solidFill>
                <a:latin typeface="Arial"/>
                <a:cs typeface="Arial"/>
              </a:rPr>
              <a:t>IT-</a:t>
            </a:r>
            <a:r>
              <a:rPr dirty="0" sz="4400" spc="-25" b="1">
                <a:solidFill>
                  <a:srgbClr val="0D1C38"/>
                </a:solidFill>
                <a:latin typeface="Arial"/>
                <a:cs typeface="Arial"/>
              </a:rPr>
              <a:t>138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382623" cy="333808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800830" y="2638323"/>
            <a:ext cx="7579359" cy="5220970"/>
          </a:xfrm>
          <a:prstGeom prst="rect"/>
        </p:spPr>
        <p:txBody>
          <a:bodyPr wrap="square" lIns="0" tIns="199390" rIns="0" bIns="0" rtlCol="0" vert="horz">
            <a:spAutoFit/>
          </a:bodyPr>
          <a:lstStyle/>
          <a:p>
            <a:pPr marL="12700" marR="5080">
              <a:lnSpc>
                <a:spcPts val="19850"/>
              </a:lnSpc>
              <a:spcBef>
                <a:spcPts val="1570"/>
              </a:spcBef>
            </a:pPr>
            <a:r>
              <a:rPr dirty="0" sz="17550" spc="-10" b="0">
                <a:latin typeface="Arial"/>
                <a:cs typeface="Arial"/>
              </a:rPr>
              <a:t>THANK </a:t>
            </a:r>
            <a:r>
              <a:rPr dirty="0" sz="17550" spc="-25" b="0">
                <a:latin typeface="Arial"/>
                <a:cs typeface="Arial"/>
              </a:rPr>
              <a:t>YOU</a:t>
            </a:r>
            <a:endParaRPr sz="175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09728" y="-22"/>
            <a:ext cx="5278272" cy="59020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84434" y="7044601"/>
            <a:ext cx="1403565" cy="32423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2026-10-11T20:13:27Z</dcterms:created>
  <dcterms:modified xsi:type="dcterms:W3CDTF">2026-10-11T20:13:27Z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2026-10-11T00:00:00Z</vt:filetime>
  </property>
  <property fmtid="{D5CDD505-2E9C-101B-9397-08002B2CF9AE}" pid="4" name="LastSaved">
    <vt:filetime>2026-10-11T00:00:00Z</vt:filetime>
  </property>
  <property fmtid="{D5CDD505-2E9C-101B-9397-08002B2CF9AE}" pid="5" name="Producer">
    <vt:lpwstr>3-Heights(TM) PDF Security Shell 4.8.25.2 (http://www.pdf-tools.com)</vt:lpwstr>
  </property>
</Properties>
</file>
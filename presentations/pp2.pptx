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16506" y="2125383"/>
            <a:ext cx="8654986" cy="202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55481" y="3326612"/>
            <a:ext cx="7691755" cy="699135"/>
          </a:xfrm>
          <a:custGeom>
            <a:avLst/>
            <a:gdLst/>
            <a:ahLst/>
            <a:cxnLst/>
            <a:rect l="l" t="t" r="r" b="b"/>
            <a:pathLst>
              <a:path w="7691755" h="699135">
                <a:moveTo>
                  <a:pt x="7496683" y="0"/>
                </a:moveTo>
                <a:lnTo>
                  <a:pt x="194908" y="0"/>
                </a:lnTo>
                <a:lnTo>
                  <a:pt x="150217" y="5147"/>
                </a:lnTo>
                <a:lnTo>
                  <a:pt x="109192" y="19810"/>
                </a:lnTo>
                <a:lnTo>
                  <a:pt x="73002" y="42818"/>
                </a:lnTo>
                <a:lnTo>
                  <a:pt x="42819" y="73002"/>
                </a:lnTo>
                <a:lnTo>
                  <a:pt x="19810" y="109191"/>
                </a:lnTo>
                <a:lnTo>
                  <a:pt x="5147" y="150216"/>
                </a:lnTo>
                <a:lnTo>
                  <a:pt x="0" y="194906"/>
                </a:lnTo>
                <a:lnTo>
                  <a:pt x="0" y="503897"/>
                </a:lnTo>
                <a:lnTo>
                  <a:pt x="5147" y="548588"/>
                </a:lnTo>
                <a:lnTo>
                  <a:pt x="19810" y="589613"/>
                </a:lnTo>
                <a:lnTo>
                  <a:pt x="42819" y="625802"/>
                </a:lnTo>
                <a:lnTo>
                  <a:pt x="73002" y="655986"/>
                </a:lnTo>
                <a:lnTo>
                  <a:pt x="109192" y="678994"/>
                </a:lnTo>
                <a:lnTo>
                  <a:pt x="150217" y="693657"/>
                </a:lnTo>
                <a:lnTo>
                  <a:pt x="194908" y="698804"/>
                </a:lnTo>
                <a:lnTo>
                  <a:pt x="7496683" y="698804"/>
                </a:lnTo>
                <a:lnTo>
                  <a:pt x="7541373" y="693657"/>
                </a:lnTo>
                <a:lnTo>
                  <a:pt x="7582398" y="678994"/>
                </a:lnTo>
                <a:lnTo>
                  <a:pt x="7618587" y="655986"/>
                </a:lnTo>
                <a:lnTo>
                  <a:pt x="7648771" y="625802"/>
                </a:lnTo>
                <a:lnTo>
                  <a:pt x="7671779" y="589613"/>
                </a:lnTo>
                <a:lnTo>
                  <a:pt x="7686442" y="548588"/>
                </a:lnTo>
                <a:lnTo>
                  <a:pt x="7691589" y="503897"/>
                </a:lnTo>
                <a:lnTo>
                  <a:pt x="7691589" y="194906"/>
                </a:lnTo>
                <a:lnTo>
                  <a:pt x="7687810" y="156706"/>
                </a:lnTo>
                <a:lnTo>
                  <a:pt x="7658842" y="86771"/>
                </a:lnTo>
                <a:lnTo>
                  <a:pt x="7634503" y="57086"/>
                </a:lnTo>
                <a:lnTo>
                  <a:pt x="7604817" y="32746"/>
                </a:lnTo>
                <a:lnTo>
                  <a:pt x="7534883" y="3779"/>
                </a:lnTo>
                <a:lnTo>
                  <a:pt x="7496683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655481" y="4719535"/>
            <a:ext cx="7691755" cy="819150"/>
          </a:xfrm>
          <a:custGeom>
            <a:avLst/>
            <a:gdLst/>
            <a:ahLst/>
            <a:cxnLst/>
            <a:rect l="l" t="t" r="r" b="b"/>
            <a:pathLst>
              <a:path w="7691755" h="819150">
                <a:moveTo>
                  <a:pt x="7496683" y="0"/>
                </a:moveTo>
                <a:lnTo>
                  <a:pt x="194908" y="0"/>
                </a:lnTo>
                <a:lnTo>
                  <a:pt x="150217" y="5147"/>
                </a:lnTo>
                <a:lnTo>
                  <a:pt x="109192" y="19810"/>
                </a:lnTo>
                <a:lnTo>
                  <a:pt x="73002" y="42818"/>
                </a:lnTo>
                <a:lnTo>
                  <a:pt x="42819" y="73002"/>
                </a:lnTo>
                <a:lnTo>
                  <a:pt x="19810" y="109191"/>
                </a:lnTo>
                <a:lnTo>
                  <a:pt x="5147" y="150216"/>
                </a:lnTo>
                <a:lnTo>
                  <a:pt x="0" y="194906"/>
                </a:lnTo>
                <a:lnTo>
                  <a:pt x="0" y="623684"/>
                </a:lnTo>
                <a:lnTo>
                  <a:pt x="5147" y="668374"/>
                </a:lnTo>
                <a:lnTo>
                  <a:pt x="19810" y="709397"/>
                </a:lnTo>
                <a:lnTo>
                  <a:pt x="42819" y="745584"/>
                </a:lnTo>
                <a:lnTo>
                  <a:pt x="73002" y="775764"/>
                </a:lnTo>
                <a:lnTo>
                  <a:pt x="109192" y="798770"/>
                </a:lnTo>
                <a:lnTo>
                  <a:pt x="150217" y="813431"/>
                </a:lnTo>
                <a:lnTo>
                  <a:pt x="194908" y="818578"/>
                </a:lnTo>
                <a:lnTo>
                  <a:pt x="7496683" y="818578"/>
                </a:lnTo>
                <a:lnTo>
                  <a:pt x="7541373" y="813431"/>
                </a:lnTo>
                <a:lnTo>
                  <a:pt x="7582398" y="798770"/>
                </a:lnTo>
                <a:lnTo>
                  <a:pt x="7618587" y="775764"/>
                </a:lnTo>
                <a:lnTo>
                  <a:pt x="7648771" y="745584"/>
                </a:lnTo>
                <a:lnTo>
                  <a:pt x="7671779" y="709397"/>
                </a:lnTo>
                <a:lnTo>
                  <a:pt x="7686442" y="668374"/>
                </a:lnTo>
                <a:lnTo>
                  <a:pt x="7691589" y="623684"/>
                </a:lnTo>
                <a:lnTo>
                  <a:pt x="7691589" y="194906"/>
                </a:lnTo>
                <a:lnTo>
                  <a:pt x="7687810" y="156706"/>
                </a:lnTo>
                <a:lnTo>
                  <a:pt x="7658842" y="86771"/>
                </a:lnTo>
                <a:lnTo>
                  <a:pt x="7634503" y="57086"/>
                </a:lnTo>
                <a:lnTo>
                  <a:pt x="7604817" y="32746"/>
                </a:lnTo>
                <a:lnTo>
                  <a:pt x="7534883" y="3779"/>
                </a:lnTo>
                <a:lnTo>
                  <a:pt x="7496683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655481" y="6233452"/>
            <a:ext cx="7691755" cy="818515"/>
          </a:xfrm>
          <a:custGeom>
            <a:avLst/>
            <a:gdLst/>
            <a:ahLst/>
            <a:cxnLst/>
            <a:rect l="l" t="t" r="r" b="b"/>
            <a:pathLst>
              <a:path w="7691755" h="818515">
                <a:moveTo>
                  <a:pt x="7496683" y="0"/>
                </a:moveTo>
                <a:lnTo>
                  <a:pt x="194908" y="0"/>
                </a:lnTo>
                <a:lnTo>
                  <a:pt x="150217" y="5147"/>
                </a:lnTo>
                <a:lnTo>
                  <a:pt x="109192" y="19810"/>
                </a:lnTo>
                <a:lnTo>
                  <a:pt x="73002" y="42818"/>
                </a:lnTo>
                <a:lnTo>
                  <a:pt x="42819" y="73002"/>
                </a:lnTo>
                <a:lnTo>
                  <a:pt x="19810" y="109191"/>
                </a:lnTo>
                <a:lnTo>
                  <a:pt x="5147" y="150216"/>
                </a:lnTo>
                <a:lnTo>
                  <a:pt x="0" y="194906"/>
                </a:lnTo>
                <a:lnTo>
                  <a:pt x="0" y="623303"/>
                </a:lnTo>
                <a:lnTo>
                  <a:pt x="5147" y="667994"/>
                </a:lnTo>
                <a:lnTo>
                  <a:pt x="19810" y="709021"/>
                </a:lnTo>
                <a:lnTo>
                  <a:pt x="42819" y="745213"/>
                </a:lnTo>
                <a:lnTo>
                  <a:pt x="73002" y="775399"/>
                </a:lnTo>
                <a:lnTo>
                  <a:pt x="109192" y="798410"/>
                </a:lnTo>
                <a:lnTo>
                  <a:pt x="150217" y="813074"/>
                </a:lnTo>
                <a:lnTo>
                  <a:pt x="194908" y="818222"/>
                </a:lnTo>
                <a:lnTo>
                  <a:pt x="7496683" y="818222"/>
                </a:lnTo>
                <a:lnTo>
                  <a:pt x="7541373" y="813074"/>
                </a:lnTo>
                <a:lnTo>
                  <a:pt x="7582398" y="798410"/>
                </a:lnTo>
                <a:lnTo>
                  <a:pt x="7618587" y="775399"/>
                </a:lnTo>
                <a:lnTo>
                  <a:pt x="7648771" y="745213"/>
                </a:lnTo>
                <a:lnTo>
                  <a:pt x="7671779" y="709021"/>
                </a:lnTo>
                <a:lnTo>
                  <a:pt x="7686442" y="667994"/>
                </a:lnTo>
                <a:lnTo>
                  <a:pt x="7691589" y="623303"/>
                </a:lnTo>
                <a:lnTo>
                  <a:pt x="7691589" y="194906"/>
                </a:lnTo>
                <a:lnTo>
                  <a:pt x="7687810" y="156706"/>
                </a:lnTo>
                <a:lnTo>
                  <a:pt x="7658842" y="86771"/>
                </a:lnTo>
                <a:lnTo>
                  <a:pt x="7634503" y="57086"/>
                </a:lnTo>
                <a:lnTo>
                  <a:pt x="7604817" y="32746"/>
                </a:lnTo>
                <a:lnTo>
                  <a:pt x="7534883" y="3779"/>
                </a:lnTo>
                <a:lnTo>
                  <a:pt x="7496683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655481" y="7747000"/>
            <a:ext cx="7691755" cy="904875"/>
          </a:xfrm>
          <a:custGeom>
            <a:avLst/>
            <a:gdLst/>
            <a:ahLst/>
            <a:cxnLst/>
            <a:rect l="l" t="t" r="r" b="b"/>
            <a:pathLst>
              <a:path w="7691755" h="904875">
                <a:moveTo>
                  <a:pt x="7496683" y="0"/>
                </a:moveTo>
                <a:lnTo>
                  <a:pt x="194908" y="0"/>
                </a:lnTo>
                <a:lnTo>
                  <a:pt x="150217" y="5147"/>
                </a:lnTo>
                <a:lnTo>
                  <a:pt x="109192" y="19810"/>
                </a:lnTo>
                <a:lnTo>
                  <a:pt x="73002" y="42818"/>
                </a:lnTo>
                <a:lnTo>
                  <a:pt x="42819" y="73002"/>
                </a:lnTo>
                <a:lnTo>
                  <a:pt x="19810" y="109191"/>
                </a:lnTo>
                <a:lnTo>
                  <a:pt x="5147" y="150216"/>
                </a:lnTo>
                <a:lnTo>
                  <a:pt x="0" y="194906"/>
                </a:lnTo>
                <a:lnTo>
                  <a:pt x="0" y="709498"/>
                </a:lnTo>
                <a:lnTo>
                  <a:pt x="5147" y="754188"/>
                </a:lnTo>
                <a:lnTo>
                  <a:pt x="19810" y="795213"/>
                </a:lnTo>
                <a:lnTo>
                  <a:pt x="42819" y="831402"/>
                </a:lnTo>
                <a:lnTo>
                  <a:pt x="73002" y="861586"/>
                </a:lnTo>
                <a:lnTo>
                  <a:pt x="109192" y="884594"/>
                </a:lnTo>
                <a:lnTo>
                  <a:pt x="150217" y="899257"/>
                </a:lnTo>
                <a:lnTo>
                  <a:pt x="194908" y="904405"/>
                </a:lnTo>
                <a:lnTo>
                  <a:pt x="7496683" y="904405"/>
                </a:lnTo>
                <a:lnTo>
                  <a:pt x="7541373" y="899257"/>
                </a:lnTo>
                <a:lnTo>
                  <a:pt x="7582398" y="884594"/>
                </a:lnTo>
                <a:lnTo>
                  <a:pt x="7618587" y="861586"/>
                </a:lnTo>
                <a:lnTo>
                  <a:pt x="7648771" y="831402"/>
                </a:lnTo>
                <a:lnTo>
                  <a:pt x="7671779" y="795213"/>
                </a:lnTo>
                <a:lnTo>
                  <a:pt x="7686442" y="754188"/>
                </a:lnTo>
                <a:lnTo>
                  <a:pt x="7691589" y="709498"/>
                </a:lnTo>
                <a:lnTo>
                  <a:pt x="7691589" y="194906"/>
                </a:lnTo>
                <a:lnTo>
                  <a:pt x="7687810" y="156706"/>
                </a:lnTo>
                <a:lnTo>
                  <a:pt x="7658842" y="86771"/>
                </a:lnTo>
                <a:lnTo>
                  <a:pt x="7634503" y="57086"/>
                </a:lnTo>
                <a:lnTo>
                  <a:pt x="7604817" y="32746"/>
                </a:lnTo>
                <a:lnTo>
                  <a:pt x="7534883" y="3779"/>
                </a:lnTo>
                <a:lnTo>
                  <a:pt x="7496683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581983"/>
            <a:ext cx="16256000" cy="1636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6448" y="2767685"/>
            <a:ext cx="13340715" cy="4740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F589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604330" y="9312662"/>
            <a:ext cx="1831975" cy="62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150" spc="-10">
                <a:solidFill>
                  <a:srgbClr val="0049AC"/>
                </a:solidFill>
              </a:rPr>
              <a:t>MathsMate</a:t>
            </a:r>
            <a:endParaRPr sz="13150"/>
          </a:p>
        </p:txBody>
      </p:sp>
      <p:sp>
        <p:nvSpPr>
          <p:cNvPr id="3" name="object 3"/>
          <p:cNvSpPr txBox="1"/>
          <p:nvPr/>
        </p:nvSpPr>
        <p:spPr>
          <a:xfrm>
            <a:off x="1591605" y="4511535"/>
            <a:ext cx="15627985" cy="3268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17240" marR="5080" indent="-3305175">
              <a:lnSpc>
                <a:spcPct val="116900"/>
              </a:lnSpc>
              <a:spcBef>
                <a:spcPts val="100"/>
              </a:spcBef>
            </a:pPr>
            <a:r>
              <a:rPr dirty="0" sz="9100" b="1">
                <a:latin typeface="Arial"/>
                <a:cs typeface="Arial"/>
              </a:rPr>
              <a:t>Interactive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b="1">
                <a:latin typeface="Arial"/>
                <a:cs typeface="Arial"/>
              </a:rPr>
              <a:t>Learning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b="1">
                <a:latin typeface="Arial"/>
                <a:cs typeface="Arial"/>
              </a:rPr>
              <a:t>Tool</a:t>
            </a:r>
            <a:r>
              <a:rPr dirty="0" sz="9100" spc="-254" b="1">
                <a:latin typeface="Arial"/>
                <a:cs typeface="Arial"/>
              </a:rPr>
              <a:t> </a:t>
            </a:r>
            <a:r>
              <a:rPr dirty="0" sz="9100" spc="-25" b="1">
                <a:latin typeface="Arial"/>
                <a:cs typeface="Arial"/>
              </a:rPr>
              <a:t>for </a:t>
            </a:r>
            <a:r>
              <a:rPr dirty="0" sz="9100" b="1">
                <a:latin typeface="Arial"/>
                <a:cs typeface="Arial"/>
              </a:rPr>
              <a:t>Dyscalculia</a:t>
            </a:r>
            <a:r>
              <a:rPr dirty="0" sz="9100" spc="-430" b="1">
                <a:latin typeface="Arial"/>
                <a:cs typeface="Arial"/>
              </a:rPr>
              <a:t> </a:t>
            </a:r>
            <a:r>
              <a:rPr dirty="0" sz="9100" spc="-20" b="1">
                <a:latin typeface="Arial"/>
                <a:cs typeface="Arial"/>
              </a:rPr>
              <a:t>kids</a:t>
            </a:r>
            <a:endParaRPr sz="9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4219" y="9359582"/>
            <a:ext cx="18319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736935" y="9417012"/>
            <a:ext cx="18319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" b="0">
                <a:solidFill>
                  <a:srgbClr val="000000"/>
                </a:solidFill>
                <a:latin typeface="Arial"/>
                <a:cs typeface="Arial"/>
              </a:rPr>
              <a:t>R26-</a:t>
            </a:r>
            <a:r>
              <a:rPr dirty="0" sz="4200" b="0">
                <a:solidFill>
                  <a:srgbClr val="000000"/>
                </a:solidFill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4539" rIns="0" bIns="0" rtlCol="0" vert="horz">
            <a:spAutoFit/>
          </a:bodyPr>
          <a:lstStyle/>
          <a:p>
            <a:pPr marL="3842385">
              <a:lnSpc>
                <a:spcPct val="100000"/>
              </a:lnSpc>
              <a:spcBef>
                <a:spcPts val="100"/>
              </a:spcBef>
            </a:pPr>
            <a:r>
              <a:rPr dirty="0" sz="5350"/>
              <a:t>Problem</a:t>
            </a:r>
            <a:r>
              <a:rPr dirty="0" sz="5350" spc="-55"/>
              <a:t> </a:t>
            </a:r>
            <a:r>
              <a:rPr dirty="0" sz="5350"/>
              <a:t>and</a:t>
            </a:r>
            <a:r>
              <a:rPr dirty="0" sz="5350" spc="-55"/>
              <a:t> </a:t>
            </a:r>
            <a:r>
              <a:rPr dirty="0" sz="5350" spc="-10"/>
              <a:t>Stakeholders</a:t>
            </a:r>
            <a:endParaRPr sz="5350"/>
          </a:p>
        </p:txBody>
      </p:sp>
      <p:sp>
        <p:nvSpPr>
          <p:cNvPr id="3" name="object 3"/>
          <p:cNvSpPr txBox="1"/>
          <p:nvPr/>
        </p:nvSpPr>
        <p:spPr>
          <a:xfrm>
            <a:off x="1841093" y="2423452"/>
            <a:ext cx="14688819" cy="5326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solidFill>
                  <a:srgbClr val="0F5894"/>
                </a:solidFill>
                <a:latin typeface="Arial"/>
                <a:cs typeface="Arial"/>
              </a:rPr>
              <a:t>The</a:t>
            </a:r>
            <a:r>
              <a:rPr dirty="0" sz="3550" spc="-2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3550" spc="-10" b="1">
                <a:solidFill>
                  <a:srgbClr val="0F5894"/>
                </a:solidFill>
                <a:latin typeface="Arial"/>
                <a:cs typeface="Arial"/>
              </a:rPr>
              <a:t>Problem</a:t>
            </a:r>
            <a:endParaRPr sz="3550">
              <a:latin typeface="Arial"/>
              <a:cs typeface="Arial"/>
            </a:endParaRPr>
          </a:p>
          <a:p>
            <a:pPr marL="12700" marR="6350">
              <a:lnSpc>
                <a:spcPct val="116199"/>
              </a:lnSpc>
              <a:spcBef>
                <a:spcPts val="2615"/>
              </a:spcBef>
            </a:pPr>
            <a:r>
              <a:rPr dirty="0" sz="2500">
                <a:latin typeface="Arial"/>
                <a:cs typeface="Arial"/>
              </a:rPr>
              <a:t>Children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with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dyscalculia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experience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difficulties</a:t>
            </a:r>
            <a:r>
              <a:rPr dirty="0" sz="2500" spc="25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understanding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and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learning</a:t>
            </a:r>
            <a:r>
              <a:rPr dirty="0" sz="2500" spc="25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mathematical</a:t>
            </a:r>
            <a:r>
              <a:rPr dirty="0" sz="2500" spc="25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concepts. </a:t>
            </a:r>
            <a:r>
              <a:rPr dirty="0" sz="2500">
                <a:latin typeface="Arial"/>
                <a:cs typeface="Arial"/>
              </a:rPr>
              <a:t>They</a:t>
            </a:r>
            <a:r>
              <a:rPr dirty="0" sz="2500" spc="-2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may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struggle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with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areas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such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as: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500">
              <a:latin typeface="Arial"/>
              <a:cs typeface="Arial"/>
            </a:endParaRPr>
          </a:p>
          <a:p>
            <a:pPr marL="551180" indent="-269875">
              <a:lnSpc>
                <a:spcPct val="100000"/>
              </a:lnSpc>
              <a:buChar char="•"/>
              <a:tabLst>
                <a:tab pos="551180" algn="l"/>
              </a:tabLst>
            </a:pPr>
            <a:r>
              <a:rPr dirty="0" sz="2500">
                <a:latin typeface="Arial"/>
                <a:cs typeface="Arial"/>
              </a:rPr>
              <a:t>Remembering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mathematical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information</a:t>
            </a:r>
            <a:endParaRPr sz="2500">
              <a:latin typeface="Arial"/>
              <a:cs typeface="Arial"/>
            </a:endParaRPr>
          </a:p>
          <a:p>
            <a:pPr marL="551180" indent="-269875">
              <a:lnSpc>
                <a:spcPct val="100000"/>
              </a:lnSpc>
              <a:spcBef>
                <a:spcPts val="484"/>
              </a:spcBef>
              <a:buChar char="•"/>
              <a:tabLst>
                <a:tab pos="551180" algn="l"/>
              </a:tabLst>
            </a:pPr>
            <a:r>
              <a:rPr dirty="0" sz="2500">
                <a:latin typeface="Arial"/>
                <a:cs typeface="Arial"/>
              </a:rPr>
              <a:t>Maintaining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attention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during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learning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activities</a:t>
            </a:r>
            <a:endParaRPr sz="2500">
              <a:latin typeface="Arial"/>
              <a:cs typeface="Arial"/>
            </a:endParaRPr>
          </a:p>
          <a:p>
            <a:pPr marL="551180" indent="-269875">
              <a:lnSpc>
                <a:spcPct val="100000"/>
              </a:lnSpc>
              <a:spcBef>
                <a:spcPts val="484"/>
              </a:spcBef>
              <a:buChar char="•"/>
              <a:tabLst>
                <a:tab pos="551180" algn="l"/>
              </a:tabLst>
            </a:pPr>
            <a:r>
              <a:rPr dirty="0" sz="2500">
                <a:latin typeface="Arial"/>
                <a:cs typeface="Arial"/>
              </a:rPr>
              <a:t>Understanding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numbers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and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quantities</a:t>
            </a:r>
            <a:endParaRPr sz="2500">
              <a:latin typeface="Arial"/>
              <a:cs typeface="Arial"/>
            </a:endParaRPr>
          </a:p>
          <a:p>
            <a:pPr marL="551180" indent="-269875">
              <a:lnSpc>
                <a:spcPct val="100000"/>
              </a:lnSpc>
              <a:spcBef>
                <a:spcPts val="484"/>
              </a:spcBef>
              <a:buChar char="•"/>
              <a:tabLst>
                <a:tab pos="551180" algn="l"/>
              </a:tabLst>
            </a:pPr>
            <a:r>
              <a:rPr dirty="0" sz="2500">
                <a:latin typeface="Arial"/>
                <a:cs typeface="Arial"/>
              </a:rPr>
              <a:t>Processing</a:t>
            </a:r>
            <a:r>
              <a:rPr dirty="0" sz="2500" spc="-10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mathematical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information</a:t>
            </a:r>
            <a:r>
              <a:rPr dirty="0" sz="2500" spc="-10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efficiently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</a:pPr>
            <a:r>
              <a:rPr dirty="0" sz="2500">
                <a:latin typeface="Arial"/>
                <a:cs typeface="Arial"/>
              </a:rPr>
              <a:t>Traditional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mathematics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learning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methods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often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provide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the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same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learning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content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and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difficulty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level</a:t>
            </a:r>
            <a:r>
              <a:rPr dirty="0" sz="2500" spc="6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to </a:t>
            </a:r>
            <a:r>
              <a:rPr dirty="0" sz="2500">
                <a:latin typeface="Arial"/>
                <a:cs typeface="Arial"/>
              </a:rPr>
              <a:t>every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student,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without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considering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individual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cognitive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abilities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and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learning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performance.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45518" y="738182"/>
            <a:ext cx="7129780" cy="60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/>
              <a:t>Target</a:t>
            </a:r>
            <a:r>
              <a:rPr dirty="0" sz="3800" spc="-45"/>
              <a:t> </a:t>
            </a:r>
            <a:r>
              <a:rPr dirty="0" sz="3800"/>
              <a:t>Users</a:t>
            </a:r>
            <a:r>
              <a:rPr dirty="0" sz="3800" spc="-40"/>
              <a:t> </a:t>
            </a:r>
            <a:r>
              <a:rPr dirty="0" sz="3800"/>
              <a:t>and</a:t>
            </a:r>
            <a:r>
              <a:rPr dirty="0" sz="3800" spc="-45"/>
              <a:t> </a:t>
            </a:r>
            <a:r>
              <a:rPr dirty="0" sz="3800" spc="-10"/>
              <a:t>Stakeholders</a:t>
            </a:r>
            <a:endParaRPr sz="3800"/>
          </a:p>
        </p:txBody>
      </p:sp>
      <p:sp>
        <p:nvSpPr>
          <p:cNvPr id="2" name="object 2"/>
          <p:cNvSpPr txBox="1"/>
          <p:nvPr/>
        </p:nvSpPr>
        <p:spPr>
          <a:xfrm>
            <a:off x="2417127" y="1948166"/>
            <a:ext cx="14365605" cy="476313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400">
                <a:latin typeface="Arial"/>
                <a:cs typeface="Arial"/>
              </a:rPr>
              <a:t>Primary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534035" indent="-260350">
              <a:lnSpc>
                <a:spcPct val="100000"/>
              </a:lnSpc>
              <a:spcBef>
                <a:spcPts val="509"/>
              </a:spcBef>
              <a:buChar char="•"/>
              <a:tabLst>
                <a:tab pos="534035" algn="l"/>
              </a:tabLst>
            </a:pPr>
            <a:r>
              <a:rPr dirty="0" sz="2400">
                <a:latin typeface="Arial"/>
                <a:cs typeface="Arial"/>
              </a:rPr>
              <a:t>Grade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2–</a:t>
            </a: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students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mathematics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difficulties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"/>
                <a:cs typeface="Arial"/>
              </a:rPr>
              <a:t>Secondary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534035" indent="-260350">
              <a:lnSpc>
                <a:spcPct val="100000"/>
              </a:lnSpc>
              <a:spcBef>
                <a:spcPts val="509"/>
              </a:spcBef>
              <a:buChar char="•"/>
              <a:tabLst>
                <a:tab pos="534035" algn="l"/>
              </a:tabLst>
            </a:pPr>
            <a:r>
              <a:rPr dirty="0" sz="2400">
                <a:latin typeface="Arial"/>
                <a:cs typeface="Arial"/>
              </a:rPr>
              <a:t>Teachers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monitor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student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progress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identify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difficulties</a:t>
            </a:r>
            <a:endParaRPr sz="2400">
              <a:latin typeface="Arial"/>
              <a:cs typeface="Arial"/>
            </a:endParaRPr>
          </a:p>
          <a:p>
            <a:pPr marL="534035" indent="-260350">
              <a:lnSpc>
                <a:spcPct val="100000"/>
              </a:lnSpc>
              <a:spcBef>
                <a:spcPts val="509"/>
              </a:spcBef>
              <a:buChar char="•"/>
              <a:tabLst>
                <a:tab pos="534035" algn="l"/>
              </a:tabLst>
            </a:pPr>
            <a:r>
              <a:rPr dirty="0" sz="2400">
                <a:latin typeface="Arial"/>
                <a:cs typeface="Arial"/>
              </a:rPr>
              <a:t>Parents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–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understand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their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child's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progress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areas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requiring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support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"/>
                <a:cs typeface="Arial"/>
              </a:rPr>
              <a:t>Why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This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Problem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Important?</a:t>
            </a:r>
            <a:endParaRPr sz="2400">
              <a:latin typeface="Arial"/>
              <a:cs typeface="Arial"/>
            </a:endParaRPr>
          </a:p>
          <a:p>
            <a:pPr marL="534035" marR="5080" indent="-260350">
              <a:lnSpc>
                <a:spcPct val="117700"/>
              </a:lnSpc>
              <a:buChar char="•"/>
              <a:tabLst>
                <a:tab pos="535305" algn="l"/>
              </a:tabLst>
            </a:pPr>
            <a:r>
              <a:rPr dirty="0" sz="2400">
                <a:latin typeface="Arial"/>
                <a:cs typeface="Arial"/>
              </a:rPr>
              <a:t>Early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identification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personalized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support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help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children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receive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activities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appropriate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to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their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individual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needs.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166" y="8134578"/>
            <a:ext cx="17235170" cy="91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57570" marR="5080" indent="-5945505">
              <a:lnSpc>
                <a:spcPct val="116599"/>
              </a:lnSpc>
              <a:spcBef>
                <a:spcPts val="100"/>
              </a:spcBef>
            </a:pP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Children</a:t>
            </a:r>
            <a:r>
              <a:rPr dirty="0" sz="2500" spc="-4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have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different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cognitive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abilities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and</a:t>
            </a:r>
            <a:r>
              <a:rPr dirty="0" sz="2500" spc="-4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learning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needs,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but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traditional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learning</a:t>
            </a:r>
            <a:r>
              <a:rPr dirty="0" sz="2500" spc="-4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approaches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may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not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F3030"/>
                </a:solidFill>
                <a:latin typeface="Arial"/>
                <a:cs typeface="Arial"/>
              </a:rPr>
              <a:t>provide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personalized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and</a:t>
            </a:r>
            <a:r>
              <a:rPr dirty="0" sz="2500" spc="-3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3030"/>
                </a:solidFill>
                <a:latin typeface="Arial"/>
                <a:cs typeface="Arial"/>
              </a:rPr>
              <a:t>adaptive</a:t>
            </a:r>
            <a:r>
              <a:rPr dirty="0" sz="2500" spc="-3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F3030"/>
                </a:solidFill>
                <a:latin typeface="Arial"/>
                <a:cs typeface="Arial"/>
              </a:rPr>
              <a:t>support.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29652" y="9573355"/>
            <a:ext cx="1831975" cy="621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581983"/>
            <a:ext cx="504190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Research</a:t>
            </a:r>
            <a:r>
              <a:rPr dirty="0" sz="2800" spc="-85"/>
              <a:t> </a:t>
            </a:r>
            <a:r>
              <a:rPr dirty="0" sz="2800"/>
              <a:t>Gap</a:t>
            </a:r>
            <a:r>
              <a:rPr dirty="0" sz="2800" spc="-85"/>
              <a:t> </a:t>
            </a:r>
            <a:r>
              <a:rPr dirty="0" sz="2800"/>
              <a:t>and</a:t>
            </a:r>
            <a:r>
              <a:rPr dirty="0" sz="2800" spc="-85"/>
              <a:t> </a:t>
            </a:r>
            <a:r>
              <a:rPr dirty="0" sz="2800" spc="-1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16000" y="1403159"/>
            <a:ext cx="14745335" cy="4558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600" b="1">
                <a:solidFill>
                  <a:srgbClr val="211E1C"/>
                </a:solidFill>
                <a:uFill>
                  <a:solidFill>
                    <a:srgbClr val="211E1C"/>
                  </a:solidFill>
                </a:uFill>
                <a:latin typeface="Arial"/>
                <a:cs typeface="Arial"/>
              </a:rPr>
              <a:t>Research</a:t>
            </a:r>
            <a:r>
              <a:rPr dirty="0" u="sng" sz="2600" spc="-140" b="1">
                <a:solidFill>
                  <a:srgbClr val="211E1C"/>
                </a:solidFill>
                <a:uFill>
                  <a:solidFill>
                    <a:srgbClr val="211E1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600" spc="-25" b="1">
                <a:solidFill>
                  <a:srgbClr val="211E1C"/>
                </a:solidFill>
                <a:uFill>
                  <a:solidFill>
                    <a:srgbClr val="211E1C"/>
                  </a:solidFill>
                </a:uFill>
                <a:latin typeface="Arial"/>
                <a:cs typeface="Arial"/>
              </a:rPr>
              <a:t>Gap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600">
              <a:latin typeface="Arial"/>
              <a:cs typeface="Arial"/>
            </a:endParaRPr>
          </a:p>
          <a:p>
            <a:pPr marL="1294765">
              <a:lnSpc>
                <a:spcPct val="100000"/>
              </a:lnSpc>
            </a:pPr>
            <a:r>
              <a:rPr dirty="0" sz="2350">
                <a:latin typeface="Arial"/>
                <a:cs typeface="Arial"/>
              </a:rPr>
              <a:t>Based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on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the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identified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problem,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existing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approaches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may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have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limitations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such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as: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350">
              <a:latin typeface="Arial"/>
              <a:cs typeface="Arial"/>
            </a:endParaRPr>
          </a:p>
          <a:p>
            <a:pPr marL="1802764" indent="-253365">
              <a:lnSpc>
                <a:spcPct val="100000"/>
              </a:lnSpc>
              <a:spcBef>
                <a:spcPts val="5"/>
              </a:spcBef>
              <a:buChar char="•"/>
              <a:tabLst>
                <a:tab pos="1802764" algn="l"/>
              </a:tabLst>
            </a:pPr>
            <a:r>
              <a:rPr dirty="0" sz="2350">
                <a:latin typeface="Arial"/>
                <a:cs typeface="Arial"/>
              </a:rPr>
              <a:t>Limited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early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identification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of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different</a:t>
            </a:r>
            <a:r>
              <a:rPr dirty="0" sz="2350" spc="-7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cognitive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difficulties</a:t>
            </a:r>
            <a:endParaRPr sz="2350">
              <a:latin typeface="Arial"/>
              <a:cs typeface="Arial"/>
            </a:endParaRPr>
          </a:p>
          <a:p>
            <a:pPr marL="1802764" indent="-253365">
              <a:lnSpc>
                <a:spcPct val="100000"/>
              </a:lnSpc>
              <a:spcBef>
                <a:spcPts val="480"/>
              </a:spcBef>
              <a:buChar char="•"/>
              <a:tabLst>
                <a:tab pos="1802764" algn="l"/>
              </a:tabLst>
            </a:pPr>
            <a:r>
              <a:rPr dirty="0" sz="2350">
                <a:latin typeface="Arial"/>
                <a:cs typeface="Arial"/>
              </a:rPr>
              <a:t>Learning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content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that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is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not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sufficiently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personalized</a:t>
            </a:r>
            <a:endParaRPr sz="2350">
              <a:latin typeface="Arial"/>
              <a:cs typeface="Arial"/>
            </a:endParaRPr>
          </a:p>
          <a:p>
            <a:pPr marL="1802764" indent="-253365">
              <a:lnSpc>
                <a:spcPct val="100000"/>
              </a:lnSpc>
              <a:spcBef>
                <a:spcPts val="484"/>
              </a:spcBef>
              <a:buChar char="•"/>
              <a:tabLst>
                <a:tab pos="1802764" algn="l"/>
              </a:tabLst>
            </a:pPr>
            <a:r>
              <a:rPr dirty="0" sz="2350">
                <a:latin typeface="Arial"/>
                <a:cs typeface="Arial"/>
              </a:rPr>
              <a:t>Limited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use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of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adaptive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learning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based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on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student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performance</a:t>
            </a:r>
            <a:endParaRPr sz="2350">
              <a:latin typeface="Arial"/>
              <a:cs typeface="Arial"/>
            </a:endParaRPr>
          </a:p>
          <a:p>
            <a:pPr marL="1802764" indent="-253365">
              <a:lnSpc>
                <a:spcPct val="100000"/>
              </a:lnSpc>
              <a:spcBef>
                <a:spcPts val="480"/>
              </a:spcBef>
              <a:buChar char="•"/>
              <a:tabLst>
                <a:tab pos="1802764" algn="l"/>
              </a:tabLst>
            </a:pPr>
            <a:r>
              <a:rPr dirty="0" sz="2350">
                <a:latin typeface="Arial"/>
                <a:cs typeface="Arial"/>
              </a:rPr>
              <a:t>Lack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of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continuous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monitoring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and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early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warning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mechanisms</a:t>
            </a:r>
            <a:endParaRPr sz="2350">
              <a:latin typeface="Arial"/>
              <a:cs typeface="Arial"/>
            </a:endParaRPr>
          </a:p>
          <a:p>
            <a:pPr marL="1802130" marR="5080" indent="-253365">
              <a:lnSpc>
                <a:spcPct val="117100"/>
              </a:lnSpc>
              <a:spcBef>
                <a:spcPts val="5"/>
              </a:spcBef>
              <a:buChar char="•"/>
              <a:tabLst>
                <a:tab pos="1804035" algn="l"/>
              </a:tabLst>
            </a:pPr>
            <a:r>
              <a:rPr dirty="0" sz="2350">
                <a:latin typeface="Arial"/>
                <a:cs typeface="Arial"/>
              </a:rPr>
              <a:t>Learning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systems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that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do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not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combine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cognitive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profiling,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personalization,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adaptive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gameplay,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and </a:t>
            </a:r>
            <a:r>
              <a:rPr dirty="0" sz="2350" spc="-25">
                <a:latin typeface="Arial"/>
                <a:cs typeface="Arial"/>
              </a:rPr>
              <a:t>	</a:t>
            </a:r>
            <a:r>
              <a:rPr dirty="0" sz="2350">
                <a:latin typeface="Arial"/>
                <a:cs typeface="Arial"/>
              </a:rPr>
              <a:t>learning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analytics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into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one</a:t>
            </a:r>
            <a:r>
              <a:rPr dirty="0" sz="2350" spc="-8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solution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17" y="8002320"/>
            <a:ext cx="445940" cy="4219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6448" y="7486891"/>
            <a:ext cx="16272510" cy="14058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2800" b="1">
                <a:latin typeface="Arial"/>
                <a:cs typeface="Arial"/>
              </a:rPr>
              <a:t>Main</a:t>
            </a:r>
            <a:r>
              <a:rPr dirty="0" sz="2800" spc="-12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Research</a:t>
            </a:r>
            <a:r>
              <a:rPr dirty="0" sz="2800" spc="-12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Objective</a:t>
            </a:r>
            <a:endParaRPr sz="2800">
              <a:latin typeface="Arial"/>
              <a:cs typeface="Arial"/>
            </a:endParaRPr>
          </a:p>
          <a:p>
            <a:pPr marL="612775" marR="5080" indent="-299720">
              <a:lnSpc>
                <a:spcPct val="107800"/>
              </a:lnSpc>
              <a:buChar char="•"/>
              <a:tabLst>
                <a:tab pos="614045" algn="l"/>
              </a:tabLst>
            </a:pP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develop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integrated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intelligent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learning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system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identifies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cognitive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skill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levels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provides 	personalized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adaptive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mathematics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learning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support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for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children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with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dyscalculia.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11338" y="9603873"/>
            <a:ext cx="1831975" cy="621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44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Research</a:t>
            </a:r>
            <a:r>
              <a:rPr dirty="0" sz="2800" spc="-85"/>
              <a:t> </a:t>
            </a:r>
            <a:r>
              <a:rPr dirty="0" sz="2800"/>
              <a:t>Gap</a:t>
            </a:r>
            <a:r>
              <a:rPr dirty="0" sz="2800" spc="-85"/>
              <a:t> </a:t>
            </a:r>
            <a:r>
              <a:rPr dirty="0" sz="2800"/>
              <a:t>and</a:t>
            </a:r>
            <a:r>
              <a:rPr dirty="0" sz="2800" spc="-85"/>
              <a:t> </a:t>
            </a:r>
            <a:r>
              <a:rPr dirty="0" sz="2800" spc="-1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544078" y="2588235"/>
            <a:ext cx="14523719" cy="310515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900">
                <a:latin typeface="Arial"/>
                <a:cs typeface="Arial"/>
              </a:rPr>
              <a:t>Specific</a:t>
            </a:r>
            <a:r>
              <a:rPr dirty="0" sz="2900" spc="-6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Objectives</a:t>
            </a:r>
            <a:endParaRPr sz="2900">
              <a:latin typeface="Arial"/>
              <a:cs typeface="Arial"/>
            </a:endParaRPr>
          </a:p>
          <a:p>
            <a:pPr marL="634365" indent="-310515">
              <a:lnSpc>
                <a:spcPct val="100000"/>
              </a:lnSpc>
              <a:spcBef>
                <a:spcPts val="560"/>
              </a:spcBef>
              <a:buSzPct val="96551"/>
              <a:buAutoNum type="arabicPeriod"/>
              <a:tabLst>
                <a:tab pos="634365" algn="l"/>
              </a:tabLst>
            </a:pPr>
            <a:r>
              <a:rPr dirty="0" sz="2900">
                <a:latin typeface="Arial"/>
                <a:cs typeface="Arial"/>
              </a:rPr>
              <a:t>Identify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students'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cognitive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skill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levels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related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mathematics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learning.</a:t>
            </a:r>
            <a:endParaRPr sz="2900">
              <a:latin typeface="Arial"/>
              <a:cs typeface="Arial"/>
            </a:endParaRPr>
          </a:p>
          <a:p>
            <a:pPr marL="634365" indent="-310515">
              <a:lnSpc>
                <a:spcPct val="100000"/>
              </a:lnSpc>
              <a:spcBef>
                <a:spcPts val="560"/>
              </a:spcBef>
              <a:buSzPct val="96551"/>
              <a:buAutoNum type="arabicPeriod"/>
              <a:tabLst>
                <a:tab pos="634365" algn="l"/>
              </a:tabLst>
            </a:pPr>
            <a:r>
              <a:rPr dirty="0" sz="2900">
                <a:latin typeface="Arial"/>
                <a:cs typeface="Arial"/>
              </a:rPr>
              <a:t>Personalize</a:t>
            </a:r>
            <a:r>
              <a:rPr dirty="0" sz="2900" spc="-114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learning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activities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according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individual</a:t>
            </a:r>
            <a:r>
              <a:rPr dirty="0" sz="2900" spc="-114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learning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progress.</a:t>
            </a:r>
            <a:endParaRPr sz="2900">
              <a:latin typeface="Arial"/>
              <a:cs typeface="Arial"/>
            </a:endParaRPr>
          </a:p>
          <a:p>
            <a:pPr marL="634365" indent="-310515">
              <a:lnSpc>
                <a:spcPct val="100000"/>
              </a:lnSpc>
              <a:spcBef>
                <a:spcPts val="560"/>
              </a:spcBef>
              <a:buSzPct val="96551"/>
              <a:buAutoNum type="arabicPeriod"/>
              <a:tabLst>
                <a:tab pos="634365" algn="l"/>
              </a:tabLst>
            </a:pPr>
            <a:r>
              <a:rPr dirty="0" sz="2900">
                <a:latin typeface="Arial"/>
                <a:cs typeface="Arial"/>
              </a:rPr>
              <a:t>Adapt</a:t>
            </a:r>
            <a:r>
              <a:rPr dirty="0" sz="2900" spc="-3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game-</a:t>
            </a:r>
            <a:r>
              <a:rPr dirty="0" sz="2900">
                <a:latin typeface="Arial"/>
                <a:cs typeface="Arial"/>
              </a:rPr>
              <a:t>based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learning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experiences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based</a:t>
            </a:r>
            <a:r>
              <a:rPr dirty="0" sz="2900" spc="-3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on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student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performance.</a:t>
            </a:r>
            <a:endParaRPr sz="2900">
              <a:latin typeface="Arial"/>
              <a:cs typeface="Arial"/>
            </a:endParaRPr>
          </a:p>
          <a:p>
            <a:pPr marL="634365" marR="5080" indent="-310515">
              <a:lnSpc>
                <a:spcPct val="116100"/>
              </a:lnSpc>
              <a:spcBef>
                <a:spcPts val="5"/>
              </a:spcBef>
              <a:buSzPct val="96551"/>
              <a:buAutoNum type="arabicPeriod"/>
              <a:tabLst>
                <a:tab pos="635635" algn="l"/>
              </a:tabLst>
            </a:pPr>
            <a:r>
              <a:rPr dirty="0" sz="2900">
                <a:latin typeface="Arial"/>
                <a:cs typeface="Arial"/>
              </a:rPr>
              <a:t>Analyze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learning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patterns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and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provide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insights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or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early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warnings</a:t>
            </a:r>
            <a:r>
              <a:rPr dirty="0" sz="2900" spc="-6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for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potential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learning 	difficulties.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20134" y="2448255"/>
            <a:ext cx="878362" cy="8783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17" y="6913600"/>
            <a:ext cx="445940" cy="4219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2010" y="6780657"/>
            <a:ext cx="16453485" cy="94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74385" marR="5080" indent="-5862320">
              <a:lnSpc>
                <a:spcPct val="116599"/>
              </a:lnSpc>
              <a:spcBef>
                <a:spcPts val="100"/>
              </a:spcBef>
            </a:pP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The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research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aims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to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move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from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one-size-</a:t>
            </a:r>
            <a:r>
              <a:rPr dirty="0" sz="2600" spc="-20" b="1">
                <a:solidFill>
                  <a:srgbClr val="FF3030"/>
                </a:solidFill>
                <a:latin typeface="Arial"/>
                <a:cs typeface="Arial"/>
              </a:rPr>
              <a:t>fits-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all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learning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approach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toward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an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integrated,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personalized,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and</a:t>
            </a:r>
            <a:r>
              <a:rPr dirty="0" sz="26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adaptive</a:t>
            </a:r>
            <a:r>
              <a:rPr dirty="0" sz="2600" spc="-7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learning</a:t>
            </a:r>
            <a:r>
              <a:rPr dirty="0" sz="2600" spc="-7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system.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817" y="8002320"/>
            <a:ext cx="445940" cy="42197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0584" y="968094"/>
            <a:ext cx="6385560" cy="1235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28164" marR="5080" indent="-1816100">
              <a:lnSpc>
                <a:spcPct val="108700"/>
              </a:lnSpc>
              <a:spcBef>
                <a:spcPts val="100"/>
              </a:spcBef>
            </a:pPr>
            <a:r>
              <a:rPr dirty="0" sz="3650"/>
              <a:t>Proposed</a:t>
            </a:r>
            <a:r>
              <a:rPr dirty="0" sz="3650" spc="-35"/>
              <a:t> </a:t>
            </a:r>
            <a:r>
              <a:rPr dirty="0" sz="3650"/>
              <a:t>Solution</a:t>
            </a:r>
            <a:r>
              <a:rPr dirty="0" sz="3650" spc="-30"/>
              <a:t> </a:t>
            </a:r>
            <a:r>
              <a:rPr dirty="0" sz="3650"/>
              <a:t>&amp;</a:t>
            </a:r>
            <a:r>
              <a:rPr dirty="0" sz="3650" spc="-35"/>
              <a:t> </a:t>
            </a:r>
            <a:r>
              <a:rPr dirty="0" sz="3650" spc="-10"/>
              <a:t>System Architecture</a:t>
            </a:r>
            <a:endParaRPr sz="36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46450">
              <a:lnSpc>
                <a:spcPct val="100000"/>
              </a:lnSpc>
              <a:spcBef>
                <a:spcPts val="100"/>
              </a:spcBef>
            </a:pPr>
            <a:r>
              <a:rPr dirty="0"/>
              <a:t>Comprehensive</a:t>
            </a:r>
            <a:r>
              <a:rPr dirty="0" spc="-80"/>
              <a:t> </a:t>
            </a:r>
            <a:r>
              <a:rPr dirty="0"/>
              <a:t>Integrated</a:t>
            </a:r>
            <a:r>
              <a:rPr dirty="0" spc="-80"/>
              <a:t> </a:t>
            </a:r>
            <a:r>
              <a:rPr dirty="0" spc="-10"/>
              <a:t>Platform</a:t>
            </a:r>
          </a:p>
          <a:p>
            <a:pPr marL="12700" marR="5080">
              <a:lnSpc>
                <a:spcPct val="116300"/>
              </a:lnSpc>
              <a:spcBef>
                <a:spcPts val="1830"/>
              </a:spcBef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850" spc="8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proposed</a:t>
            </a:r>
            <a:r>
              <a:rPr dirty="0" sz="2850" spc="100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system</a:t>
            </a:r>
            <a:r>
              <a:rPr dirty="0" sz="2850" spc="9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2850" spc="9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dirty="0" sz="2850" spc="100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integrated</a:t>
            </a:r>
            <a:r>
              <a:rPr dirty="0" sz="2850" spc="9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Dyscalculia</a:t>
            </a:r>
            <a:r>
              <a:rPr dirty="0" sz="2850" spc="9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Interactive</a:t>
            </a:r>
            <a:r>
              <a:rPr dirty="0" sz="2850" spc="95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Learning</a:t>
            </a:r>
            <a:r>
              <a:rPr dirty="0" sz="2850" spc="100" b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dirty="0" sz="2850" spc="-20" b="0">
                <a:solidFill>
                  <a:srgbClr val="000000"/>
                </a:solidFill>
                <a:latin typeface="Arial"/>
                <a:cs typeface="Arial"/>
              </a:rPr>
              <a:t>Tool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designed</a:t>
            </a:r>
            <a:r>
              <a:rPr dirty="0" sz="2850" spc="-6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2850" spc="-6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Grade</a:t>
            </a:r>
            <a:r>
              <a:rPr dirty="0" sz="2850" spc="-6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30" b="0">
                <a:solidFill>
                  <a:srgbClr val="000000"/>
                </a:solidFill>
                <a:latin typeface="Arial"/>
                <a:cs typeface="Arial"/>
              </a:rPr>
              <a:t>2–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dirty="0" sz="2850" spc="-6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students.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system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combines</a:t>
            </a:r>
            <a:r>
              <a:rPr dirty="0" sz="2850" spc="-8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four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intelligent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components</a:t>
            </a:r>
            <a:r>
              <a:rPr dirty="0" sz="2850" spc="-8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provide:</a:t>
            </a:r>
            <a:endParaRPr sz="2850">
              <a:latin typeface="Arial"/>
              <a:cs typeface="Arial"/>
            </a:endParaRPr>
          </a:p>
          <a:p>
            <a:pPr marL="624205" indent="-304800">
              <a:lnSpc>
                <a:spcPct val="100000"/>
              </a:lnSpc>
              <a:spcBef>
                <a:spcPts val="560"/>
              </a:spcBef>
              <a:buChar char="•"/>
              <a:tabLst>
                <a:tab pos="624205" algn="l"/>
              </a:tabLst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Cognitive</a:t>
            </a:r>
            <a:r>
              <a:rPr dirty="0" sz="2850" spc="-114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skill</a:t>
            </a:r>
            <a:r>
              <a:rPr dirty="0" sz="2850" spc="-11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assessment</a:t>
            </a:r>
            <a:endParaRPr sz="2850">
              <a:latin typeface="Arial"/>
              <a:cs typeface="Arial"/>
            </a:endParaRPr>
          </a:p>
          <a:p>
            <a:pPr marL="624205" indent="-304800">
              <a:lnSpc>
                <a:spcPct val="100000"/>
              </a:lnSpc>
              <a:spcBef>
                <a:spcPts val="555"/>
              </a:spcBef>
              <a:buChar char="•"/>
              <a:tabLst>
                <a:tab pos="624205" algn="l"/>
              </a:tabLst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Personalized</a:t>
            </a:r>
            <a:r>
              <a:rPr dirty="0" sz="2850" spc="-17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mathematics</a:t>
            </a:r>
            <a:r>
              <a:rPr dirty="0" sz="2850" spc="-17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learning</a:t>
            </a:r>
            <a:endParaRPr sz="2850">
              <a:latin typeface="Arial"/>
              <a:cs typeface="Arial"/>
            </a:endParaRPr>
          </a:p>
          <a:p>
            <a:pPr marL="624205" indent="-304800">
              <a:lnSpc>
                <a:spcPct val="100000"/>
              </a:lnSpc>
              <a:spcBef>
                <a:spcPts val="555"/>
              </a:spcBef>
              <a:buChar char="•"/>
              <a:tabLst>
                <a:tab pos="624205" algn="l"/>
              </a:tabLst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Adaptive</a:t>
            </a:r>
            <a:r>
              <a:rPr dirty="0" sz="285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30" b="0">
                <a:solidFill>
                  <a:srgbClr val="000000"/>
                </a:solidFill>
                <a:latin typeface="Arial"/>
                <a:cs typeface="Arial"/>
              </a:rPr>
              <a:t>game-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based</a:t>
            </a:r>
            <a:r>
              <a:rPr dirty="0" sz="2850" spc="-8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learning</a:t>
            </a:r>
            <a:endParaRPr sz="2850">
              <a:latin typeface="Arial"/>
              <a:cs typeface="Arial"/>
            </a:endParaRPr>
          </a:p>
          <a:p>
            <a:pPr marL="624205" indent="-304800">
              <a:lnSpc>
                <a:spcPct val="100000"/>
              </a:lnSpc>
              <a:spcBef>
                <a:spcPts val="560"/>
              </a:spcBef>
              <a:buChar char="•"/>
              <a:tabLst>
                <a:tab pos="624205" algn="l"/>
              </a:tabLst>
            </a:pP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Learning</a:t>
            </a:r>
            <a:r>
              <a:rPr dirty="0" sz="2850" spc="-11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analytics</a:t>
            </a:r>
            <a:r>
              <a:rPr dirty="0" sz="2850" spc="-10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2850" spc="-10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early</a:t>
            </a:r>
            <a:r>
              <a:rPr dirty="0" sz="2850" spc="-11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b="0">
                <a:solidFill>
                  <a:srgbClr val="000000"/>
                </a:solidFill>
                <a:latin typeface="Arial"/>
                <a:cs typeface="Arial"/>
              </a:rPr>
              <a:t>warning</a:t>
            </a:r>
            <a:r>
              <a:rPr dirty="0" sz="2850" spc="-10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850" spc="-10" b="0">
                <a:solidFill>
                  <a:srgbClr val="000000"/>
                </a:solidFill>
                <a:latin typeface="Arial"/>
                <a:cs typeface="Arial"/>
              </a:rPr>
              <a:t>insights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4290" y="1736877"/>
            <a:ext cx="12275578" cy="793413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551" rIns="0" bIns="0" rtlCol="0" vert="horz">
            <a:spAutoFit/>
          </a:bodyPr>
          <a:lstStyle/>
          <a:p>
            <a:pPr marL="433197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Architecture</a:t>
            </a:r>
            <a:r>
              <a:rPr dirty="0" sz="2900" spc="-65"/>
              <a:t> </a:t>
            </a:r>
            <a:r>
              <a:rPr dirty="0" sz="2900"/>
              <a:t>&amp;</a:t>
            </a:r>
            <a:r>
              <a:rPr dirty="0" sz="2900" spc="-65"/>
              <a:t> </a:t>
            </a:r>
            <a:r>
              <a:rPr dirty="0" sz="2900"/>
              <a:t>Data</a:t>
            </a:r>
            <a:r>
              <a:rPr dirty="0" sz="2900" spc="-60"/>
              <a:t> </a:t>
            </a:r>
            <a:r>
              <a:rPr dirty="0" sz="2900"/>
              <a:t>Flow</a:t>
            </a:r>
            <a:r>
              <a:rPr dirty="0" sz="2900" spc="-65"/>
              <a:t> </a:t>
            </a:r>
            <a:r>
              <a:rPr dirty="0" sz="2900"/>
              <a:t>Between</a:t>
            </a:r>
            <a:r>
              <a:rPr dirty="0" sz="2900" spc="-65"/>
              <a:t> </a:t>
            </a:r>
            <a:r>
              <a:rPr dirty="0" sz="2900" spc="-10"/>
              <a:t>Modules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15744918" y="9477349"/>
            <a:ext cx="18319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67968"/>
            <a:ext cx="3469004" cy="12509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dirty="0" sz="3700"/>
              <a:t>Four</a:t>
            </a:r>
            <a:r>
              <a:rPr dirty="0" sz="3700" spc="-70"/>
              <a:t> </a:t>
            </a:r>
            <a:r>
              <a:rPr dirty="0" sz="3700" spc="-10"/>
              <a:t>Integrated Components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1016000" y="3270301"/>
            <a:ext cx="6576695" cy="182816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050">
                <a:latin typeface="Arial"/>
                <a:cs typeface="Arial"/>
              </a:rPr>
              <a:t>The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maths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app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built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one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unified,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integrated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platform</a:t>
            </a:r>
            <a:endParaRPr sz="2050">
              <a:latin typeface="Arial"/>
              <a:cs typeface="Arial"/>
            </a:endParaRPr>
          </a:p>
          <a:p>
            <a:pPr marL="12700" marR="323215">
              <a:lnSpc>
                <a:spcPct val="115399"/>
              </a:lnSpc>
              <a:spcBef>
                <a:spcPts val="5"/>
              </a:spcBef>
            </a:pPr>
            <a:r>
              <a:rPr dirty="0" sz="2050">
                <a:latin typeface="Arial"/>
                <a:cs typeface="Arial"/>
              </a:rPr>
              <a:t>—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not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collection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of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separate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tools.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Each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component </a:t>
            </a:r>
            <a:r>
              <a:rPr dirty="0" sz="2050">
                <a:latin typeface="Arial"/>
                <a:cs typeface="Arial"/>
              </a:rPr>
              <a:t>works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concert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with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the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others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deliver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seamless, </a:t>
            </a:r>
            <a:r>
              <a:rPr dirty="0" sz="2050">
                <a:latin typeface="Arial"/>
                <a:cs typeface="Arial"/>
              </a:rPr>
              <a:t>personalised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learning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experience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for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children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with </a:t>
            </a:r>
            <a:r>
              <a:rPr dirty="0" sz="2050" spc="-10">
                <a:latin typeface="Arial"/>
                <a:cs typeface="Arial"/>
              </a:rPr>
              <a:t>dyscalculia.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18816" y="3431349"/>
            <a:ext cx="5073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1940" algn="l"/>
              </a:tabLst>
            </a:pP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Cognitive</a:t>
            </a:r>
            <a:r>
              <a:rPr dirty="0" sz="2500" spc="-4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Skill</a:t>
            </a:r>
            <a:r>
              <a:rPr dirty="0" sz="2500" spc="-4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Profiling</a:t>
            </a:r>
            <a:r>
              <a:rPr dirty="0" sz="2500" spc="-4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F5894"/>
                </a:solidFill>
                <a:latin typeface="Arial"/>
                <a:cs typeface="Arial"/>
              </a:rPr>
              <a:t>System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9766" y="4933861"/>
            <a:ext cx="56718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1940" algn="l"/>
              </a:tabLst>
            </a:pP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Personalised</a:t>
            </a:r>
            <a:r>
              <a:rPr dirty="0" sz="2500" spc="-5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Math</a:t>
            </a:r>
            <a:r>
              <a:rPr dirty="0" sz="2500" spc="-5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Learning</a:t>
            </a:r>
            <a:r>
              <a:rPr dirty="0" sz="2500" spc="-5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F5894"/>
                </a:solidFill>
                <a:latin typeface="Arial"/>
                <a:cs typeface="Arial"/>
              </a:rPr>
              <a:t>Engine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258" y="5989281"/>
            <a:ext cx="6475095" cy="3086100"/>
          </a:xfrm>
          <a:prstGeom prst="rect">
            <a:avLst/>
          </a:prstGeom>
          <a:solidFill>
            <a:srgbClr val="C7D1D9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Times New Roman"/>
              <a:cs typeface="Times New Roman"/>
            </a:endParaRPr>
          </a:p>
          <a:p>
            <a:pPr algn="ctr" marL="327025" marR="675005" indent="3175">
              <a:lnSpc>
                <a:spcPct val="115500"/>
              </a:lnSpc>
            </a:pPr>
            <a:r>
              <a:rPr dirty="0" sz="2250">
                <a:latin typeface="Arial"/>
                <a:cs typeface="Arial"/>
              </a:rPr>
              <a:t>These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four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components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share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data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real </a:t>
            </a:r>
            <a:r>
              <a:rPr dirty="0" sz="2250">
                <a:latin typeface="Arial"/>
                <a:cs typeface="Arial"/>
              </a:rPr>
              <a:t>time,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enabling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system</a:t>
            </a:r>
            <a:r>
              <a:rPr dirty="0" sz="2250" spc="-1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to</a:t>
            </a:r>
            <a:r>
              <a:rPr dirty="0" sz="2250" spc="-10">
                <a:latin typeface="Arial"/>
                <a:cs typeface="Arial"/>
              </a:rPr>
              <a:t> continuously </a:t>
            </a:r>
            <a:r>
              <a:rPr dirty="0" sz="2250">
                <a:latin typeface="Arial"/>
                <a:cs typeface="Arial"/>
              </a:rPr>
              <a:t>adapt</a:t>
            </a:r>
            <a:r>
              <a:rPr dirty="0" sz="2250" spc="-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to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each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learner's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progress.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Together, </a:t>
            </a:r>
            <a:r>
              <a:rPr dirty="0" sz="2250">
                <a:latin typeface="Arial"/>
                <a:cs typeface="Arial"/>
              </a:rPr>
              <a:t>they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form</a:t>
            </a:r>
            <a:r>
              <a:rPr dirty="0" sz="2250" spc="-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comprehensive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support </a:t>
            </a:r>
            <a:r>
              <a:rPr dirty="0" sz="2250">
                <a:latin typeface="Arial"/>
                <a:cs typeface="Arial"/>
              </a:rPr>
              <a:t>ecosystem</a:t>
            </a:r>
            <a:r>
              <a:rPr dirty="0" sz="2250" spc="-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for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students,</a:t>
            </a:r>
            <a:r>
              <a:rPr dirty="0" sz="2250" spc="-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teachers,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and </a:t>
            </a:r>
            <a:r>
              <a:rPr dirty="0" sz="2250" spc="-10">
                <a:latin typeface="Arial"/>
                <a:cs typeface="Arial"/>
              </a:rPr>
              <a:t>parents.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9766" y="6446570"/>
            <a:ext cx="62363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1940" algn="l"/>
              </a:tabLst>
            </a:pP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Adaptive</a:t>
            </a:r>
            <a:r>
              <a:rPr dirty="0" sz="2500" spc="-2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F5894"/>
                </a:solidFill>
                <a:latin typeface="Arial"/>
                <a:cs typeface="Arial"/>
              </a:rPr>
              <a:t>Game-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Based</a:t>
            </a:r>
            <a:r>
              <a:rPr dirty="0" sz="2500" spc="-2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Learning</a:t>
            </a:r>
            <a:r>
              <a:rPr dirty="0" sz="2500" spc="-2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F5894"/>
                </a:solidFill>
                <a:latin typeface="Arial"/>
                <a:cs typeface="Arial"/>
              </a:rPr>
              <a:t>Engine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99766" y="7960118"/>
            <a:ext cx="65195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1940" algn="l"/>
              </a:tabLst>
            </a:pP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Learning</a:t>
            </a:r>
            <a:r>
              <a:rPr dirty="0" sz="2500" spc="-3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Insight</a:t>
            </a:r>
            <a:r>
              <a:rPr dirty="0" sz="2500" spc="-3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&amp;</a:t>
            </a:r>
            <a:r>
              <a:rPr dirty="0" sz="2500" spc="-3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Early</a:t>
            </a:r>
            <a:r>
              <a:rPr dirty="0" sz="2500" spc="-30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F5894"/>
                </a:solidFill>
                <a:latin typeface="Arial"/>
                <a:cs typeface="Arial"/>
              </a:rPr>
              <a:t>Warning</a:t>
            </a:r>
            <a:r>
              <a:rPr dirty="0" sz="2500" spc="-2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F5894"/>
                </a:solidFill>
                <a:latin typeface="Arial"/>
                <a:cs typeface="Arial"/>
              </a:rPr>
              <a:t>System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04330" y="9262135"/>
            <a:ext cx="18319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095592" y="1020165"/>
            <a:ext cx="9748520" cy="718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/>
              <a:t>Integration</a:t>
            </a:r>
            <a:r>
              <a:rPr dirty="0" sz="4550" spc="-30"/>
              <a:t> </a:t>
            </a:r>
            <a:r>
              <a:rPr dirty="0" sz="4550"/>
              <a:t>and</a:t>
            </a:r>
            <a:r>
              <a:rPr dirty="0" sz="4550" spc="-25"/>
              <a:t> </a:t>
            </a:r>
            <a:r>
              <a:rPr dirty="0" sz="4550"/>
              <a:t>System</a:t>
            </a:r>
            <a:r>
              <a:rPr dirty="0" sz="4550" spc="-30"/>
              <a:t> </a:t>
            </a:r>
            <a:r>
              <a:rPr dirty="0" sz="4550" spc="-10"/>
              <a:t>Completion</a:t>
            </a:r>
            <a:endParaRPr sz="4550"/>
          </a:p>
        </p:txBody>
      </p:sp>
      <p:sp>
        <p:nvSpPr>
          <p:cNvPr id="6" name="object 6"/>
          <p:cNvSpPr txBox="1"/>
          <p:nvPr/>
        </p:nvSpPr>
        <p:spPr>
          <a:xfrm>
            <a:off x="2328176" y="2052815"/>
            <a:ext cx="14189710" cy="20256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latin typeface="Arial"/>
                <a:cs typeface="Arial"/>
              </a:rPr>
              <a:t>Integrated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all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four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components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into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one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learning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platform.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17200"/>
              </a:lnSpc>
            </a:pPr>
            <a:r>
              <a:rPr dirty="0" sz="2800">
                <a:latin typeface="Arial"/>
                <a:cs typeface="Arial"/>
              </a:rPr>
              <a:t>Connected</a:t>
            </a:r>
            <a:r>
              <a:rPr dirty="0" sz="2800" spc="60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cognitive</a:t>
            </a:r>
            <a:r>
              <a:rPr dirty="0" sz="2800" spc="65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profiling,</a:t>
            </a:r>
            <a:r>
              <a:rPr dirty="0" sz="2800" spc="60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personalized</a:t>
            </a:r>
            <a:r>
              <a:rPr dirty="0" sz="2800" spc="65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learning,</a:t>
            </a:r>
            <a:r>
              <a:rPr dirty="0" sz="2800" spc="65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adaptive</a:t>
            </a:r>
            <a:r>
              <a:rPr dirty="0" sz="2800" spc="60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gaming,</a:t>
            </a:r>
            <a:r>
              <a:rPr dirty="0" sz="2800" spc="65">
                <a:latin typeface="Arial"/>
                <a:cs typeface="Arial"/>
              </a:rPr>
              <a:t> 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65">
                <a:latin typeface="Arial"/>
                <a:cs typeface="Arial"/>
              </a:rPr>
              <a:t>  </a:t>
            </a:r>
            <a:r>
              <a:rPr dirty="0" sz="2800" spc="-10">
                <a:latin typeface="Arial"/>
                <a:cs typeface="Arial"/>
              </a:rPr>
              <a:t>learning analytics.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800">
                <a:latin typeface="Arial"/>
                <a:cs typeface="Arial"/>
              </a:rPr>
              <a:t>Integrated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frontend,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backend,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database,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machine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learning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models.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1998" y="4449254"/>
            <a:ext cx="2691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Flow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Workflow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51588" y="4397514"/>
            <a:ext cx="74472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97500" algn="l"/>
              </a:tabLst>
            </a:pPr>
            <a:r>
              <a:rPr dirty="0" sz="1900" b="1">
                <a:latin typeface="Arial"/>
                <a:cs typeface="Arial"/>
              </a:rPr>
              <a:t>Integration</a:t>
            </a:r>
            <a:r>
              <a:rPr dirty="0" sz="1900" spc="-12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Progress</a:t>
            </a:r>
            <a:r>
              <a:rPr dirty="0" sz="1900" b="1">
                <a:latin typeface="Arial"/>
                <a:cs typeface="Arial"/>
              </a:rPr>
              <a:t>	Working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Features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951482" y="4969255"/>
            <a:ext cx="4033520" cy="3776979"/>
          </a:xfrm>
          <a:custGeom>
            <a:avLst/>
            <a:gdLst/>
            <a:ahLst/>
            <a:cxnLst/>
            <a:rect l="l" t="t" r="r" b="b"/>
            <a:pathLst>
              <a:path w="4033520" h="3776979">
                <a:moveTo>
                  <a:pt x="3661308" y="0"/>
                </a:moveTo>
                <a:lnTo>
                  <a:pt x="371717" y="0"/>
                </a:lnTo>
                <a:lnTo>
                  <a:pt x="325090" y="2896"/>
                </a:lnTo>
                <a:lnTo>
                  <a:pt x="280191" y="11352"/>
                </a:lnTo>
                <a:lnTo>
                  <a:pt x="237369" y="25020"/>
                </a:lnTo>
                <a:lnTo>
                  <a:pt x="196971" y="43551"/>
                </a:lnTo>
                <a:lnTo>
                  <a:pt x="159347" y="66598"/>
                </a:lnTo>
                <a:lnTo>
                  <a:pt x="124845" y="93811"/>
                </a:lnTo>
                <a:lnTo>
                  <a:pt x="93813" y="124843"/>
                </a:lnTo>
                <a:lnTo>
                  <a:pt x="66599" y="159345"/>
                </a:lnTo>
                <a:lnTo>
                  <a:pt x="43552" y="196969"/>
                </a:lnTo>
                <a:lnTo>
                  <a:pt x="25020" y="237366"/>
                </a:lnTo>
                <a:lnTo>
                  <a:pt x="11352" y="280189"/>
                </a:lnTo>
                <a:lnTo>
                  <a:pt x="2896" y="325088"/>
                </a:lnTo>
                <a:lnTo>
                  <a:pt x="0" y="371716"/>
                </a:lnTo>
                <a:lnTo>
                  <a:pt x="0" y="3405124"/>
                </a:lnTo>
                <a:lnTo>
                  <a:pt x="2896" y="3451751"/>
                </a:lnTo>
                <a:lnTo>
                  <a:pt x="11352" y="3496650"/>
                </a:lnTo>
                <a:lnTo>
                  <a:pt x="25020" y="3539473"/>
                </a:lnTo>
                <a:lnTo>
                  <a:pt x="43552" y="3579870"/>
                </a:lnTo>
                <a:lnTo>
                  <a:pt x="66599" y="3617494"/>
                </a:lnTo>
                <a:lnTo>
                  <a:pt x="93813" y="3651996"/>
                </a:lnTo>
                <a:lnTo>
                  <a:pt x="124845" y="3683028"/>
                </a:lnTo>
                <a:lnTo>
                  <a:pt x="159347" y="3710241"/>
                </a:lnTo>
                <a:lnTo>
                  <a:pt x="196971" y="3733288"/>
                </a:lnTo>
                <a:lnTo>
                  <a:pt x="237369" y="3751819"/>
                </a:lnTo>
                <a:lnTo>
                  <a:pt x="280191" y="3765487"/>
                </a:lnTo>
                <a:lnTo>
                  <a:pt x="325090" y="3773944"/>
                </a:lnTo>
                <a:lnTo>
                  <a:pt x="371717" y="3776840"/>
                </a:lnTo>
                <a:lnTo>
                  <a:pt x="3661308" y="3776840"/>
                </a:lnTo>
                <a:lnTo>
                  <a:pt x="3707936" y="3773944"/>
                </a:lnTo>
                <a:lnTo>
                  <a:pt x="3752835" y="3765487"/>
                </a:lnTo>
                <a:lnTo>
                  <a:pt x="3795657" y="3751819"/>
                </a:lnTo>
                <a:lnTo>
                  <a:pt x="3836055" y="3733288"/>
                </a:lnTo>
                <a:lnTo>
                  <a:pt x="3873678" y="3710241"/>
                </a:lnTo>
                <a:lnTo>
                  <a:pt x="3908180" y="3683028"/>
                </a:lnTo>
                <a:lnTo>
                  <a:pt x="3939212" y="3651996"/>
                </a:lnTo>
                <a:lnTo>
                  <a:pt x="3966426" y="3617494"/>
                </a:lnTo>
                <a:lnTo>
                  <a:pt x="3989472" y="3579870"/>
                </a:lnTo>
                <a:lnTo>
                  <a:pt x="4008004" y="3539473"/>
                </a:lnTo>
                <a:lnTo>
                  <a:pt x="4021672" y="3496650"/>
                </a:lnTo>
                <a:lnTo>
                  <a:pt x="4030128" y="3451751"/>
                </a:lnTo>
                <a:lnTo>
                  <a:pt x="4033024" y="3405124"/>
                </a:lnTo>
                <a:lnTo>
                  <a:pt x="4033024" y="371716"/>
                </a:lnTo>
                <a:lnTo>
                  <a:pt x="4030128" y="325088"/>
                </a:lnTo>
                <a:lnTo>
                  <a:pt x="4021672" y="280189"/>
                </a:lnTo>
                <a:lnTo>
                  <a:pt x="4008004" y="237366"/>
                </a:lnTo>
                <a:lnTo>
                  <a:pt x="3989472" y="196969"/>
                </a:lnTo>
                <a:lnTo>
                  <a:pt x="3966426" y="159345"/>
                </a:lnTo>
                <a:lnTo>
                  <a:pt x="3939212" y="124843"/>
                </a:lnTo>
                <a:lnTo>
                  <a:pt x="3908180" y="93811"/>
                </a:lnTo>
                <a:lnTo>
                  <a:pt x="3873678" y="66598"/>
                </a:lnTo>
                <a:lnTo>
                  <a:pt x="3836055" y="43551"/>
                </a:lnTo>
                <a:lnTo>
                  <a:pt x="3795657" y="25020"/>
                </a:lnTo>
                <a:lnTo>
                  <a:pt x="3752835" y="11352"/>
                </a:lnTo>
                <a:lnTo>
                  <a:pt x="3707936" y="2896"/>
                </a:lnTo>
                <a:lnTo>
                  <a:pt x="3661308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53787" y="5123345"/>
            <a:ext cx="2705735" cy="3496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27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Assessment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data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from</a:t>
            </a:r>
            <a:r>
              <a:rPr dirty="0" sz="1800" spc="-3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Cognitive</a:t>
            </a:r>
            <a:r>
              <a:rPr dirty="0" sz="1800" spc="-3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Profiling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System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feeds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into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Learning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Engine,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which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dynamically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adjusts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content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difficulty.</a:t>
            </a:r>
            <a:endParaRPr sz="1800">
              <a:latin typeface="Arial"/>
              <a:cs typeface="Arial"/>
            </a:endParaRPr>
          </a:p>
          <a:p>
            <a:pPr algn="ctr" marL="69215" marR="60960" indent="-1270">
              <a:lnSpc>
                <a:spcPct val="114999"/>
              </a:lnSpc>
            </a:pP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Output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from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learning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sessions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is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passed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to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Early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Warning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System,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enabling</a:t>
            </a:r>
            <a:r>
              <a:rPr dirty="0" sz="1800" spc="-3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continuous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feedback loops across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all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modules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in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real</a:t>
            </a:r>
            <a:r>
              <a:rPr dirty="0" sz="1800" spc="-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06615" y="4969255"/>
            <a:ext cx="4043045" cy="3776979"/>
          </a:xfrm>
          <a:custGeom>
            <a:avLst/>
            <a:gdLst/>
            <a:ahLst/>
            <a:cxnLst/>
            <a:rect l="l" t="t" r="r" b="b"/>
            <a:pathLst>
              <a:path w="4043045" h="3776979">
                <a:moveTo>
                  <a:pt x="3671874" y="0"/>
                </a:moveTo>
                <a:lnTo>
                  <a:pt x="370829" y="0"/>
                </a:lnTo>
                <a:lnTo>
                  <a:pt x="322086" y="3215"/>
                </a:lnTo>
                <a:lnTo>
                  <a:pt x="274590" y="12703"/>
                </a:lnTo>
                <a:lnTo>
                  <a:pt x="228918" y="28225"/>
                </a:lnTo>
                <a:lnTo>
                  <a:pt x="185647" y="49543"/>
                </a:lnTo>
                <a:lnTo>
                  <a:pt x="145353" y="76417"/>
                </a:lnTo>
                <a:lnTo>
                  <a:pt x="108613" y="108610"/>
                </a:lnTo>
                <a:lnTo>
                  <a:pt x="76420" y="145351"/>
                </a:lnTo>
                <a:lnTo>
                  <a:pt x="49545" y="185646"/>
                </a:lnTo>
                <a:lnTo>
                  <a:pt x="28227" y="228917"/>
                </a:lnTo>
                <a:lnTo>
                  <a:pt x="12704" y="274589"/>
                </a:lnTo>
                <a:lnTo>
                  <a:pt x="3216" y="322084"/>
                </a:lnTo>
                <a:lnTo>
                  <a:pt x="0" y="370827"/>
                </a:lnTo>
                <a:lnTo>
                  <a:pt x="0" y="3406013"/>
                </a:lnTo>
                <a:lnTo>
                  <a:pt x="3216" y="3454755"/>
                </a:lnTo>
                <a:lnTo>
                  <a:pt x="12704" y="3502251"/>
                </a:lnTo>
                <a:lnTo>
                  <a:pt x="28227" y="3547922"/>
                </a:lnTo>
                <a:lnTo>
                  <a:pt x="49545" y="3591194"/>
                </a:lnTo>
                <a:lnTo>
                  <a:pt x="76420" y="3631488"/>
                </a:lnTo>
                <a:lnTo>
                  <a:pt x="108613" y="3668229"/>
                </a:lnTo>
                <a:lnTo>
                  <a:pt x="145353" y="3700422"/>
                </a:lnTo>
                <a:lnTo>
                  <a:pt x="185647" y="3727297"/>
                </a:lnTo>
                <a:lnTo>
                  <a:pt x="228918" y="3748614"/>
                </a:lnTo>
                <a:lnTo>
                  <a:pt x="274590" y="3764136"/>
                </a:lnTo>
                <a:lnTo>
                  <a:pt x="322086" y="3773624"/>
                </a:lnTo>
                <a:lnTo>
                  <a:pt x="370829" y="3776840"/>
                </a:lnTo>
                <a:lnTo>
                  <a:pt x="3671874" y="3776840"/>
                </a:lnTo>
                <a:lnTo>
                  <a:pt x="3720622" y="3773624"/>
                </a:lnTo>
                <a:lnTo>
                  <a:pt x="3768118" y="3764136"/>
                </a:lnTo>
                <a:lnTo>
                  <a:pt x="3813789" y="3748614"/>
                </a:lnTo>
                <a:lnTo>
                  <a:pt x="3857058" y="3727297"/>
                </a:lnTo>
                <a:lnTo>
                  <a:pt x="3897351" y="3700422"/>
                </a:lnTo>
                <a:lnTo>
                  <a:pt x="3934091" y="3668229"/>
                </a:lnTo>
                <a:lnTo>
                  <a:pt x="3966285" y="3631488"/>
                </a:lnTo>
                <a:lnTo>
                  <a:pt x="3993162" y="3591194"/>
                </a:lnTo>
                <a:lnTo>
                  <a:pt x="4014482" y="3547922"/>
                </a:lnTo>
                <a:lnTo>
                  <a:pt x="4030007" y="3502251"/>
                </a:lnTo>
                <a:lnTo>
                  <a:pt x="4039498" y="3454755"/>
                </a:lnTo>
                <a:lnTo>
                  <a:pt x="4042714" y="3406013"/>
                </a:lnTo>
                <a:lnTo>
                  <a:pt x="4042714" y="370827"/>
                </a:lnTo>
                <a:lnTo>
                  <a:pt x="4039498" y="322084"/>
                </a:lnTo>
                <a:lnTo>
                  <a:pt x="4030007" y="274589"/>
                </a:lnTo>
                <a:lnTo>
                  <a:pt x="4014482" y="228917"/>
                </a:lnTo>
                <a:lnTo>
                  <a:pt x="3993162" y="185646"/>
                </a:lnTo>
                <a:lnTo>
                  <a:pt x="3966285" y="145351"/>
                </a:lnTo>
                <a:lnTo>
                  <a:pt x="3934091" y="108610"/>
                </a:lnTo>
                <a:lnTo>
                  <a:pt x="3897351" y="76417"/>
                </a:lnTo>
                <a:lnTo>
                  <a:pt x="3857058" y="49543"/>
                </a:lnTo>
                <a:lnTo>
                  <a:pt x="3813789" y="28225"/>
                </a:lnTo>
                <a:lnTo>
                  <a:pt x="3768118" y="12703"/>
                </a:lnTo>
                <a:lnTo>
                  <a:pt x="3720622" y="3215"/>
                </a:lnTo>
                <a:lnTo>
                  <a:pt x="3671874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89747" y="5123459"/>
            <a:ext cx="3502660" cy="2874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905">
              <a:lnSpc>
                <a:spcPct val="115399"/>
              </a:lnSpc>
              <a:spcBef>
                <a:spcPts val="100"/>
              </a:spcBef>
            </a:pP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All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four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core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components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are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successfully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integrated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via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211E1C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shared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data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layer.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Module-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to-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module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communication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fully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operational.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API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endpoints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are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stable,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user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session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management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complete,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cross-component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data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synchronisation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has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been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validated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through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internal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testing.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82347" y="4969255"/>
            <a:ext cx="4234815" cy="3776979"/>
          </a:xfrm>
          <a:custGeom>
            <a:avLst/>
            <a:gdLst/>
            <a:ahLst/>
            <a:cxnLst/>
            <a:rect l="l" t="t" r="r" b="b"/>
            <a:pathLst>
              <a:path w="4234815" h="3776979">
                <a:moveTo>
                  <a:pt x="3880192" y="0"/>
                </a:moveTo>
                <a:lnTo>
                  <a:pt x="354054" y="0"/>
                </a:lnTo>
                <a:lnTo>
                  <a:pt x="307516" y="3070"/>
                </a:lnTo>
                <a:lnTo>
                  <a:pt x="262169" y="12129"/>
                </a:lnTo>
                <a:lnTo>
                  <a:pt x="218563" y="26949"/>
                </a:lnTo>
                <a:lnTo>
                  <a:pt x="177249" y="47302"/>
                </a:lnTo>
                <a:lnTo>
                  <a:pt x="138778" y="72960"/>
                </a:lnTo>
                <a:lnTo>
                  <a:pt x="103700" y="103695"/>
                </a:lnTo>
                <a:lnTo>
                  <a:pt x="72963" y="138774"/>
                </a:lnTo>
                <a:lnTo>
                  <a:pt x="47303" y="177246"/>
                </a:lnTo>
                <a:lnTo>
                  <a:pt x="26950" y="218562"/>
                </a:lnTo>
                <a:lnTo>
                  <a:pt x="12129" y="262168"/>
                </a:lnTo>
                <a:lnTo>
                  <a:pt x="3070" y="307515"/>
                </a:lnTo>
                <a:lnTo>
                  <a:pt x="0" y="354050"/>
                </a:lnTo>
                <a:lnTo>
                  <a:pt x="0" y="3422789"/>
                </a:lnTo>
                <a:lnTo>
                  <a:pt x="3070" y="3469328"/>
                </a:lnTo>
                <a:lnTo>
                  <a:pt x="12129" y="3514674"/>
                </a:lnTo>
                <a:lnTo>
                  <a:pt x="26950" y="3558278"/>
                </a:lnTo>
                <a:lnTo>
                  <a:pt x="47303" y="3599590"/>
                </a:lnTo>
                <a:lnTo>
                  <a:pt x="72963" y="3638062"/>
                </a:lnTo>
                <a:lnTo>
                  <a:pt x="103700" y="3673144"/>
                </a:lnTo>
                <a:lnTo>
                  <a:pt x="138778" y="3703879"/>
                </a:lnTo>
                <a:lnTo>
                  <a:pt x="177249" y="3729537"/>
                </a:lnTo>
                <a:lnTo>
                  <a:pt x="218563" y="3749890"/>
                </a:lnTo>
                <a:lnTo>
                  <a:pt x="262169" y="3764710"/>
                </a:lnTo>
                <a:lnTo>
                  <a:pt x="307516" y="3773769"/>
                </a:lnTo>
                <a:lnTo>
                  <a:pt x="354054" y="3776840"/>
                </a:lnTo>
                <a:lnTo>
                  <a:pt x="3880192" y="3776840"/>
                </a:lnTo>
                <a:lnTo>
                  <a:pt x="3926732" y="3773769"/>
                </a:lnTo>
                <a:lnTo>
                  <a:pt x="3972080" y="3764710"/>
                </a:lnTo>
                <a:lnTo>
                  <a:pt x="4015686" y="3749890"/>
                </a:lnTo>
                <a:lnTo>
                  <a:pt x="4056999" y="3729537"/>
                </a:lnTo>
                <a:lnTo>
                  <a:pt x="4095470" y="3703879"/>
                </a:lnTo>
                <a:lnTo>
                  <a:pt x="4130548" y="3673144"/>
                </a:lnTo>
                <a:lnTo>
                  <a:pt x="4161283" y="3638062"/>
                </a:lnTo>
                <a:lnTo>
                  <a:pt x="4186941" y="3599590"/>
                </a:lnTo>
                <a:lnTo>
                  <a:pt x="4207294" y="3558278"/>
                </a:lnTo>
                <a:lnTo>
                  <a:pt x="4222114" y="3514674"/>
                </a:lnTo>
                <a:lnTo>
                  <a:pt x="4231173" y="3469328"/>
                </a:lnTo>
                <a:lnTo>
                  <a:pt x="4234243" y="3422789"/>
                </a:lnTo>
                <a:lnTo>
                  <a:pt x="4234243" y="354050"/>
                </a:lnTo>
                <a:lnTo>
                  <a:pt x="4231011" y="306009"/>
                </a:lnTo>
                <a:lnTo>
                  <a:pt x="4221596" y="259932"/>
                </a:lnTo>
                <a:lnTo>
                  <a:pt x="4206421" y="216241"/>
                </a:lnTo>
                <a:lnTo>
                  <a:pt x="4185906" y="175357"/>
                </a:lnTo>
                <a:lnTo>
                  <a:pt x="4160474" y="137704"/>
                </a:lnTo>
                <a:lnTo>
                  <a:pt x="4130546" y="103701"/>
                </a:lnTo>
                <a:lnTo>
                  <a:pt x="4096544" y="73773"/>
                </a:lnTo>
                <a:lnTo>
                  <a:pt x="4058891" y="48339"/>
                </a:lnTo>
                <a:lnTo>
                  <a:pt x="4018007" y="27824"/>
                </a:lnTo>
                <a:lnTo>
                  <a:pt x="3974315" y="12647"/>
                </a:lnTo>
                <a:lnTo>
                  <a:pt x="3928236" y="3232"/>
                </a:lnTo>
                <a:lnTo>
                  <a:pt x="3880192" y="0"/>
                </a:lnTo>
                <a:close/>
              </a:path>
            </a:pathLst>
          </a:custGeom>
          <a:solidFill>
            <a:srgbClr val="C7D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583086" y="5280571"/>
            <a:ext cx="3569335" cy="287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15300"/>
              </a:lnSpc>
              <a:spcBef>
                <a:spcPts val="100"/>
              </a:spcBef>
            </a:pP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Adaptive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learning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paths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adjust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real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based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on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student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performance.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time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alert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notifications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flag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at-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risk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learners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teachers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parents.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Game-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based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exercises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respond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proficiency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levels,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11E1C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dashboard</a:t>
            </a:r>
            <a:r>
              <a:rPr dirty="0" sz="1800" spc="-3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displays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live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progress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metrics</a:t>
            </a:r>
            <a:r>
              <a:rPr dirty="0" sz="1800" spc="-20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1E1C"/>
                </a:solidFill>
                <a:latin typeface="Arial"/>
                <a:cs typeface="Arial"/>
              </a:rPr>
              <a:t>all</a:t>
            </a:r>
            <a:r>
              <a:rPr dirty="0" sz="1800" spc="-15">
                <a:solidFill>
                  <a:srgbClr val="211E1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1E1C"/>
                </a:solidFill>
                <a:latin typeface="Arial"/>
                <a:cs typeface="Arial"/>
              </a:rPr>
              <a:t>stakeholders.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914" y="9406788"/>
            <a:ext cx="869124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9985" marR="5080" indent="-3677920">
              <a:lnSpc>
                <a:spcPct val="116599"/>
              </a:lnSpc>
              <a:spcBef>
                <a:spcPts val="100"/>
              </a:spcBef>
            </a:pP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Learner</a:t>
            </a:r>
            <a:r>
              <a:rPr dirty="0" sz="2700" spc="-3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→</a:t>
            </a:r>
            <a:r>
              <a:rPr dirty="0" sz="2700" spc="-2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Data</a:t>
            </a:r>
            <a:r>
              <a:rPr dirty="0" sz="2700" spc="-3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→</a:t>
            </a:r>
            <a:r>
              <a:rPr dirty="0" sz="2700" spc="-2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Four</a:t>
            </a:r>
            <a:r>
              <a:rPr dirty="0" sz="2700" spc="-3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Components</a:t>
            </a:r>
            <a:r>
              <a:rPr dirty="0" sz="2700" spc="-2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3030"/>
                </a:solidFill>
                <a:latin typeface="Arial"/>
                <a:cs typeface="Arial"/>
              </a:rPr>
              <a:t>→</a:t>
            </a:r>
            <a:r>
              <a:rPr dirty="0" sz="2700" spc="-2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3030"/>
                </a:solidFill>
                <a:latin typeface="Arial"/>
                <a:cs typeface="Arial"/>
              </a:rPr>
              <a:t>Personalized Support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15098" y="9487725"/>
            <a:ext cx="18319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">
                <a:latin typeface="Arial"/>
                <a:cs typeface="Arial"/>
              </a:rPr>
              <a:t>R26-</a:t>
            </a:r>
            <a:r>
              <a:rPr dirty="0" sz="4200">
                <a:latin typeface="Arial"/>
                <a:cs typeface="Arial"/>
              </a:rPr>
              <a:t>IT-</a:t>
            </a:r>
            <a:endParaRPr sz="4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0881" rIns="0" bIns="0" rtlCol="0" vert="horz">
            <a:spAutoFit/>
          </a:bodyPr>
          <a:lstStyle/>
          <a:p>
            <a:pPr marL="3091815">
              <a:lnSpc>
                <a:spcPct val="100000"/>
              </a:lnSpc>
              <a:spcBef>
                <a:spcPts val="100"/>
              </a:spcBef>
            </a:pPr>
            <a:r>
              <a:rPr dirty="0" sz="4550"/>
              <a:t>Integration</a:t>
            </a:r>
            <a:r>
              <a:rPr dirty="0" sz="4550" spc="-30"/>
              <a:t> </a:t>
            </a:r>
            <a:r>
              <a:rPr dirty="0" sz="4550"/>
              <a:t>and</a:t>
            </a:r>
            <a:r>
              <a:rPr dirty="0" sz="4550" spc="-25"/>
              <a:t> </a:t>
            </a:r>
            <a:r>
              <a:rPr dirty="0" sz="4550"/>
              <a:t>System</a:t>
            </a:r>
            <a:r>
              <a:rPr dirty="0" sz="4550" spc="-30"/>
              <a:t> </a:t>
            </a:r>
            <a:r>
              <a:rPr dirty="0" sz="4550" spc="-10"/>
              <a:t>Completion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2328176" y="3003639"/>
            <a:ext cx="13257530" cy="1916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z="3500">
                <a:latin typeface="Arial"/>
                <a:cs typeface="Arial"/>
              </a:rPr>
              <a:t>Completed</a:t>
            </a:r>
            <a:r>
              <a:rPr dirty="0" sz="3500" spc="-100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the</a:t>
            </a:r>
            <a:r>
              <a:rPr dirty="0" sz="3500" spc="-95">
                <a:latin typeface="Arial"/>
                <a:cs typeface="Arial"/>
              </a:rPr>
              <a:t> </a:t>
            </a:r>
            <a:r>
              <a:rPr dirty="0" sz="3500" spc="-10">
                <a:latin typeface="Arial"/>
                <a:cs typeface="Arial"/>
              </a:rPr>
              <a:t>development</a:t>
            </a:r>
            <a:r>
              <a:rPr dirty="0" sz="3500" spc="-100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and</a:t>
            </a:r>
            <a:r>
              <a:rPr dirty="0" sz="3500" spc="-9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integration</a:t>
            </a:r>
            <a:r>
              <a:rPr dirty="0" sz="3500" spc="-9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of</a:t>
            </a:r>
            <a:r>
              <a:rPr dirty="0" sz="3500" spc="-100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all</a:t>
            </a:r>
            <a:r>
              <a:rPr dirty="0" sz="3500" spc="-9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four</a:t>
            </a:r>
            <a:r>
              <a:rPr dirty="0" sz="3500" spc="-100">
                <a:latin typeface="Arial"/>
                <a:cs typeface="Arial"/>
              </a:rPr>
              <a:t> </a:t>
            </a:r>
            <a:r>
              <a:rPr dirty="0" sz="3500" spc="-10">
                <a:latin typeface="Arial"/>
                <a:cs typeface="Arial"/>
              </a:rPr>
              <a:t>components. </a:t>
            </a:r>
            <a:r>
              <a:rPr dirty="0" sz="3500">
                <a:latin typeface="Arial"/>
                <a:cs typeface="Arial"/>
              </a:rPr>
              <a:t>Implemented</a:t>
            </a:r>
            <a:r>
              <a:rPr dirty="0" sz="3500" spc="-130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the</a:t>
            </a:r>
            <a:r>
              <a:rPr dirty="0" sz="3500" spc="-12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required</a:t>
            </a:r>
            <a:r>
              <a:rPr dirty="0" sz="3500" spc="-12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AI</a:t>
            </a:r>
            <a:r>
              <a:rPr dirty="0" sz="3500" spc="-12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and</a:t>
            </a:r>
            <a:r>
              <a:rPr dirty="0" sz="3500" spc="-130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machine</a:t>
            </a:r>
            <a:r>
              <a:rPr dirty="0" sz="3500" spc="-125">
                <a:latin typeface="Arial"/>
                <a:cs typeface="Arial"/>
              </a:rPr>
              <a:t> </a:t>
            </a:r>
            <a:r>
              <a:rPr dirty="0" sz="3500">
                <a:latin typeface="Arial"/>
                <a:cs typeface="Arial"/>
              </a:rPr>
              <a:t>learning</a:t>
            </a:r>
            <a:r>
              <a:rPr dirty="0" sz="3500" spc="-125">
                <a:latin typeface="Arial"/>
                <a:cs typeface="Arial"/>
              </a:rPr>
              <a:t> </a:t>
            </a:r>
            <a:r>
              <a:rPr dirty="0" sz="3500" spc="-10">
                <a:latin typeface="Arial"/>
                <a:cs typeface="Arial"/>
              </a:rPr>
              <a:t>models.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3600">
                <a:latin typeface="Arial"/>
                <a:cs typeface="Arial"/>
              </a:rPr>
              <a:t>Tested</a:t>
            </a:r>
            <a:r>
              <a:rPr dirty="0" sz="3600" spc="-20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the</a:t>
            </a:r>
            <a:r>
              <a:rPr dirty="0" sz="3600" spc="-15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overall</a:t>
            </a:r>
            <a:r>
              <a:rPr dirty="0" sz="3600" spc="-20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system</a:t>
            </a:r>
            <a:r>
              <a:rPr dirty="0" sz="3600" spc="-15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and</a:t>
            </a:r>
            <a:r>
              <a:rPr dirty="0" sz="3600" spc="-15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its</a:t>
            </a:r>
            <a:r>
              <a:rPr dirty="0" sz="3600" spc="-20">
                <a:latin typeface="Arial"/>
                <a:cs typeface="Arial"/>
              </a:rPr>
              <a:t> </a:t>
            </a:r>
            <a:r>
              <a:rPr dirty="0" sz="3600">
                <a:latin typeface="Arial"/>
                <a:cs typeface="Arial"/>
              </a:rPr>
              <a:t>main</a:t>
            </a:r>
            <a:r>
              <a:rPr dirty="0" sz="3600" spc="-15">
                <a:latin typeface="Arial"/>
                <a:cs typeface="Arial"/>
              </a:rPr>
              <a:t> </a:t>
            </a:r>
            <a:r>
              <a:rPr dirty="0" sz="3600" spc="-10">
                <a:latin typeface="Arial"/>
                <a:cs typeface="Arial"/>
              </a:rPr>
              <a:t>functionalities.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6096" y="6645630"/>
            <a:ext cx="12992735" cy="102108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Final</a:t>
            </a:r>
            <a:r>
              <a:rPr dirty="0" sz="2800" spc="-6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3030"/>
                </a:solidFill>
                <a:latin typeface="Arial"/>
                <a:cs typeface="Arial"/>
              </a:rPr>
              <a:t>Outcome:</a:t>
            </a:r>
            <a:endParaRPr sz="2800">
              <a:latin typeface="Arial"/>
              <a:cs typeface="Arial"/>
            </a:endParaRPr>
          </a:p>
          <a:p>
            <a:pPr marL="615315" indent="-30099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615315" algn="l"/>
              </a:tabLst>
            </a:pP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A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unified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intelligent</a:t>
            </a:r>
            <a:r>
              <a:rPr dirty="0" sz="28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learning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system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to</a:t>
            </a:r>
            <a:r>
              <a:rPr dirty="0" sz="28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support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children</a:t>
            </a:r>
            <a:r>
              <a:rPr dirty="0" sz="2800" spc="-8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3030"/>
                </a:solidFill>
                <a:latin typeface="Arial"/>
                <a:cs typeface="Arial"/>
              </a:rPr>
              <a:t>with</a:t>
            </a:r>
            <a:r>
              <a:rPr dirty="0" sz="28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3030"/>
                </a:solidFill>
                <a:latin typeface="Arial"/>
                <a:cs typeface="Arial"/>
              </a:rPr>
              <a:t>dyscalculia.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/>
          <p:nvPr/>
        </p:nvSpPr>
        <p:spPr>
          <a:xfrm>
            <a:off x="4052671" y="1457400"/>
            <a:ext cx="8009255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00" b="1">
                <a:solidFill>
                  <a:srgbClr val="0F5894"/>
                </a:solidFill>
                <a:latin typeface="Arial"/>
                <a:cs typeface="Arial"/>
              </a:rPr>
              <a:t>Evaluation</a:t>
            </a:r>
            <a:r>
              <a:rPr dirty="0" sz="4900" spc="-7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4900" b="1">
                <a:solidFill>
                  <a:srgbClr val="0F5894"/>
                </a:solidFill>
                <a:latin typeface="Arial"/>
                <a:cs typeface="Arial"/>
              </a:rPr>
              <a:t>Results</a:t>
            </a:r>
            <a:r>
              <a:rPr dirty="0" sz="4900" spc="-7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4900" b="1">
                <a:solidFill>
                  <a:srgbClr val="0F5894"/>
                </a:solidFill>
                <a:latin typeface="Arial"/>
                <a:cs typeface="Arial"/>
              </a:rPr>
              <a:t>&amp;</a:t>
            </a:r>
            <a:r>
              <a:rPr dirty="0" sz="4900" spc="-75" b="1">
                <a:solidFill>
                  <a:srgbClr val="0F5894"/>
                </a:solidFill>
                <a:latin typeface="Arial"/>
                <a:cs typeface="Arial"/>
              </a:rPr>
              <a:t> </a:t>
            </a:r>
            <a:r>
              <a:rPr dirty="0" sz="4900" spc="-20" b="1">
                <a:solidFill>
                  <a:srgbClr val="0F5894"/>
                </a:solidFill>
                <a:latin typeface="Arial"/>
                <a:cs typeface="Arial"/>
              </a:rPr>
              <a:t>NFRs</a:t>
            </a:r>
            <a:endParaRPr sz="4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4918" y="2912059"/>
            <a:ext cx="78613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100" spc="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Component</a:t>
            </a:r>
            <a:r>
              <a:rPr dirty="0" u="sng" sz="41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Evaluation</a:t>
            </a:r>
            <a:r>
              <a:rPr dirty="0" u="sng" sz="41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1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Results</a:t>
            </a:r>
            <a:endParaRPr sz="41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938" y="4232567"/>
            <a:ext cx="11454295" cy="481732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35223" y="5876759"/>
            <a:ext cx="634622" cy="3966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4010" rIns="0" bIns="0" rtlCol="0" vert="horz">
            <a:spAutoFit/>
          </a:bodyPr>
          <a:lstStyle/>
          <a:p>
            <a:pPr marL="3052445">
              <a:lnSpc>
                <a:spcPct val="100000"/>
              </a:lnSpc>
              <a:spcBef>
                <a:spcPts val="100"/>
              </a:spcBef>
            </a:pPr>
            <a:r>
              <a:rPr dirty="0" u="sng" sz="4000" spc="50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000">
                <a:uFill>
                  <a:solidFill>
                    <a:srgbClr val="0F5894"/>
                  </a:solidFill>
                </a:uFill>
              </a:rPr>
              <a:t>Baseline</a:t>
            </a:r>
            <a:r>
              <a:rPr dirty="0" u="sng" sz="4000" spc="-55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000">
                <a:uFill>
                  <a:solidFill>
                    <a:srgbClr val="0F5894"/>
                  </a:solidFill>
                </a:uFill>
              </a:rPr>
              <a:t>/</a:t>
            </a:r>
            <a:r>
              <a:rPr dirty="0" u="sng" sz="4000" spc="-50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000">
                <a:uFill>
                  <a:solidFill>
                    <a:srgbClr val="0F5894"/>
                  </a:solidFill>
                </a:uFill>
              </a:rPr>
              <a:t>Comparison</a:t>
            </a:r>
            <a:r>
              <a:rPr dirty="0" u="sng" sz="4000" spc="-55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000" spc="-10">
                <a:uFill>
                  <a:solidFill>
                    <a:srgbClr val="0F5894"/>
                  </a:solidFill>
                </a:uFill>
              </a:rPr>
              <a:t>Results</a:t>
            </a:r>
            <a:endParaRPr sz="40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3853" y="2741383"/>
            <a:ext cx="11907304" cy="54648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71271" y="683973"/>
            <a:ext cx="4041775" cy="673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250">
                <a:uFill>
                  <a:solidFill>
                    <a:srgbClr val="0F5894"/>
                  </a:solidFill>
                </a:uFill>
              </a:rPr>
              <a:t>Testing</a:t>
            </a:r>
            <a:r>
              <a:rPr dirty="0" u="sng" sz="4250" spc="-65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250">
                <a:uFill>
                  <a:solidFill>
                    <a:srgbClr val="0F5894"/>
                  </a:solidFill>
                </a:uFill>
              </a:rPr>
              <a:t>&amp;</a:t>
            </a:r>
            <a:r>
              <a:rPr dirty="0" u="sng" sz="4250" spc="-60">
                <a:uFill>
                  <a:solidFill>
                    <a:srgbClr val="0F5894"/>
                  </a:solidFill>
                </a:uFill>
              </a:rPr>
              <a:t> </a:t>
            </a:r>
            <a:r>
              <a:rPr dirty="0" u="sng" sz="4250" spc="-20">
                <a:uFill>
                  <a:solidFill>
                    <a:srgbClr val="0F5894"/>
                  </a:solidFill>
                </a:uFill>
              </a:rPr>
              <a:t>NFRs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1975675" y="2163038"/>
            <a:ext cx="1038542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Arial"/>
                <a:cs typeface="Arial"/>
              </a:rPr>
              <a:t>Show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evidence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for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important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Non-</a:t>
            </a:r>
            <a:r>
              <a:rPr dirty="0" sz="2700">
                <a:latin typeface="Arial"/>
                <a:cs typeface="Arial"/>
              </a:rPr>
              <a:t>Functional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Requirements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such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as: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5675" y="3058261"/>
            <a:ext cx="5641975" cy="147701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700" spc="-10">
                <a:latin typeface="Arial"/>
                <a:cs typeface="Arial"/>
              </a:rPr>
              <a:t>Performance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65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System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response</a:t>
            </a:r>
            <a:r>
              <a:rPr dirty="0" sz="2700" spc="-20">
                <a:latin typeface="Arial"/>
                <a:cs typeface="Arial"/>
              </a:rPr>
              <a:t> time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70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Ability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handle</a:t>
            </a:r>
            <a:r>
              <a:rPr dirty="0" sz="2700" spc="-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user</a:t>
            </a:r>
            <a:r>
              <a:rPr dirty="0" sz="2700" spc="-10">
                <a:latin typeface="Arial"/>
                <a:cs typeface="Arial"/>
              </a:rPr>
              <a:t> interactions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5240" y="2993300"/>
            <a:ext cx="5755640" cy="147637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700" spc="-10">
                <a:latin typeface="Arial"/>
                <a:cs typeface="Arial"/>
              </a:rPr>
              <a:t>Usability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70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Simple</a:t>
            </a:r>
            <a:r>
              <a:rPr dirty="0" sz="2700" spc="-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and </a:t>
            </a:r>
            <a:r>
              <a:rPr dirty="0" sz="2700" spc="-10">
                <a:latin typeface="Arial"/>
                <a:cs typeface="Arial"/>
              </a:rPr>
              <a:t>child-</a:t>
            </a:r>
            <a:r>
              <a:rPr dirty="0" sz="2700">
                <a:latin typeface="Arial"/>
                <a:cs typeface="Arial"/>
              </a:rPr>
              <a:t>friendly </a:t>
            </a:r>
            <a:r>
              <a:rPr dirty="0" sz="2700" spc="-10">
                <a:latin typeface="Arial"/>
                <a:cs typeface="Arial"/>
              </a:rPr>
              <a:t>interface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65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Easy </a:t>
            </a:r>
            <a:r>
              <a:rPr dirty="0" sz="2700" spc="-10">
                <a:latin typeface="Arial"/>
                <a:cs typeface="Arial"/>
              </a:rPr>
              <a:t>navigation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5675" y="4993233"/>
            <a:ext cx="4213860" cy="147701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700" spc="-10">
                <a:latin typeface="Arial"/>
                <a:cs typeface="Arial"/>
              </a:rPr>
              <a:t>Reliability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70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Stable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system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behavior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70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Reduced</a:t>
            </a:r>
            <a:r>
              <a:rPr dirty="0" sz="2700" spc="-3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runtime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errors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5240" y="4927256"/>
            <a:ext cx="6480175" cy="195961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700" spc="-10">
                <a:latin typeface="Arial"/>
                <a:cs typeface="Arial"/>
              </a:rPr>
              <a:t>Security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70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User </a:t>
            </a:r>
            <a:r>
              <a:rPr dirty="0" sz="2700" spc="-10">
                <a:latin typeface="Arial"/>
                <a:cs typeface="Arial"/>
              </a:rPr>
              <a:t>authentication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65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Data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protection</a:t>
            </a:r>
            <a:endParaRPr sz="2700">
              <a:latin typeface="Arial"/>
              <a:cs typeface="Arial"/>
            </a:endParaRPr>
          </a:p>
          <a:p>
            <a:pPr marL="599440" indent="-293370">
              <a:lnSpc>
                <a:spcPct val="100000"/>
              </a:lnSpc>
              <a:spcBef>
                <a:spcPts val="565"/>
              </a:spcBef>
              <a:buChar char="•"/>
              <a:tabLst>
                <a:tab pos="599440" algn="l"/>
              </a:tabLst>
            </a:pPr>
            <a:r>
              <a:rPr dirty="0" sz="2700">
                <a:latin typeface="Arial"/>
                <a:cs typeface="Arial"/>
              </a:rPr>
              <a:t>Secure</a:t>
            </a:r>
            <a:r>
              <a:rPr dirty="0" sz="2700" spc="-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handling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of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student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information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683" y="7775397"/>
            <a:ext cx="15300960" cy="94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91254" marR="5080" indent="-3679190">
              <a:lnSpc>
                <a:spcPct val="116599"/>
              </a:lnSpc>
              <a:spcBef>
                <a:spcPts val="100"/>
              </a:spcBef>
            </a:pP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The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system</a:t>
            </a:r>
            <a:r>
              <a:rPr dirty="0" sz="2600" spc="-5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was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evaluated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not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only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for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functional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correctness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but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also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for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performance,</a:t>
            </a:r>
            <a:r>
              <a:rPr dirty="0" sz="2600" spc="-5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usability,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reliability,</a:t>
            </a:r>
            <a:r>
              <a:rPr dirty="0" sz="2600" spc="-9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and</a:t>
            </a:r>
            <a:r>
              <a:rPr dirty="0" sz="26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other</a:t>
            </a:r>
            <a:r>
              <a:rPr dirty="0" sz="26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relevant</a:t>
            </a:r>
            <a:r>
              <a:rPr dirty="0" sz="2600" spc="-80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F3030"/>
                </a:solidFill>
                <a:latin typeface="Arial"/>
                <a:cs typeface="Arial"/>
              </a:rPr>
              <a:t>quality</a:t>
            </a:r>
            <a:r>
              <a:rPr dirty="0" sz="2600" spc="-75" b="1">
                <a:solidFill>
                  <a:srgbClr val="FF303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F3030"/>
                </a:solidFill>
                <a:latin typeface="Arial"/>
                <a:cs typeface="Arial"/>
              </a:rPr>
              <a:t>requirements.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8213" y="1028700"/>
            <a:ext cx="742703" cy="74270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50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Commercialization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3944" y="2677642"/>
            <a:ext cx="15819755" cy="132905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500" b="1">
                <a:latin typeface="Arial"/>
                <a:cs typeface="Arial"/>
              </a:rPr>
              <a:t>Customer</a:t>
            </a:r>
            <a:r>
              <a:rPr dirty="0" sz="2500" spc="-7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Persona</a:t>
            </a:r>
            <a:endParaRPr sz="2500">
              <a:latin typeface="Arial"/>
              <a:cs typeface="Arial"/>
            </a:endParaRPr>
          </a:p>
          <a:p>
            <a:pPr marL="530860" marR="5080" indent="-258445">
              <a:lnSpc>
                <a:spcPct val="117100"/>
              </a:lnSpc>
              <a:buChar char="•"/>
              <a:tabLst>
                <a:tab pos="605155" algn="l"/>
              </a:tabLst>
            </a:pPr>
            <a:r>
              <a:rPr dirty="0" sz="2400">
                <a:latin typeface="Arial"/>
                <a:cs typeface="Arial"/>
              </a:rPr>
              <a:t>Grade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2–</a:t>
            </a: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students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Dyscalculia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Teachers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special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education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educators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Parents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seeking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support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tools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Primary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schools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educational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institutions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Educational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therapists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EdTech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platforms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944" y="5633491"/>
            <a:ext cx="17287875" cy="173228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Arial"/>
                <a:cs typeface="Arial"/>
              </a:rPr>
              <a:t>Market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Size</a:t>
            </a:r>
            <a:endParaRPr sz="2400">
              <a:latin typeface="Arial"/>
              <a:cs typeface="Arial"/>
            </a:endParaRPr>
          </a:p>
          <a:p>
            <a:pPr marL="528955" marR="5080" indent="-257810">
              <a:lnSpc>
                <a:spcPct val="116599"/>
              </a:lnSpc>
              <a:spcBef>
                <a:spcPts val="5"/>
              </a:spcBef>
              <a:buChar char="•"/>
              <a:tabLst>
                <a:tab pos="530225" algn="l"/>
              </a:tabLst>
            </a:pPr>
            <a:r>
              <a:rPr dirty="0" sz="2400" spc="-10">
                <a:latin typeface="Arial"/>
                <a:cs typeface="Arial"/>
              </a:rPr>
              <a:t>Dyscalculia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affects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approximately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3%–</a:t>
            </a:r>
            <a:r>
              <a:rPr dirty="0" sz="2400">
                <a:latin typeface="Arial"/>
                <a:cs typeface="Arial"/>
              </a:rPr>
              <a:t>7%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children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globally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Increasing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demand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AI-</a:t>
            </a:r>
            <a:r>
              <a:rPr dirty="0" sz="2400">
                <a:latin typeface="Arial"/>
                <a:cs typeface="Arial"/>
              </a:rPr>
              <a:t>powered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personalized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education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systems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Growing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EdTech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market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Sri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Lanka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internationally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High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potential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integration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into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schools,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centers,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online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learning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platforms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12319" y="4444949"/>
            <a:ext cx="7216775" cy="1412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100"/>
              <a:t>THANK</a:t>
            </a:r>
            <a:r>
              <a:rPr dirty="0" sz="9100" spc="-320"/>
              <a:t> </a:t>
            </a:r>
            <a:r>
              <a:rPr dirty="0" sz="9100" spc="-20"/>
              <a:t>YOU.</a:t>
            </a:r>
            <a:endParaRPr sz="91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40"/>
              </a:lnSpc>
            </a:pPr>
            <a:r>
              <a:rPr dirty="0" spc="-35"/>
              <a:t>R26-</a:t>
            </a:r>
            <a:r>
              <a:rPr dirty="0"/>
              <a:t>IT-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2026-10-11T20:10:01Z</dcterms:created>
  <dcterms:modified xsi:type="dcterms:W3CDTF">2026-10-11T20:10:01Z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2026-10-11T00:00:00Z</vt:filetime>
  </property>
  <property fmtid="{D5CDD505-2E9C-101B-9397-08002B2CF9AE}" pid="4" name="LastSaved">
    <vt:filetime>2026-10-11T00:00:00Z</vt:filetime>
  </property>
  <property fmtid="{D5CDD505-2E9C-101B-9397-08002B2CF9AE}" pid="5" name="Producer">
    <vt:lpwstr>3-Heights(TM) PDF Security Shell 4.8.25.2 (http://www.pdf-tools.com)</vt:lpwstr>
  </property>
</Properties>
</file>